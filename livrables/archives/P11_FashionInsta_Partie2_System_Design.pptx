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d’un Proof of Concept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répartis entre six profils.</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Inter" pitchFamily="34" charset="0"/>
                <a:ea typeface="Inter" pitchFamily="34" charset="-122"/>
                <a:cs typeface="Inter" pitchFamily="34" charset="-120"/>
              </a:rPr>
              <a:t>À valider avant lancement : données, responsables, accès Azure et enveloppe financière.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Un modèle préentraîné compare visuellement la photo utilisateur et les images du catalogue.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répartis sur six profils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 ML Engineer</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sp>
      <p:sp>
        <p:nvSpPr>
          <p:cNvPr id="10" name="Shape 8"/>
          <p:cNvSpPr/>
          <p:nvPr/>
        </p:nvSpPr>
        <p:spPr>
          <a:xfrm>
            <a:off x="4114800" y="2016252"/>
            <a:ext cx="6135624" cy="201168"/>
          </a:xfrm>
          <a:prstGeom prst="roundRect">
            <a:avLst>
              <a:gd name="adj" fmla="val 31818"/>
            </a:avLst>
          </a:prstGeom>
          <a:solidFill>
            <a:srgbClr val="17221F"/>
          </a:solidFill>
          <a:ln w="12700">
            <a:solidFill>
              <a:srgbClr val="17221F">
                <a:alpha val="0"/>
              </a:srgbClr>
            </a:solidFill>
            <a:prstDash val="solid"/>
          </a:ln>
        </p:spPr>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12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Chef de projet IA / Product</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sp>
      <p:sp>
        <p:nvSpPr>
          <p:cNvPr id="14" name="Shape 12"/>
          <p:cNvSpPr/>
          <p:nvPr/>
        </p:nvSpPr>
        <p:spPr>
          <a:xfrm>
            <a:off x="4114800" y="2537460"/>
            <a:ext cx="2556510" cy="201168"/>
          </a:xfrm>
          <a:prstGeom prst="roundRect">
            <a:avLst>
              <a:gd name="adj" fmla="val 31818"/>
            </a:avLst>
          </a:prstGeom>
          <a:solidFill>
            <a:srgbClr val="82AE99"/>
          </a:solidFill>
          <a:ln w="12700">
            <a:solidFill>
              <a:srgbClr val="82AE99">
                <a:alpha val="0"/>
              </a:srgbClr>
            </a:solidFill>
            <a:prstDash val="solid"/>
          </a:ln>
        </p:spPr>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5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sp>
      <p:sp>
        <p:nvSpPr>
          <p:cNvPr id="18" name="Shape 16"/>
          <p:cNvSpPr/>
          <p:nvPr/>
        </p:nvSpPr>
        <p:spPr>
          <a:xfrm>
            <a:off x="4114800" y="3058668"/>
            <a:ext cx="2045208" cy="201168"/>
          </a:xfrm>
          <a:prstGeom prst="roundRect">
            <a:avLst>
              <a:gd name="adj" fmla="val 31818"/>
            </a:avLst>
          </a:prstGeom>
          <a:solidFill>
            <a:srgbClr val="82AE99"/>
          </a:solidFill>
          <a:ln w="12700">
            <a:solidFill>
              <a:srgbClr val="82AE99">
                <a:alpha val="0"/>
              </a:srgbClr>
            </a:solidFill>
            <a:prstDash val="solid"/>
          </a:ln>
        </p:spPr>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Expert métier e-commerce</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sp>
      <p:sp>
        <p:nvSpPr>
          <p:cNvPr id="22" name="Shape 20"/>
          <p:cNvSpPr/>
          <p:nvPr/>
        </p:nvSpPr>
        <p:spPr>
          <a:xfrm>
            <a:off x="4114800" y="3579876"/>
            <a:ext cx="2045208" cy="201168"/>
          </a:xfrm>
          <a:prstGeom prst="roundRect">
            <a:avLst>
              <a:gd name="adj" fmla="val 31818"/>
            </a:avLst>
          </a:prstGeom>
          <a:solidFill>
            <a:srgbClr val="82AE99"/>
          </a:solidFill>
          <a:ln w="12700">
            <a:solidFill>
              <a:srgbClr val="82AE99">
                <a:alpha val="0"/>
              </a:srgbClr>
            </a:solidFill>
            <a:prstDash val="solid"/>
          </a:ln>
        </p:spPr>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Ingénieur Azure / Cloud</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sp>
      <p:sp>
        <p:nvSpPr>
          <p:cNvPr id="26" name="Shape 24"/>
          <p:cNvSpPr/>
          <p:nvPr/>
        </p:nvSpPr>
        <p:spPr>
          <a:xfrm>
            <a:off x="4114800" y="4101084"/>
            <a:ext cx="1533906" cy="201168"/>
          </a:xfrm>
          <a:prstGeom prst="roundRect">
            <a:avLst>
              <a:gd name="adj" fmla="val 31818"/>
            </a:avLst>
          </a:prstGeom>
          <a:solidFill>
            <a:srgbClr val="82AE99"/>
          </a:solidFill>
          <a:ln w="12700">
            <a:solidFill>
              <a:srgbClr val="82AE99">
                <a:alpha val="0"/>
              </a:srgbClr>
            </a:solidFill>
            <a:prstDash val="solid"/>
          </a:ln>
        </p:spPr>
      </p:sp>
      <p:sp>
        <p:nvSpPr>
          <p:cNvPr id="27" name="Text 25"/>
          <p:cNvSpPr/>
          <p:nvPr/>
        </p:nvSpPr>
        <p:spPr>
          <a:xfrm>
            <a:off x="10433304" y="4069080"/>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3 j-h</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Référent RGPD / sécurité</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sp>
      <p:sp>
        <p:nvSpPr>
          <p:cNvPr id="30" name="Shape 28"/>
          <p:cNvSpPr/>
          <p:nvPr/>
        </p:nvSpPr>
        <p:spPr>
          <a:xfrm>
            <a:off x="4114800" y="4622292"/>
            <a:ext cx="1022604" cy="201168"/>
          </a:xfrm>
          <a:prstGeom prst="roundRect">
            <a:avLst>
              <a:gd name="adj" fmla="val 31818"/>
            </a:avLst>
          </a:prstGeom>
          <a:solidFill>
            <a:srgbClr val="82AE99"/>
          </a:solidFill>
          <a:ln w="12700">
            <a:solidFill>
              <a:srgbClr val="82AE99">
                <a:alpha val="0"/>
              </a:srgbClr>
            </a:solidFill>
            <a:prstDash val="solid"/>
          </a:ln>
        </p:spPr>
      </p:sp>
      <p:sp>
        <p:nvSpPr>
          <p:cNvPr id="31" name="Text 29"/>
          <p:cNvSpPr/>
          <p:nvPr/>
        </p:nvSpPr>
        <p:spPr>
          <a:xfrm>
            <a:off x="10433304" y="459028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2 j-h</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sp>
      <p:sp>
        <p:nvSpPr>
          <p:cNvPr id="33" name="Text 31"/>
          <p:cNvSpPr/>
          <p:nvPr/>
        </p:nvSpPr>
        <p:spPr>
          <a:xfrm>
            <a:off x="905256" y="5486400"/>
            <a:ext cx="48463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Alicia : sponsor &amp; arbitrages</a:t>
            </a:r>
            <a:endParaRPr lang="en-US" sz="1300" dirty="0"/>
          </a:p>
        </p:txBody>
      </p:sp>
      <p:sp>
        <p:nvSpPr>
          <p:cNvPr id="34" name="Text 32"/>
          <p:cNvSpPr/>
          <p:nvPr/>
        </p:nvSpPr>
        <p:spPr>
          <a:xfrm>
            <a:off x="5010912" y="5468112"/>
            <a:ext cx="6263640" cy="228600"/>
          </a:xfrm>
          <a:prstGeom prst="rect">
            <a:avLst/>
          </a:prstGeom>
          <a:noFill/>
          <a:ln/>
        </p:spPr>
        <p:txBody>
          <a:bodyPr wrap="square" lIns="0" tIns="0" rIns="0" bIns="0" rtlCol="0" anchor="ctr">
            <a:normAutofit/>
          </a:bodyPr>
          <a:lstStyle/>
          <a:p>
            <a:pPr algn="r" indent="0" marL="0">
              <a:buNone/>
            </a:pPr>
            <a:r>
              <a:rPr lang="en-US" sz="1140" dirty="0">
                <a:solidFill>
                  <a:srgbClr val="DFE8DF"/>
                </a:solidFill>
                <a:latin typeface="Inter" pitchFamily="34" charset="0"/>
                <a:ea typeface="Inter" pitchFamily="34" charset="-122"/>
                <a:cs typeface="Inter" pitchFamily="34" charset="-120"/>
              </a:rPr>
              <a:t>Budget € = coûts journaliers × charges + consommation Azure (à chiffrer)</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hypothèses et sources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Inter"/>
              </a:rPr>
              <a:t>16</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docs/02_perimetre_poc.md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docs/04_criteres_succes_ressources_planification.md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Deux flux connectés : recommandations en temps réel et alimentation continue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AI SEARCH</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AI SEARCH</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