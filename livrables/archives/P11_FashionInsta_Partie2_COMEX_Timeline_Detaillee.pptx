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21"/>
    <p:sldId id="271" r:id="rId22"/>
    <p:sldId id="272" r:id="rId23"/>
    <p:sldId id="278" r:id="rId29"/>
    <p:sldId id="273" r:id="rId24"/>
    <p:sldId id="274" r:id="rId25"/>
    <p:sldId id="275" r:id="rId26"/>
    <p:sldId id="276" r:id="rId27"/>
    <p:sldId id="277" r:id="rId28"/>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22.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en explicitant que le but n’est pas de vendre l’application mobile complète : on demande l’autorisation d’un PoC sur la brique centrale de recommandation visuelle. Le choix de 120 références est une hypothèse de périmètre à confirmer avec Alicia.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demande est un feu vert de principe pour un PoC, conditionné à la disponibilité des données, à la gouvernance et à un budget confirmé. Les 30 jours-homme sont une estimation, les coûts € ne sont pas déterminables sans taux journaliers et consommations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sont celles de l’expression des besoins 2024. Le 14 % web et le 4 % magasins sont des projections de l’étude marketing sur 24 mois. Le PoC n’établit aucune causalité entre recommandation et chiffre d’affaires ; celle-ci exige un pilote commercial ultérieur.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catégorie combine l’enjeu commercial le plus important (27 % du CA) et un volume réduit de 120 références. Validation préalable : les images sont bien exploitables. Ici, recommandation = recherche visuelle d’articles comparables, pas assemblage de tenue ni essayage virtuel.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un cas d’usage observable : une photo externe, une analyse visuelle, un classement, puis un Top 5 évalué. Les produits sont dédupliqués par référence. Si besoin, recadrer manuellement le vêtement de la photo : la détection automatique n’est pas au cœur de ce premier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document Alicia indique que l’extraction préalable des données produits a nécessité 3 jours-homme de Data Engineer pour l’ensemble des références. Ce chiffre est historique. Nous estimons ici 4 jours-homme pour l’extraction ciblée, le rapprochement des images et les contrôles. Des photos test licites doivent être obtenues avant le lancement.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CLIP/OpenCLIP est un exemple de modèle préentraîné, à confirmer après validation des contraintes de déploiement et de licence. Une même chaîne de prétraitement transforme images du catalogue et photos test en vecteurs ; scores par similarité cosinus, puis agrégation par ID produit et Top 5 distinct. À cette échelle (120 références), Azure AI Search n’est pas nécessairement justifié.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prétendre connaître les performances des méthodes à l’avance. L’approche A est un choix de rapidité et de compatibilité avec un test centré image/image. L’approche B est un comparateur soumis aux droits d’accès Azure et à une limite de temps ; le filtrage par tags forme la baseline non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Définir Precision@5 comme la moyenne par photo de la fraction de suggestions pertinentes, et Success@5 comme la part des photos ayant au moins une bonne suggestion. Faire annoter idéalement en aveugle par deux professionnels métier. Les 40 photos représentent un petit jeu de faisabilité, non une mesure définitive de production. Les seuils doivent être figés avec les métiers avant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horloges : le cadrage est présenté au COMEX trois semaines après la demande d’Alicia ; si le COMEX valide, le PoC est planifié pour 15 jours ouvrés supplémentaires. Les travaux partiellement parallèles permettent une charge totale de 30 jours-homme dans ce calendrier. Les jalons devront être renommés et datés au lancement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Charges cumulées (non durée calendrier) : chef de projet 5, Data Engineer 4, DS/ML Engineer 12, ingénieur Cloud 3, expert métier 4, référent RGPD 2 = 30 jours-homme. Une estimation budgétaire en € nécessiterait le coût journalier de chaque profil et la prévision de consommation Azure. Alicia est le sponsor ; la validation métier doit être formalisée.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risques ne sont pas cosmétiques : l’existence d’une réponse pertinente dépend autant de la couverture du catalogue et de la formulation de “même style” que de l’algorithme. Prévoir la conformité RGPD pour les images identifiantes, sans considérer le consentement comme seule base possible. Un blocage doit conduire à re-scoper plutôt qu’à prolonger indéfiniment le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Go signifie autoriser un pilote plus étendu si les objectifs proposés ont été atteints, le résultat reproductible, et les conditions de conformité satisfaites. Le No-Go peut signifier arrêt ou réorientation ciblée, pas rejet définitif de toute IA. Demander autorisation conditionnelle de PoC et arbitrage des hypothèses.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Cette annexe documente la provenance des données métier (énoncé fourni) et les hypothèses faites durant le cadrage. Les 40 photos, seuils métriques et 30 jours-homme n’ont pas été mesurés : ce sont des propositions à arbitrer. Les liens Microsoft servent seulement à établir la faisabilité générale des services, pas à prouver l’accès ou le coût effectif de l’organisation.</a:t>
            </a:r>
          </a:p>
          <a:p>
            <a:r>
              <a:t>Compléments Partie 2 : P11_Profils_Data.pdf, System Design Azure AI Search, Azure ML, Azure Data Factory, Azure Monitor.</a:t>
            </a:r>
          </a:p>
          <a:p>
            <a:r>
              <a:t>Partie 2 / timeline : propositions basées sur P11_DS_Template_Timeline.pptx, durées PoC = 3 sem, MVP = 10 sem, Run initial = 4 sem, à valider.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2 : architecture cible de production, distincte du PoC de 120 pantalons/jeans. Le flux utilisateur démarre par la photo et les préférences. Le frontend/compte/achats sont acquis, non chiffrés. Images utilisateur traitées après consentement, minimisation et contrôles d’accès. L’API de recommandation prépare l’image, invoque un modèle multimodal d’embeddings hébergé sur Azure ML, interroge Azure AI Search où sont indexées des images catalogue à l’aide du même modèle, puis classe et filtre par stock/tags/préférences. Retour Top 5, suivi avis et clics/achats agrégés. Pour la fonctionnalité essayage sur photo et variations, évaluer une brique spécialisée de génération d’images et non supposer que Stable Diffusion de base garantit une fidélité produit. Flux hors ligne : sources catalogue/images/prix/tags/stocks &gt; Data Factory &gt; stockage Blob + Azure SQL &gt; Azure ML batch &gt; index Azure AI Search. L’ajout de préférences blogs/tendances doit respecter droits d’accès et de réutilisation. Environ 400k utilisateurs actifs annuels estimés (au moins une fois par an), pas 400k MAU. Prévoir pics d’usage, appels par session, temps de réponse, monitoring et coût à la requête. Sources : https://learn.microsoft.com/en-us/azure/search/multimodal-search-overview ; https://learn.microsoft.com/en-us/azure/machine-learning/how-to-deploy-managed-online-endpoints ; https://learn.microsoft.com/en-us/azure/data-factory/concepts-pipelines-activities ; https://learn.microsoft.com/en-us/azure/machine-learning/concept-model-monitoring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Effectifs et coûts salariaux par jour extraits de P11_Profils_Data.pdf : 3 Data Scientists (350 €/j chacun), 2 Data Engineers (370 €/j chacun), 1 Tech Lead Data (400 €/j), 1 MLOps (360 €/j). Le tableau attribue les pilotes construction et exploitation, mais les participations exactes seront dimensionnées en jours-homme dans les étapes suivantes. Éléments purement software acquis / hors estimation : comptes, frontend mobile, e-commerce. Séparation de responsabilités : le Data Engineer construit l’ingestion et garantit la qualité, le Data Scientist conçoit et évalue la recommandation et les options génératives, le Tech Lead définit l’architecture et arbitre les risques et les coûts, le MLOps est responsable des déploiements, de l’industrialisation et du monitoring. La gouvernance des données personnelles relève également des fonctions juridiques / DPO et du Product en transversal ; aucun personnel DPO n’est comptabilisé dans les effectifs Data. Sourcing : P11_Profils_Data.pdf, document officiel du projet.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taux affichés correspondent à la charge moyenne par personne et par phase. Les sept collaborateurs n’interviennent pas tous à temps plein. Le Copil réunit Alicia, représentants métiers, Tech Lead et décideurs, tandis que le Coproj hebdomadaire est opérationnel. Les cérémonies S3/S8/S13/S17 incluent une validation de la pertinence métier.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Tarifs officiels Fashion-Insta (coût salarial/jour) : Data Scientist 350 €, Data Engineer 370 €, Tech Lead 400 €, MLOps 360 €. Charge 30/180/36 JH. Budget 89 360 € + provision Azure lancement 3 600 € = 92 960 €. Les 4 semaines Run initial sont déjà incluses ; éviter le double comptage.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hybride : pré-encodage batch des images connues, inférence online pour les nouvelles photos. Comparaison 16h × 2€/h et 730h × 2€/h illustrative seulement, non prix Azure. Le Run mensuel cumule 6 560 € de charges internes et 1 800 € de provision Azure ; AI Search est optionnel selon test de besoins. Cible marketing 400 000 utilisateurs actifs par an ; hypothèse centrale 5 recommandations par personne et par an = 2 millions par 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Cible Marketing : 5,2 M€ web × 14 % = 728 k€ plus 5,2 M€ boutiques × 4 % = 208 k€ ; total 936 k€/an de CA supplémentaire annualisé à horizon 24 mois. Hypothèses non validées : marge contributive 30 %, montée en charge annuelle A1 25 %, A2 75 %, A3+ 100 %. Coût A1 = 92 960 € lancement + 35/52 × 100 320 € = 160 483 €. A2 = 100 320 €. Gains cumulés fin A2 280 800 €, coûts 260 803 €, solde 19 997 €. A 20% de marge: retour fin A3. Hors développement mobile, marketing, génération d’essayage virtuel et coûts externes.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slide explicite notre hypothèse de trafic : 400 000 utilisateurs annuels, cinq recommandations par personne, soit deux millions par an. Le facteur de pointe x20 est un test exploratoire et non une mesure. Les décisions de SKU, autoscaling, tolérance aux pannes et SLA doivent être appuyées par des tests lors du MVP.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sensibilité montre que l'estimation de la rentabilité en année 2 dépend fortement de la marge commerciale et du coût Azure. L'étude ne porte que sur Data/IA, le développement de l'application mobile et la génération d'images n'étant pas budgétés. Les montants ne sont pas des devis officiels.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 profil n’est à 100 % : cela évite d’engager une ressource entière sans justification. Le MLOps atteint 70 % durant la stabilisation, mais le risque de point de défaillance unique doit être explicité et compensé par la documentation des astreintes, l’automatisation et l’appui Tech Lead. Le mode shadow ne change pas les résultats vus par les clients ; puis une diffusion canary pilote un faible segment, avec rollback possible. Les taux sont à confirmer par le responsable RH/Tech Lead.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4F086"/>
          </a:solidFill>
          <a:ln w="12700">
            <a:solidFill>
              <a:srgbClr val="D4F086">
                <a:alpha val="0"/>
              </a:srgbClr>
            </a:solidFill>
            <a:prstDash val="solid"/>
          </a:ln>
        </p:spPr>
        <p:txBody>
          <a:bodyPr/>
          <a:p/>
        </p:txBody>
      </p:sp>
      <p:sp>
        <p:nvSpPr>
          <p:cNvPr id="3" name="Text 1"/>
          <p:cNvSpPr/>
          <p:nvPr/>
        </p:nvSpPr>
        <p:spPr>
          <a:xfrm>
            <a:off x="640080" y="411480"/>
            <a:ext cx="7315200" cy="320040"/>
          </a:xfrm>
          <a:prstGeom prst="rect">
            <a:avLst/>
          </a:prstGeom>
          <a:noFill/>
          <a:ln/>
        </p:spPr>
        <p:txBody>
          <a:bodyPr wrap="square" lIns="0" tIns="0" rIns="0" bIns="0" rtlCol="0" anchor="ctr">
            <a:normAutofit/>
          </a:bodyPr>
          <a:lstStyle/>
          <a:p>
            <a:pPr algn="l" indent="0" marL="0">
              <a:buNone/>
            </a:pPr>
            <a:r>
              <a:rPr lang="en-US" sz="1600" b="1" spc="400" kern="0" dirty="0">
                <a:solidFill>
                  <a:srgbClr val="D4F086"/>
                </a:solidFill>
                <a:latin typeface="Inter Display" pitchFamily="34" charset="0"/>
                <a:ea typeface="Inter Display" pitchFamily="34" charset="-122"/>
                <a:cs typeface="Inter Display" pitchFamily="34" charset="-120"/>
              </a:rPr>
              <a:t>FASHION — INSTA</a:t>
            </a:r>
            <a:endParaRPr lang="en-US" sz="1600" dirty="0"/>
          </a:p>
        </p:txBody>
      </p:sp>
      <p:sp>
        <p:nvSpPr>
          <p:cNvPr id="4" name="Shape 2"/>
          <p:cNvSpPr/>
          <p:nvPr/>
        </p:nvSpPr>
        <p:spPr>
          <a:xfrm>
            <a:off x="640080" y="1106424"/>
            <a:ext cx="5897880" cy="0"/>
          </a:xfrm>
          <a:prstGeom prst="line">
            <a:avLst/>
          </a:prstGeom>
          <a:noFill/>
          <a:ln w="12700">
            <a:solidFill>
              <a:srgbClr val="597166"/>
            </a:solidFill>
            <a:prstDash val="solid"/>
            <a:headEnd type="none"/>
            <a:tailEnd type="none"/>
          </a:ln>
        </p:spPr>
        <p:txBody>
          <a:bodyPr/>
          <a:p/>
        </p:txBody>
      </p:sp>
      <p:sp>
        <p:nvSpPr>
          <p:cNvPr id="5" name="Text 3"/>
          <p:cNvSpPr/>
          <p:nvPr/>
        </p:nvSpPr>
        <p:spPr>
          <a:xfrm>
            <a:off x="621792" y="1481328"/>
            <a:ext cx="7406640" cy="1828800"/>
          </a:xfrm>
          <a:prstGeom prst="rect">
            <a:avLst/>
          </a:prstGeom>
          <a:noFill/>
          <a:ln/>
        </p:spPr>
        <p:txBody>
          <a:bodyPr wrap="square" lIns="0" tIns="0" rIns="0" bIns="0" rtlCol="0" anchor="ctr">
            <a:normAutofit/>
          </a:bodyPr>
          <a:lstStyle/>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RECOMMANDER</a:t>
            </a:r>
            <a:endParaRPr lang="en-US" sz="4300" dirty="0"/>
          </a:p>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PAR L’IMAGE.</a:t>
            </a:r>
            <a:endParaRPr lang="en-US" sz="4300" dirty="0"/>
          </a:p>
        </p:txBody>
      </p:sp>
      <p:sp>
        <p:nvSpPr>
          <p:cNvPr id="6" name="Text 4"/>
          <p:cNvSpPr/>
          <p:nvPr/>
        </p:nvSpPr>
        <p:spPr>
          <a:xfrm>
            <a:off x="658368" y="3657600"/>
            <a:ext cx="6583680" cy="402336"/>
          </a:xfrm>
          <a:prstGeom prst="rect">
            <a:avLst/>
          </a:prstGeom>
          <a:noFill/>
          <a:ln/>
        </p:spPr>
        <p:txBody>
          <a:bodyPr wrap="square" lIns="0" tIns="0" rIns="0" bIns="0" rtlCol="0" anchor="ctr">
            <a:normAutofit/>
          </a:bodyPr>
          <a:lstStyle/>
          <a:p>
            <a:pPr algn="l" indent="0" marL="0">
              <a:buNone/>
            </a:pPr>
            <a:r>
              <a:rPr lang="en-US" sz="2100" dirty="0">
                <a:solidFill>
                  <a:srgbClr val="D4F086"/>
                </a:solidFill>
                <a:latin typeface="Inter" pitchFamily="34" charset="0"/>
                <a:ea typeface="Inter" pitchFamily="34" charset="-122"/>
                <a:cs typeface="Inter" pitchFamily="34" charset="-120"/>
              </a:rPr>
              <a:t>Cadrage du PoC et trajectoire Data / IA</a:t>
            </a:r>
            <a:endParaRPr lang="en-US" sz="2100" dirty="0"/>
          </a:p>
        </p:txBody>
      </p:sp>
      <p:sp>
        <p:nvSpPr>
          <p:cNvPr id="7" name="Text 5"/>
          <p:cNvSpPr/>
          <p:nvPr/>
        </p:nvSpPr>
        <p:spPr>
          <a:xfrm>
            <a:off x="658368" y="4215384"/>
            <a:ext cx="6492240" cy="365760"/>
          </a:xfrm>
          <a:prstGeom prst="rect">
            <a:avLst/>
          </a:prstGeom>
          <a:noFill/>
          <a:ln/>
        </p:spPr>
        <p:txBody>
          <a:bodyPr wrap="square" lIns="0" tIns="0" rIns="0" bIns="0" rtlCol="0" anchor="ctr">
            <a:normAutofit/>
          </a:bodyPr>
          <a:lstStyle/>
          <a:p>
            <a:pPr algn="l" indent="0" marL="0">
              <a:buNone/>
            </a:pPr>
            <a:r>
              <a:rPr lang="en-US" sz="1500" dirty="0">
                <a:solidFill>
                  <a:srgbClr val="C4D2C7"/>
                </a:solidFill>
                <a:latin typeface="Inter" pitchFamily="34" charset="0"/>
                <a:ea typeface="Inter" pitchFamily="34" charset="-122"/>
                <a:cs typeface="Inter" pitchFamily="34" charset="-120"/>
              </a:rPr>
              <a:t>Fashion-Insta   •   Présentation au COMEX</a:t>
            </a:r>
            <a:endParaRPr lang="en-US" sz="1500" dirty="0"/>
          </a:p>
        </p:txBody>
      </p:sp>
      <p:sp>
        <p:nvSpPr>
          <p:cNvPr id="8" name="Shape 6"/>
          <p:cNvSpPr/>
          <p:nvPr/>
        </p:nvSpPr>
        <p:spPr>
          <a:xfrm>
            <a:off x="640080" y="5093208"/>
            <a:ext cx="5623560" cy="649224"/>
          </a:xfrm>
          <a:prstGeom prst="roundRect">
            <a:avLst>
              <a:gd name="adj" fmla="val 16901"/>
            </a:avLst>
          </a:prstGeom>
          <a:solidFill>
            <a:srgbClr val="24352F"/>
          </a:solidFill>
          <a:ln w="12700">
            <a:solidFill>
              <a:srgbClr val="24352F">
                <a:alpha val="0"/>
              </a:srgbClr>
            </a:solidFill>
            <a:prstDash val="solid"/>
          </a:ln>
        </p:spPr>
        <p:txBody>
          <a:bodyPr/>
          <a:p/>
        </p:txBody>
      </p:sp>
      <p:sp>
        <p:nvSpPr>
          <p:cNvPr id="9" name="Text 7"/>
          <p:cNvSpPr/>
          <p:nvPr/>
        </p:nvSpPr>
        <p:spPr>
          <a:xfrm>
            <a:off x="877824" y="5312664"/>
            <a:ext cx="5175504" cy="18288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Demande : autoriser une expérimentation ciblée</a:t>
            </a:r>
            <a:endParaRPr lang="en-US" sz="1200" dirty="0"/>
          </a:p>
        </p:txBody>
      </p:sp>
      <p:sp>
        <p:nvSpPr>
          <p:cNvPr id="10" name="Shape 8"/>
          <p:cNvSpPr/>
          <p:nvPr/>
        </p:nvSpPr>
        <p:spPr>
          <a:xfrm>
            <a:off x="7598664" y="576072"/>
            <a:ext cx="3767328" cy="3767328"/>
          </a:xfrm>
          <a:prstGeom prst="ellipse">
            <a:avLst/>
          </a:prstGeom>
          <a:solidFill>
            <a:srgbClr val="34493F"/>
          </a:solidFill>
          <a:ln w="12700">
            <a:solidFill>
              <a:srgbClr val="34493F">
                <a:alpha val="0"/>
              </a:srgbClr>
            </a:solidFill>
            <a:prstDash val="solid"/>
          </a:ln>
        </p:spPr>
        <p:txBody>
          <a:bodyPr/>
          <a:p/>
        </p:txBody>
      </p:sp>
      <p:sp>
        <p:nvSpPr>
          <p:cNvPr id="11" name="Shape 9"/>
          <p:cNvSpPr/>
          <p:nvPr/>
        </p:nvSpPr>
        <p:spPr>
          <a:xfrm>
            <a:off x="8156448" y="1097280"/>
            <a:ext cx="2798064" cy="2798064"/>
          </a:xfrm>
          <a:prstGeom prst="ellipse">
            <a:avLst/>
          </a:prstGeom>
          <a:solidFill>
            <a:srgbClr val="405F54"/>
          </a:solidFill>
          <a:ln w="12700">
            <a:solidFill>
              <a:srgbClr val="405F54">
                <a:alpha val="0"/>
              </a:srgbClr>
            </a:solidFill>
            <a:prstDash val="solid"/>
          </a:ln>
        </p:spPr>
        <p:txBody>
          <a:bodyPr/>
          <a:p/>
        </p:txBody>
      </p:sp>
      <p:sp>
        <p:nvSpPr>
          <p:cNvPr id="12" name="Shape 10"/>
          <p:cNvSpPr/>
          <p:nvPr/>
        </p:nvSpPr>
        <p:spPr>
          <a:xfrm>
            <a:off x="7808976" y="612648"/>
            <a:ext cx="3675888" cy="4636008"/>
          </a:xfrm>
          <a:prstGeom prst="roundRect">
            <a:avLst>
              <a:gd name="adj" fmla="val 746"/>
            </a:avLst>
          </a:prstGeom>
          <a:solidFill>
            <a:srgbClr val="D4F086"/>
          </a:solidFill>
          <a:ln w="12700">
            <a:solidFill>
              <a:srgbClr val="D4F086">
                <a:alpha val="0"/>
              </a:srgbClr>
            </a:solidFill>
            <a:prstDash val="solid"/>
          </a:ln>
        </p:spPr>
        <p:txBody>
          <a:bodyPr/>
          <a:p/>
        </p:txBody>
      </p:sp>
      <p:pic>
        <p:nvPicPr>
          <p:cNvPr id="13" name="Image 0" descr="/mnt/data/slide_work/fashion_insta_photo_couverture.jpg">    </p:cNvPr>
          <p:cNvPicPr>
            <a:picLocks noChangeAspect="1"/>
          </p:cNvPicPr>
          <p:nvPr/>
        </p:nvPicPr>
        <p:blipFill>
          <a:blip r:embed="rId1"/>
          <a:stretch>
            <a:fillRect/>
          </a:stretch>
        </p:blipFill>
        <p:spPr>
          <a:xfrm>
            <a:off x="7891272" y="694944"/>
            <a:ext cx="3511296" cy="4462272"/>
          </a:xfrm>
          <a:prstGeom prst="rect">
            <a:avLst/>
          </a:prstGeom>
        </p:spPr>
      </p:pic>
      <p:sp>
        <p:nvSpPr>
          <p:cNvPr id="14" name="Text 11"/>
          <p:cNvSpPr/>
          <p:nvPr/>
        </p:nvSpPr>
        <p:spPr>
          <a:xfrm>
            <a:off x="8348472" y="5266944"/>
            <a:ext cx="1847088" cy="548640"/>
          </a:xfrm>
          <a:prstGeom prst="rect">
            <a:avLst/>
          </a:prstGeom>
          <a:noFill/>
          <a:ln/>
        </p:spPr>
        <p:txBody>
          <a:bodyPr wrap="square" lIns="0" tIns="0" rIns="0" bIns="0" rtlCol="0" anchor="ctr">
            <a:normAutofit/>
          </a:bodyPr>
          <a:lstStyle/>
          <a:p>
            <a:pPr algn="l" indent="0" marL="0">
              <a:buNone/>
            </a:pPr>
            <a:r>
              <a:rPr lang="en-US" sz="3300" b="1" dirty="0">
                <a:solidFill>
                  <a:srgbClr val="D4F086"/>
                </a:solidFill>
                <a:latin typeface="Inter Display" pitchFamily="34" charset="0"/>
                <a:ea typeface="Inter Display" pitchFamily="34" charset="-122"/>
                <a:cs typeface="Inter Display" pitchFamily="34" charset="-120"/>
              </a:rPr>
              <a:t>120</a:t>
            </a:r>
            <a:endParaRPr lang="en-US" sz="3300" dirty="0"/>
          </a:p>
        </p:txBody>
      </p:sp>
      <p:sp>
        <p:nvSpPr>
          <p:cNvPr id="15" name="Text 12"/>
          <p:cNvSpPr/>
          <p:nvPr/>
        </p:nvSpPr>
        <p:spPr>
          <a:xfrm>
            <a:off x="8311896" y="5797296"/>
            <a:ext cx="3108960" cy="274320"/>
          </a:xfrm>
          <a:prstGeom prst="rect">
            <a:avLst/>
          </a:prstGeom>
          <a:noFill/>
          <a:ln/>
        </p:spPr>
        <p:txBody>
          <a:bodyPr wrap="square" lIns="0" tIns="0" rIns="0" bIns="0" rtlCol="0" anchor="ctr">
            <a:normAutofit/>
          </a:bodyPr>
          <a:lstStyle/>
          <a:p>
            <a:pPr algn="l" indent="0" marL="0">
              <a:buNone/>
            </a:pPr>
            <a:r>
              <a:rPr lang="en-US" sz="1000" b="1" spc="120" kern="0" dirty="0">
                <a:solidFill>
                  <a:srgbClr val="D8E4D7"/>
                </a:solidFill>
                <a:latin typeface="Inter" pitchFamily="34" charset="0"/>
                <a:ea typeface="Inter" pitchFamily="34" charset="-122"/>
                <a:cs typeface="Inter" pitchFamily="34" charset="-120"/>
              </a:rPr>
              <a:t>RÉFÉRENCES PILOTES</a:t>
            </a:r>
            <a:endParaRPr lang="en-US" sz="1000" dirty="0"/>
          </a:p>
        </p:txBody>
      </p:sp>
      <p:sp>
        <p:nvSpPr>
          <p:cNvPr id="16" name="Text 13"/>
          <p:cNvSpPr/>
          <p:nvPr/>
        </p:nvSpPr>
        <p:spPr>
          <a:xfrm>
            <a:off x="658368" y="6501384"/>
            <a:ext cx="8229600" cy="164592"/>
          </a:xfrm>
          <a:prstGeom prst="rect">
            <a:avLst/>
          </a:prstGeom>
          <a:noFill/>
          <a:ln/>
        </p:spPr>
        <p:txBody>
          <a:bodyPr wrap="square" lIns="0" tIns="0" rIns="0" bIns="0" rtlCol="0" anchor="ctr">
            <a:normAutofit/>
          </a:bodyPr>
          <a:lstStyle/>
          <a:p>
            <a:pPr algn="l" indent="0" marL="0">
              <a:buNone/>
            </a:pPr>
            <a:r>
              <a:rPr lang="en-US" sz="900" spc="110" kern="0" dirty="0">
                <a:solidFill>
                  <a:srgbClr val="99B1A3"/>
                </a:solidFill>
                <a:latin typeface="Inter" pitchFamily="34" charset="0"/>
                <a:ea typeface="Inter" pitchFamily="34" charset="-122"/>
                <a:cs typeface="Inter" pitchFamily="34" charset="-120"/>
              </a:rPr>
              <a:t>OCTOBRE 2026   /   PROPOSITION DE CADRAGE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SYNTHÈSE EXÉCUTIVE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La décision attendue du COMEX</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02</a:t>
            </a:r>
            <a:endParaRPr lang="en-US" sz="900" dirty="0"/>
          </a:p>
        </p:txBody>
      </p:sp>
      <p:sp>
        <p:nvSpPr>
          <p:cNvPr id="8" name="Text 6"/>
          <p:cNvSpPr/>
          <p:nvPr/>
        </p:nvSpPr>
        <p:spPr>
          <a:xfrm>
            <a:off x="612648" y="1847088"/>
            <a:ext cx="10881360" cy="493776"/>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Autoriser un test mesurable avant d’investir dans l’application complète.</a:t>
            </a:r>
            <a:endParaRPr lang="en-US" sz="2100" dirty="0"/>
          </a:p>
        </p:txBody>
      </p:sp>
      <p:sp>
        <p:nvSpPr>
          <p:cNvPr id="9" name="Shape 7"/>
          <p:cNvSpPr/>
          <p:nvPr/>
        </p:nvSpPr>
        <p:spPr>
          <a:xfrm>
            <a:off x="630936"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0" name="Shape 8"/>
          <p:cNvSpPr/>
          <p:nvPr/>
        </p:nvSpPr>
        <p:spPr>
          <a:xfrm>
            <a:off x="813816"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1" name="Text 9"/>
          <p:cNvSpPr/>
          <p:nvPr/>
        </p:nvSpPr>
        <p:spPr>
          <a:xfrm>
            <a:off x="103327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Périmètre ciblé</a:t>
            </a:r>
            <a:endParaRPr lang="en-US" sz="1600" dirty="0"/>
          </a:p>
        </p:txBody>
      </p:sp>
      <p:sp>
        <p:nvSpPr>
          <p:cNvPr id="12" name="Text 10"/>
          <p:cNvSpPr/>
          <p:nvPr/>
        </p:nvSpPr>
        <p:spPr>
          <a:xfrm>
            <a:off x="90525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120 références de pantalons et jeans ; 40 photos de test ; Top 5 de recommandations.</a:t>
            </a:r>
            <a:endParaRPr lang="en-US" sz="1430" dirty="0"/>
          </a:p>
        </p:txBody>
      </p:sp>
      <p:sp>
        <p:nvSpPr>
          <p:cNvPr id="13" name="Shape 11"/>
          <p:cNvSpPr/>
          <p:nvPr/>
        </p:nvSpPr>
        <p:spPr>
          <a:xfrm>
            <a:off x="4379976"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4" name="Shape 12"/>
          <p:cNvSpPr/>
          <p:nvPr/>
        </p:nvSpPr>
        <p:spPr>
          <a:xfrm>
            <a:off x="4562856"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5" name="Text 13"/>
          <p:cNvSpPr/>
          <p:nvPr/>
        </p:nvSpPr>
        <p:spPr>
          <a:xfrm>
            <a:off x="478231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Expérimentation courte</a:t>
            </a:r>
            <a:endParaRPr lang="en-US" sz="1600" dirty="0"/>
          </a:p>
        </p:txBody>
      </p:sp>
      <p:sp>
        <p:nvSpPr>
          <p:cNvPr id="16" name="Text 14"/>
          <p:cNvSpPr/>
          <p:nvPr/>
        </p:nvSpPr>
        <p:spPr>
          <a:xfrm>
            <a:off x="465429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15 jours ouvrés après accord COMEX ; 30 jours-homme mobilisant quatre profils Data.</a:t>
            </a:r>
            <a:endParaRPr lang="en-US" sz="1430" dirty="0"/>
          </a:p>
        </p:txBody>
      </p:sp>
      <p:sp>
        <p:nvSpPr>
          <p:cNvPr id="17" name="Shape 15"/>
          <p:cNvSpPr/>
          <p:nvPr/>
        </p:nvSpPr>
        <p:spPr>
          <a:xfrm>
            <a:off x="8147304"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8" name="Shape 16"/>
          <p:cNvSpPr/>
          <p:nvPr/>
        </p:nvSpPr>
        <p:spPr>
          <a:xfrm>
            <a:off x="8330184"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9" name="Text 17"/>
          <p:cNvSpPr/>
          <p:nvPr/>
        </p:nvSpPr>
        <p:spPr>
          <a:xfrm>
            <a:off x="8549640"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Décision objectivée</a:t>
            </a:r>
            <a:endParaRPr lang="en-US" sz="1600" dirty="0"/>
          </a:p>
        </p:txBody>
      </p:sp>
      <p:sp>
        <p:nvSpPr>
          <p:cNvPr id="20" name="Text 18"/>
          <p:cNvSpPr/>
          <p:nvPr/>
        </p:nvSpPr>
        <p:spPr>
          <a:xfrm>
            <a:off x="8421624"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Métriques de pertinence, comparaison sans IA, contrôle des risques et restitution Go / No-Go.</a:t>
            </a:r>
            <a:endParaRPr lang="en-US" sz="1430" dirty="0"/>
          </a:p>
        </p:txBody>
      </p:sp>
      <p:sp>
        <p:nvSpPr>
          <p:cNvPr id="21" name="Shape 19"/>
          <p:cNvSpPr/>
          <p:nvPr/>
        </p:nvSpPr>
        <p:spPr>
          <a:xfrm>
            <a:off x="621792" y="5120640"/>
            <a:ext cx="10945368" cy="740664"/>
          </a:xfrm>
          <a:prstGeom prst="roundRect">
            <a:avLst>
              <a:gd name="adj" fmla="val 18519"/>
            </a:avLst>
          </a:prstGeom>
          <a:solidFill>
            <a:srgbClr val="17221F"/>
          </a:solidFill>
          <a:ln w="12700">
            <a:solidFill>
              <a:srgbClr val="17221F">
                <a:alpha val="0"/>
              </a:srgbClr>
            </a:solidFill>
            <a:prstDash val="solid"/>
          </a:ln>
        </p:spPr>
        <p:txBody>
          <a:bodyPr/>
          <a:p/>
        </p:txBody>
      </p:sp>
      <p:sp>
        <p:nvSpPr>
          <p:cNvPr id="22" name="Text 20"/>
          <p:cNvSpPr/>
          <p:nvPr/>
        </p:nvSpPr>
        <p:spPr>
          <a:xfrm>
            <a:off x="868680" y="5321808"/>
            <a:ext cx="10332720" cy="320040"/>
          </a:xfrm>
          <a:prstGeom prst="rect">
            <a:avLst/>
          </a:prstGeom>
          <a:noFill/>
          <a:ln/>
        </p:spPr>
        <p:txBody>
          <a:bodyPr wrap="square" lIns="0" tIns="0" rIns="0" bIns="0" rtlCol="0" anchor="ctr">
            <a:normAutofit/>
          </a:bodyPr>
          <a:lstStyle/>
          <a:p>
            <a:r>
              <a:t>À valider : données, accès Azure, enveloppe Data/IA, marge contributive et trajectoire des ventes.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01  /  CONTEXTE MÉTIER</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enjeu commercial concret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03</a:t>
            </a:r>
            <a:endParaRPr lang="en-US" sz="900" dirty="0"/>
          </a:p>
        </p:txBody>
      </p:sp>
      <p:sp>
        <p:nvSpPr>
          <p:cNvPr id="8" name="Text 6"/>
          <p:cNvSpPr/>
          <p:nvPr/>
        </p:nvSpPr>
        <p:spPr>
          <a:xfrm>
            <a:off x="621792" y="1819656"/>
            <a:ext cx="10789920" cy="438912"/>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Fashion-Insta cherche à transformer la découverte produit en opportunités d’achat.</a:t>
            </a:r>
            <a:endParaRPr lang="en-US" sz="1900" dirty="0"/>
          </a:p>
        </p:txBody>
      </p:sp>
      <p:sp>
        <p:nvSpPr>
          <p:cNvPr id="9" name="Shape 7"/>
          <p:cNvSpPr/>
          <p:nvPr/>
        </p:nvSpPr>
        <p:spPr>
          <a:xfrm>
            <a:off x="630936" y="2487168"/>
            <a:ext cx="5202936" cy="2542032"/>
          </a:xfrm>
          <a:prstGeom prst="roundRect">
            <a:avLst>
              <a:gd name="adj" fmla="val 6475"/>
            </a:avLst>
          </a:prstGeom>
          <a:solidFill>
            <a:srgbClr val="17221F"/>
          </a:solidFill>
          <a:ln w="12700">
            <a:solidFill>
              <a:srgbClr val="17221F">
                <a:alpha val="0"/>
              </a:srgbClr>
            </a:solidFill>
            <a:prstDash val="solid"/>
          </a:ln>
        </p:spPr>
      </p:sp>
      <p:sp>
        <p:nvSpPr>
          <p:cNvPr id="10" name="Text 8"/>
          <p:cNvSpPr/>
          <p:nvPr/>
        </p:nvSpPr>
        <p:spPr>
          <a:xfrm>
            <a:off x="914400" y="2734056"/>
            <a:ext cx="4517136" cy="704088"/>
          </a:xfrm>
          <a:prstGeom prst="rect">
            <a:avLst/>
          </a:prstGeom>
          <a:noFill/>
          <a:ln/>
        </p:spPr>
        <p:txBody>
          <a:bodyPr wrap="square" lIns="0" tIns="0" rIns="0" bIns="0" rtlCol="0" anchor="ctr">
            <a:normAutofit/>
          </a:bodyPr>
          <a:lstStyle/>
          <a:p>
            <a:pPr algn="l" indent="0" marL="0">
              <a:buNone/>
            </a:pPr>
            <a:r>
              <a:rPr lang="en-US" sz="3900" b="1" dirty="0">
                <a:solidFill>
                  <a:srgbClr val="D4F086"/>
                </a:solidFill>
                <a:latin typeface="Inter Display" pitchFamily="34" charset="0"/>
                <a:ea typeface="Inter Display" pitchFamily="34" charset="-122"/>
                <a:cs typeface="Inter Display" pitchFamily="34" charset="-120"/>
              </a:rPr>
              <a:t>10,4 M€</a:t>
            </a:r>
            <a:endParaRPr lang="en-US" sz="3900" dirty="0"/>
          </a:p>
        </p:txBody>
      </p:sp>
      <p:sp>
        <p:nvSpPr>
          <p:cNvPr id="11" name="Text 9"/>
          <p:cNvSpPr/>
          <p:nvPr/>
        </p:nvSpPr>
        <p:spPr>
          <a:xfrm>
            <a:off x="950976" y="3511296"/>
            <a:ext cx="4251960" cy="301752"/>
          </a:xfrm>
          <a:prstGeom prst="rect">
            <a:avLst/>
          </a:prstGeom>
          <a:noFill/>
          <a:ln/>
        </p:spPr>
        <p:txBody>
          <a:bodyPr wrap="square" lIns="0" tIns="0" rIns="0" bIns="0" rtlCol="0" anchor="ctr">
            <a:normAutofit/>
          </a:bodyPr>
          <a:lstStyle/>
          <a:p>
            <a:pPr algn="l" indent="0" marL="0">
              <a:buNone/>
            </a:pPr>
            <a:r>
              <a:rPr lang="en-US" sz="1500" dirty="0">
                <a:solidFill>
                  <a:srgbClr val="FFFFFF"/>
                </a:solidFill>
                <a:latin typeface="Inter" pitchFamily="34" charset="0"/>
                <a:ea typeface="Inter" pitchFamily="34" charset="-122"/>
                <a:cs typeface="Inter" pitchFamily="34" charset="-120"/>
              </a:rPr>
              <a:t>CA annuel global 2024</a:t>
            </a:r>
            <a:endParaRPr lang="en-US" sz="1500" dirty="0"/>
          </a:p>
        </p:txBody>
      </p:sp>
      <p:sp>
        <p:nvSpPr>
          <p:cNvPr id="12" name="Shape 10"/>
          <p:cNvSpPr/>
          <p:nvPr/>
        </p:nvSpPr>
        <p:spPr>
          <a:xfrm>
            <a:off x="932688" y="3986784"/>
            <a:ext cx="4599432" cy="0"/>
          </a:xfrm>
          <a:prstGeom prst="line">
            <a:avLst/>
          </a:prstGeom>
          <a:noFill/>
          <a:ln w="11430">
            <a:solidFill>
              <a:srgbClr val="4D6056"/>
            </a:solidFill>
            <a:prstDash val="solid"/>
            <a:headEnd type="none"/>
            <a:tailEnd type="none"/>
          </a:ln>
        </p:spPr>
      </p:sp>
      <p:sp>
        <p:nvSpPr>
          <p:cNvPr id="13" name="Text 11"/>
          <p:cNvSpPr/>
          <p:nvPr/>
        </p:nvSpPr>
        <p:spPr>
          <a:xfrm>
            <a:off x="950976" y="4187952"/>
            <a:ext cx="4553712" cy="448056"/>
          </a:xfrm>
          <a:prstGeom prst="rect">
            <a:avLst/>
          </a:prstGeom>
          <a:noFill/>
          <a:ln/>
        </p:spPr>
        <p:txBody>
          <a:bodyPr wrap="square" lIns="0" tIns="0" rIns="0" bIns="0" rtlCol="0" anchor="ctr">
            <a:normAutofit/>
          </a:bodyPr>
          <a:lstStyle/>
          <a:p>
            <a:pPr algn="l" indent="0" marL="0">
              <a:buNone/>
            </a:pPr>
            <a:r>
              <a:rPr lang="en-US" sz="1600" b="1" dirty="0">
                <a:solidFill>
                  <a:srgbClr val="D4E3D9"/>
                </a:solidFill>
                <a:latin typeface="Inter" pitchFamily="34" charset="0"/>
                <a:ea typeface="Inter" pitchFamily="34" charset="-122"/>
                <a:cs typeface="Inter" pitchFamily="34" charset="-120"/>
              </a:rPr>
              <a:t>5,2 M€ web  /  5,2 M€ magasins</a:t>
            </a:r>
            <a:endParaRPr lang="en-US" sz="1600" dirty="0"/>
          </a:p>
        </p:txBody>
      </p:sp>
      <p:sp>
        <p:nvSpPr>
          <p:cNvPr id="14" name="Shape 12"/>
          <p:cNvSpPr/>
          <p:nvPr/>
        </p:nvSpPr>
        <p:spPr>
          <a:xfrm>
            <a:off x="6089904" y="2487168"/>
            <a:ext cx="5477256" cy="2542032"/>
          </a:xfrm>
          <a:prstGeom prst="roundRect">
            <a:avLst>
              <a:gd name="adj" fmla="val 6475"/>
            </a:avLst>
          </a:prstGeom>
          <a:solidFill>
            <a:srgbClr val="FFFFFF"/>
          </a:solidFill>
          <a:ln w="12700">
            <a:solidFill>
              <a:srgbClr val="FFFFFF">
                <a:alpha val="0"/>
              </a:srgbClr>
            </a:solidFill>
            <a:prstDash val="solid"/>
          </a:ln>
        </p:spPr>
      </p:sp>
      <p:sp>
        <p:nvSpPr>
          <p:cNvPr id="15" name="Text 13"/>
          <p:cNvSpPr/>
          <p:nvPr/>
        </p:nvSpPr>
        <p:spPr>
          <a:xfrm>
            <a:off x="6382512" y="2779776"/>
            <a:ext cx="4690872" cy="274320"/>
          </a:xfrm>
          <a:prstGeom prst="rect">
            <a:avLst/>
          </a:prstGeom>
          <a:noFill/>
          <a:ln/>
        </p:spPr>
        <p:txBody>
          <a:bodyPr wrap="square" lIns="0" tIns="0" rIns="0" bIns="0" rtlCol="0" anchor="ctr">
            <a:normAutofit/>
          </a:bodyPr>
          <a:lstStyle/>
          <a:p>
            <a:pPr algn="l" indent="0" marL="0">
              <a:buNone/>
            </a:pPr>
            <a:r>
              <a:rPr lang="en-US" sz="1000" b="1" spc="100" kern="0" dirty="0">
                <a:solidFill>
                  <a:srgbClr val="607069"/>
                </a:solidFill>
                <a:latin typeface="Inter" pitchFamily="34" charset="0"/>
                <a:ea typeface="Inter" pitchFamily="34" charset="-122"/>
                <a:cs typeface="Inter" pitchFamily="34" charset="-120"/>
              </a:rPr>
              <a:t>OBJECTIFS MARKETING À 24 MOIS</a:t>
            </a:r>
            <a:endParaRPr lang="en-US" sz="1000" dirty="0"/>
          </a:p>
        </p:txBody>
      </p:sp>
      <p:sp>
        <p:nvSpPr>
          <p:cNvPr id="16" name="Text 14"/>
          <p:cNvSpPr/>
          <p:nvPr/>
        </p:nvSpPr>
        <p:spPr>
          <a:xfrm>
            <a:off x="6382512" y="3154680"/>
            <a:ext cx="2313432"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+14 %</a:t>
            </a:r>
            <a:endParaRPr lang="en-US" sz="3400" dirty="0"/>
          </a:p>
        </p:txBody>
      </p:sp>
      <p:sp>
        <p:nvSpPr>
          <p:cNvPr id="17" name="Text 15"/>
          <p:cNvSpPr/>
          <p:nvPr/>
        </p:nvSpPr>
        <p:spPr>
          <a:xfrm>
            <a:off x="6400800" y="3886200"/>
            <a:ext cx="227685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WEB</a:t>
            </a:r>
            <a:endParaRPr lang="en-US" sz="1200" dirty="0"/>
          </a:p>
        </p:txBody>
      </p:sp>
      <p:sp>
        <p:nvSpPr>
          <p:cNvPr id="18" name="Text 16"/>
          <p:cNvSpPr/>
          <p:nvPr/>
        </p:nvSpPr>
        <p:spPr>
          <a:xfrm>
            <a:off x="8942832" y="3154680"/>
            <a:ext cx="2103120"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+4 %</a:t>
            </a:r>
            <a:endParaRPr lang="en-US" sz="3400" dirty="0"/>
          </a:p>
        </p:txBody>
      </p:sp>
      <p:sp>
        <p:nvSpPr>
          <p:cNvPr id="19" name="Text 17"/>
          <p:cNvSpPr/>
          <p:nvPr/>
        </p:nvSpPr>
        <p:spPr>
          <a:xfrm>
            <a:off x="8951976" y="3886200"/>
            <a:ext cx="218541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MAGASINS</a:t>
            </a:r>
            <a:endParaRPr lang="en-US" sz="1200" dirty="0"/>
          </a:p>
        </p:txBody>
      </p:sp>
      <p:sp>
        <p:nvSpPr>
          <p:cNvPr id="20" name="Shape 18"/>
          <p:cNvSpPr/>
          <p:nvPr/>
        </p:nvSpPr>
        <p:spPr>
          <a:xfrm>
            <a:off x="8759952" y="3136392"/>
            <a:ext cx="0" cy="1170432"/>
          </a:xfrm>
          <a:prstGeom prst="line">
            <a:avLst/>
          </a:prstGeom>
          <a:noFill/>
          <a:ln w="11430">
            <a:solidFill>
              <a:srgbClr val="D9DED4"/>
            </a:solidFill>
            <a:prstDash val="solid"/>
            <a:headEnd type="none"/>
            <a:tailEnd type="none"/>
          </a:ln>
        </p:spPr>
      </p:sp>
      <p:sp>
        <p:nvSpPr>
          <p:cNvPr id="21" name="Shape 19"/>
          <p:cNvSpPr/>
          <p:nvPr/>
        </p:nvSpPr>
        <p:spPr>
          <a:xfrm>
            <a:off x="640080" y="5330952"/>
            <a:ext cx="10936224" cy="640080"/>
          </a:xfrm>
          <a:prstGeom prst="roundRect">
            <a:avLst>
              <a:gd name="adj" fmla="val 22857"/>
            </a:avLst>
          </a:prstGeom>
          <a:solidFill>
            <a:srgbClr val="EFF1EA"/>
          </a:solidFill>
          <a:ln w="12700">
            <a:solidFill>
              <a:srgbClr val="EFF1EA">
                <a:alpha val="0"/>
              </a:srgbClr>
            </a:solidFill>
            <a:prstDash val="solid"/>
          </a:ln>
        </p:spPr>
      </p:sp>
      <p:sp>
        <p:nvSpPr>
          <p:cNvPr id="22" name="Text 20"/>
          <p:cNvSpPr/>
          <p:nvPr/>
        </p:nvSpPr>
        <p:spPr>
          <a:xfrm>
            <a:off x="886968" y="5532120"/>
            <a:ext cx="10378440" cy="256032"/>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Ce sont des prévisions commerciales, pas des résultats que le PoC prétend démontrer.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02  /  PÉRIMÈTRE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périmètre volontairement réduit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04</a:t>
            </a:r>
            <a:endParaRPr lang="en-US" sz="900" dirty="0"/>
          </a:p>
        </p:txBody>
      </p:sp>
      <p:sp>
        <p:nvSpPr>
          <p:cNvPr id="8" name="Shape 6"/>
          <p:cNvSpPr/>
          <p:nvPr/>
        </p:nvSpPr>
        <p:spPr>
          <a:xfrm>
            <a:off x="621792" y="1874520"/>
            <a:ext cx="3749040" cy="3621024"/>
          </a:xfrm>
          <a:prstGeom prst="roundRect">
            <a:avLst>
              <a:gd name="adj" fmla="val 4545"/>
            </a:avLst>
          </a:prstGeom>
          <a:solidFill>
            <a:srgbClr val="17221F"/>
          </a:solidFill>
          <a:ln w="12700">
            <a:solidFill>
              <a:srgbClr val="17221F">
                <a:alpha val="0"/>
              </a:srgbClr>
            </a:solidFill>
            <a:prstDash val="solid"/>
          </a:ln>
        </p:spPr>
      </p:sp>
      <p:sp>
        <p:nvSpPr>
          <p:cNvPr id="9" name="Text 7"/>
          <p:cNvSpPr/>
          <p:nvPr/>
        </p:nvSpPr>
        <p:spPr>
          <a:xfrm>
            <a:off x="941832" y="2221992"/>
            <a:ext cx="3017520" cy="914400"/>
          </a:xfrm>
          <a:prstGeom prst="rect">
            <a:avLst/>
          </a:prstGeom>
          <a:noFill/>
          <a:ln/>
        </p:spPr>
        <p:txBody>
          <a:bodyPr wrap="square" lIns="0" tIns="0" rIns="0" bIns="0" rtlCol="0" anchor="ctr">
            <a:normAutofit/>
          </a:bodyPr>
          <a:lstStyle/>
          <a:p>
            <a:pPr algn="l" indent="0" marL="0">
              <a:buNone/>
            </a:pPr>
            <a:r>
              <a:rPr lang="en-US" sz="4800" b="1" dirty="0">
                <a:solidFill>
                  <a:srgbClr val="D4F086"/>
                </a:solidFill>
                <a:latin typeface="Inter Display" pitchFamily="34" charset="0"/>
                <a:ea typeface="Inter Display" pitchFamily="34" charset="-122"/>
                <a:cs typeface="Inter Display" pitchFamily="34" charset="-120"/>
              </a:rPr>
              <a:t>120</a:t>
            </a:r>
            <a:endParaRPr lang="en-US" sz="4800" dirty="0"/>
          </a:p>
        </p:txBody>
      </p:sp>
      <p:sp>
        <p:nvSpPr>
          <p:cNvPr id="10" name="Text 8"/>
          <p:cNvSpPr/>
          <p:nvPr/>
        </p:nvSpPr>
        <p:spPr>
          <a:xfrm>
            <a:off x="950976" y="3182112"/>
            <a:ext cx="3099816" cy="365760"/>
          </a:xfrm>
          <a:prstGeom prst="rect">
            <a:avLst/>
          </a:prstGeom>
          <a:noFill/>
          <a:ln/>
        </p:spPr>
        <p:txBody>
          <a:bodyPr wrap="square" lIns="0" tIns="0" rIns="0" bIns="0" rtlCol="0" anchor="ctr">
            <a:normAutofit/>
          </a:bodyPr>
          <a:lstStyle/>
          <a:p>
            <a:pPr algn="l" indent="0" marL="0">
              <a:buNone/>
            </a:pPr>
            <a:r>
              <a:rPr lang="en-US" sz="1600" b="1" spc="100" kern="0" dirty="0">
                <a:solidFill>
                  <a:srgbClr val="FFFFFF"/>
                </a:solidFill>
                <a:latin typeface="Inter" pitchFamily="34" charset="0"/>
                <a:ea typeface="Inter" pitchFamily="34" charset="-122"/>
                <a:cs typeface="Inter" pitchFamily="34" charset="-120"/>
              </a:rPr>
              <a:t>PANTALONS &amp; JEANS</a:t>
            </a:r>
            <a:endParaRPr lang="en-US" sz="1600" dirty="0"/>
          </a:p>
        </p:txBody>
      </p:sp>
      <p:sp>
        <p:nvSpPr>
          <p:cNvPr id="11" name="Shape 9"/>
          <p:cNvSpPr/>
          <p:nvPr/>
        </p:nvSpPr>
        <p:spPr>
          <a:xfrm>
            <a:off x="950976" y="3712464"/>
            <a:ext cx="3090672" cy="0"/>
          </a:xfrm>
          <a:prstGeom prst="line">
            <a:avLst/>
          </a:prstGeom>
          <a:noFill/>
          <a:ln w="12700">
            <a:solidFill>
              <a:srgbClr val="526459"/>
            </a:solidFill>
            <a:prstDash val="solid"/>
            <a:headEnd type="none"/>
            <a:tailEnd type="none"/>
          </a:ln>
        </p:spPr>
      </p:sp>
      <p:sp>
        <p:nvSpPr>
          <p:cNvPr id="12" name="Text 10"/>
          <p:cNvSpPr/>
          <p:nvPr/>
        </p:nvSpPr>
        <p:spPr>
          <a:xfrm>
            <a:off x="960120" y="3950208"/>
            <a:ext cx="3072384" cy="868680"/>
          </a:xfrm>
          <a:prstGeom prst="rect">
            <a:avLst/>
          </a:prstGeom>
          <a:noFill/>
          <a:ln/>
        </p:spPr>
        <p:txBody>
          <a:bodyPr wrap="square" lIns="0" tIns="0" rIns="0" bIns="0" rtlCol="0" anchor="ctr">
            <a:normAutofit/>
          </a:bodyPr>
          <a:lstStyle/>
          <a:p>
            <a:pPr algn="l" indent="0" marL="0">
              <a:buNone/>
            </a:pPr>
            <a:r>
              <a:rPr lang="en-US" sz="1900" b="1" dirty="0">
                <a:solidFill>
                  <a:srgbClr val="E5EDE5"/>
                </a:solidFill>
                <a:latin typeface="Inter" pitchFamily="34" charset="0"/>
                <a:ea typeface="Inter" pitchFamily="34" charset="-122"/>
                <a:cs typeface="Inter" pitchFamily="34" charset="-120"/>
              </a:rPr>
              <a:t>27 % du CA global</a:t>
            </a:r>
            <a:endParaRPr lang="en-US" sz="1900" dirty="0"/>
          </a:p>
          <a:p>
            <a:pPr algn="l" indent="0" marL="0">
              <a:buNone/>
            </a:pPr>
            <a:r>
              <a:rPr lang="en-US" sz="1900" b="1" dirty="0">
                <a:solidFill>
                  <a:srgbClr val="E5EDE5"/>
                </a:solidFill>
                <a:latin typeface="Inter" pitchFamily="34" charset="0"/>
                <a:ea typeface="Inter" pitchFamily="34" charset="-122"/>
                <a:cs typeface="Inter" pitchFamily="34" charset="-120"/>
              </a:rPr>
              <a:t>≈ 2,8 M€ / an</a:t>
            </a:r>
            <a:endParaRPr lang="en-US" sz="1900" dirty="0"/>
          </a:p>
        </p:txBody>
      </p:sp>
      <p:sp>
        <p:nvSpPr>
          <p:cNvPr id="13" name="Text 11"/>
          <p:cNvSpPr/>
          <p:nvPr/>
        </p:nvSpPr>
        <p:spPr>
          <a:xfrm>
            <a:off x="4700016" y="2020824"/>
            <a:ext cx="3063240" cy="393192"/>
          </a:xfrm>
          <a:prstGeom prst="rect">
            <a:avLst/>
          </a:prstGeom>
          <a:noFill/>
          <a:ln/>
        </p:spPr>
        <p:txBody>
          <a:bodyPr wrap="square" lIns="0" tIns="0" rIns="0" bIns="0" rtlCol="0" anchor="ctr">
            <a:normAutofit/>
          </a:bodyPr>
          <a:lstStyle/>
          <a:p>
            <a:pPr algn="l" indent="0" marL="0">
              <a:buNone/>
            </a:pPr>
            <a:r>
              <a:rPr lang="en-US" sz="1300" b="1" spc="150" kern="0" dirty="0">
                <a:solidFill>
                  <a:srgbClr val="17221F"/>
                </a:solidFill>
                <a:latin typeface="Inter" pitchFamily="34" charset="0"/>
                <a:ea typeface="Inter" pitchFamily="34" charset="-122"/>
                <a:cs typeface="Inter" pitchFamily="34" charset="-120"/>
              </a:rPr>
              <a:t>INCLUS</a:t>
            </a:r>
            <a:endParaRPr lang="en-US" sz="1300" dirty="0"/>
          </a:p>
        </p:txBody>
      </p:sp>
      <p:sp>
        <p:nvSpPr>
          <p:cNvPr id="14" name="Shape 12"/>
          <p:cNvSpPr/>
          <p:nvPr/>
        </p:nvSpPr>
        <p:spPr>
          <a:xfrm>
            <a:off x="4727448" y="2642616"/>
            <a:ext cx="173736" cy="173736"/>
          </a:xfrm>
          <a:prstGeom prst="ellipse">
            <a:avLst/>
          </a:prstGeom>
          <a:solidFill>
            <a:srgbClr val="82AE99"/>
          </a:solidFill>
          <a:ln w="12700">
            <a:solidFill>
              <a:srgbClr val="82AE99">
                <a:alpha val="0"/>
              </a:srgbClr>
            </a:solidFill>
            <a:prstDash val="solid"/>
          </a:ln>
        </p:spPr>
      </p:sp>
      <p:sp>
        <p:nvSpPr>
          <p:cNvPr id="15" name="Text 13"/>
          <p:cNvSpPr/>
          <p:nvPr/>
        </p:nvSpPr>
        <p:spPr>
          <a:xfrm>
            <a:off x="4752137" y="2647188"/>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6" name="Text 14"/>
          <p:cNvSpPr/>
          <p:nvPr/>
        </p:nvSpPr>
        <p:spPr>
          <a:xfrm>
            <a:off x="5038344" y="2596896"/>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Photo d’un pantalon / jean en entrée</a:t>
            </a:r>
            <a:endParaRPr lang="en-US" sz="1400" dirty="0"/>
          </a:p>
        </p:txBody>
      </p:sp>
      <p:sp>
        <p:nvSpPr>
          <p:cNvPr id="17" name="Shape 15"/>
          <p:cNvSpPr/>
          <p:nvPr/>
        </p:nvSpPr>
        <p:spPr>
          <a:xfrm>
            <a:off x="4727448" y="3264408"/>
            <a:ext cx="173736" cy="173736"/>
          </a:xfrm>
          <a:prstGeom prst="ellipse">
            <a:avLst/>
          </a:prstGeom>
          <a:solidFill>
            <a:srgbClr val="82AE99"/>
          </a:solidFill>
          <a:ln w="12700">
            <a:solidFill>
              <a:srgbClr val="82AE99">
                <a:alpha val="0"/>
              </a:srgbClr>
            </a:solidFill>
            <a:prstDash val="solid"/>
          </a:ln>
        </p:spPr>
      </p:sp>
      <p:sp>
        <p:nvSpPr>
          <p:cNvPr id="18" name="Text 16"/>
          <p:cNvSpPr/>
          <p:nvPr/>
        </p:nvSpPr>
        <p:spPr>
          <a:xfrm>
            <a:off x="4752137" y="3268980"/>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9" name="Text 17"/>
          <p:cNvSpPr/>
          <p:nvPr/>
        </p:nvSpPr>
        <p:spPr>
          <a:xfrm>
            <a:off x="5038344" y="3218688"/>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Recherche de similarité sur le catalogue</a:t>
            </a:r>
            <a:endParaRPr lang="en-US" sz="1400" dirty="0"/>
          </a:p>
        </p:txBody>
      </p:sp>
      <p:sp>
        <p:nvSpPr>
          <p:cNvPr id="20" name="Shape 18"/>
          <p:cNvSpPr/>
          <p:nvPr/>
        </p:nvSpPr>
        <p:spPr>
          <a:xfrm>
            <a:off x="4727448" y="3886200"/>
            <a:ext cx="173736" cy="173736"/>
          </a:xfrm>
          <a:prstGeom prst="ellipse">
            <a:avLst/>
          </a:prstGeom>
          <a:solidFill>
            <a:srgbClr val="82AE99"/>
          </a:solidFill>
          <a:ln w="12700">
            <a:solidFill>
              <a:srgbClr val="82AE99">
                <a:alpha val="0"/>
              </a:srgbClr>
            </a:solidFill>
            <a:prstDash val="solid"/>
          </a:ln>
        </p:spPr>
      </p:sp>
      <p:sp>
        <p:nvSpPr>
          <p:cNvPr id="21" name="Text 19"/>
          <p:cNvSpPr/>
          <p:nvPr/>
        </p:nvSpPr>
        <p:spPr>
          <a:xfrm>
            <a:off x="4752137" y="3890772"/>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2" name="Text 20"/>
          <p:cNvSpPr/>
          <p:nvPr/>
        </p:nvSpPr>
        <p:spPr>
          <a:xfrm>
            <a:off x="5038344" y="3840480"/>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Top 5 de références distinctes</a:t>
            </a:r>
            <a:endParaRPr lang="en-US" sz="1400" dirty="0"/>
          </a:p>
        </p:txBody>
      </p:sp>
      <p:sp>
        <p:nvSpPr>
          <p:cNvPr id="23" name="Shape 21"/>
          <p:cNvSpPr/>
          <p:nvPr/>
        </p:nvSpPr>
        <p:spPr>
          <a:xfrm>
            <a:off x="4727448" y="4507992"/>
            <a:ext cx="173736" cy="173736"/>
          </a:xfrm>
          <a:prstGeom prst="ellipse">
            <a:avLst/>
          </a:prstGeom>
          <a:solidFill>
            <a:srgbClr val="82AE99"/>
          </a:solidFill>
          <a:ln w="12700">
            <a:solidFill>
              <a:srgbClr val="82AE99">
                <a:alpha val="0"/>
              </a:srgbClr>
            </a:solidFill>
            <a:prstDash val="solid"/>
          </a:ln>
        </p:spPr>
      </p:sp>
      <p:sp>
        <p:nvSpPr>
          <p:cNvPr id="24" name="Text 22"/>
          <p:cNvSpPr/>
          <p:nvPr/>
        </p:nvSpPr>
        <p:spPr>
          <a:xfrm>
            <a:off x="4752137" y="4512564"/>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5" name="Text 23"/>
          <p:cNvSpPr/>
          <p:nvPr/>
        </p:nvSpPr>
        <p:spPr>
          <a:xfrm>
            <a:off x="5038344" y="4462272"/>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Jugement de pertinence par les métiers</a:t>
            </a:r>
            <a:endParaRPr lang="en-US" sz="1400" dirty="0"/>
          </a:p>
        </p:txBody>
      </p:sp>
      <p:sp>
        <p:nvSpPr>
          <p:cNvPr id="26" name="Text 24"/>
          <p:cNvSpPr/>
          <p:nvPr/>
        </p:nvSpPr>
        <p:spPr>
          <a:xfrm>
            <a:off x="4709160" y="5248656"/>
            <a:ext cx="2889504" cy="274320"/>
          </a:xfrm>
          <a:prstGeom prst="rect">
            <a:avLst/>
          </a:prstGeom>
          <a:noFill/>
          <a:ln/>
        </p:spPr>
        <p:txBody>
          <a:bodyPr wrap="square" lIns="0" tIns="0" rIns="0" bIns="0" rtlCol="0" anchor="ctr">
            <a:normAutofit/>
          </a:bodyPr>
          <a:lstStyle/>
          <a:p>
            <a:pPr algn="l" indent="0" marL="0">
              <a:buNone/>
            </a:pPr>
            <a:r>
              <a:rPr lang="en-US" sz="1100" b="1" spc="130" kern="0" dirty="0">
                <a:solidFill>
                  <a:srgbClr val="B75D4B"/>
                </a:solidFill>
                <a:latin typeface="Inter" pitchFamily="34" charset="0"/>
                <a:ea typeface="Inter" pitchFamily="34" charset="-122"/>
                <a:cs typeface="Inter" pitchFamily="34" charset="-120"/>
              </a:rPr>
              <a:t>NON INCLUS</a:t>
            </a:r>
            <a:endParaRPr lang="en-US" sz="1100" dirty="0"/>
          </a:p>
        </p:txBody>
      </p:sp>
      <p:sp>
        <p:nvSpPr>
          <p:cNvPr id="27" name="Text 25"/>
          <p:cNvSpPr/>
          <p:nvPr/>
        </p:nvSpPr>
        <p:spPr>
          <a:xfrm>
            <a:off x="4709160" y="5550408"/>
            <a:ext cx="6473952" cy="347472"/>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Application mobile, compte client, essayage virtuel, personnalisation avancée.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03  /  EXPÉRIENCE TESTÉE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Une démonstration simple, observable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05</a:t>
            </a:r>
            <a:endParaRPr lang="en-US" sz="900" dirty="0"/>
          </a:p>
        </p:txBody>
      </p:sp>
      <p:sp>
        <p:nvSpPr>
          <p:cNvPr id="8" name="Text 6"/>
          <p:cNvSpPr/>
          <p:nvPr/>
        </p:nvSpPr>
        <p:spPr>
          <a:xfrm>
            <a:off x="621792" y="1801368"/>
            <a:ext cx="10698480" cy="457200"/>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Le PoC doit démontrer la chaîne image → suggestions, sans interface mobile.</a:t>
            </a:r>
            <a:endParaRPr lang="en-US" sz="1800" dirty="0"/>
          </a:p>
        </p:txBody>
      </p:sp>
      <p:sp>
        <p:nvSpPr>
          <p:cNvPr id="9" name="Shape 7"/>
          <p:cNvSpPr/>
          <p:nvPr/>
        </p:nvSpPr>
        <p:spPr>
          <a:xfrm>
            <a:off x="630936" y="2670048"/>
            <a:ext cx="2596896" cy="2542032"/>
          </a:xfrm>
          <a:prstGeom prst="roundRect">
            <a:avLst>
              <a:gd name="adj" fmla="val 5396"/>
            </a:avLst>
          </a:prstGeom>
          <a:solidFill>
            <a:srgbClr val="17221F"/>
          </a:solidFill>
          <a:ln w="12700">
            <a:solidFill>
              <a:srgbClr val="17221F">
                <a:alpha val="0"/>
              </a:srgbClr>
            </a:solidFill>
            <a:prstDash val="solid"/>
          </a:ln>
        </p:spPr>
      </p:sp>
      <p:sp>
        <p:nvSpPr>
          <p:cNvPr id="10" name="Shape 8"/>
          <p:cNvSpPr/>
          <p:nvPr/>
        </p:nvSpPr>
        <p:spPr>
          <a:xfrm>
            <a:off x="868680" y="2926080"/>
            <a:ext cx="521208" cy="521208"/>
          </a:xfrm>
          <a:prstGeom prst="ellipse">
            <a:avLst/>
          </a:prstGeom>
          <a:solidFill>
            <a:srgbClr val="D4F086"/>
          </a:solidFill>
          <a:ln w="12700">
            <a:solidFill>
              <a:srgbClr val="D4F086">
                <a:alpha val="0"/>
              </a:srgbClr>
            </a:solidFill>
            <a:prstDash val="solid"/>
          </a:ln>
        </p:spPr>
      </p:sp>
      <p:sp>
        <p:nvSpPr>
          <p:cNvPr id="11" name="Text 9"/>
          <p:cNvSpPr/>
          <p:nvPr/>
        </p:nvSpPr>
        <p:spPr>
          <a:xfrm>
            <a:off x="886968"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01</a:t>
            </a:r>
            <a:endParaRPr lang="en-US" sz="1200" dirty="0"/>
          </a:p>
        </p:txBody>
      </p:sp>
      <p:sp>
        <p:nvSpPr>
          <p:cNvPr id="12" name="Text 10"/>
          <p:cNvSpPr/>
          <p:nvPr/>
        </p:nvSpPr>
        <p:spPr>
          <a:xfrm>
            <a:off x="877824"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PHOTO TEST</a:t>
            </a:r>
            <a:endParaRPr lang="en-US" sz="1300" dirty="0"/>
          </a:p>
        </p:txBody>
      </p:sp>
      <p:sp>
        <p:nvSpPr>
          <p:cNvPr id="13" name="Text 11"/>
          <p:cNvSpPr/>
          <p:nvPr/>
        </p:nvSpPr>
        <p:spPr>
          <a:xfrm>
            <a:off x="877824"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E7EEE7"/>
                </a:solidFill>
                <a:latin typeface="Inter" pitchFamily="34" charset="0"/>
                <a:ea typeface="Inter" pitchFamily="34" charset="-122"/>
                <a:cs typeface="Inter" pitchFamily="34" charset="-120"/>
              </a:rPr>
              <a:t>Photo indépendante du catalogue montrant un jean ou un pantalon.</a:t>
            </a:r>
            <a:endParaRPr lang="en-US" sz="1220" dirty="0"/>
          </a:p>
        </p:txBody>
      </p:sp>
      <p:sp>
        <p:nvSpPr>
          <p:cNvPr id="14" name="Text 12"/>
          <p:cNvSpPr/>
          <p:nvPr/>
        </p:nvSpPr>
        <p:spPr>
          <a:xfrm>
            <a:off x="3227832"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15" name="Shape 13"/>
          <p:cNvSpPr/>
          <p:nvPr/>
        </p:nvSpPr>
        <p:spPr>
          <a:xfrm>
            <a:off x="3383280"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16" name="Shape 14"/>
          <p:cNvSpPr/>
          <p:nvPr/>
        </p:nvSpPr>
        <p:spPr>
          <a:xfrm>
            <a:off x="3621024" y="2926080"/>
            <a:ext cx="521208" cy="521208"/>
          </a:xfrm>
          <a:prstGeom prst="ellipse">
            <a:avLst/>
          </a:prstGeom>
          <a:solidFill>
            <a:srgbClr val="EFF1EA"/>
          </a:solidFill>
          <a:ln w="12700">
            <a:solidFill>
              <a:srgbClr val="EFF1EA">
                <a:alpha val="0"/>
              </a:srgbClr>
            </a:solidFill>
            <a:prstDash val="solid"/>
          </a:ln>
        </p:spPr>
      </p:sp>
      <p:sp>
        <p:nvSpPr>
          <p:cNvPr id="17" name="Text 15"/>
          <p:cNvSpPr/>
          <p:nvPr/>
        </p:nvSpPr>
        <p:spPr>
          <a:xfrm>
            <a:off x="3639312"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02</a:t>
            </a:r>
            <a:endParaRPr lang="en-US" sz="1200" dirty="0"/>
          </a:p>
        </p:txBody>
      </p:sp>
      <p:sp>
        <p:nvSpPr>
          <p:cNvPr id="18" name="Text 16"/>
          <p:cNvSpPr/>
          <p:nvPr/>
        </p:nvSpPr>
        <p:spPr>
          <a:xfrm>
            <a:off x="3630168"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REPRÉSENTATION</a:t>
            </a:r>
            <a:endParaRPr lang="en-US" sz="1300" dirty="0"/>
          </a:p>
        </p:txBody>
      </p:sp>
      <p:sp>
        <p:nvSpPr>
          <p:cNvPr id="19" name="Text 17"/>
          <p:cNvSpPr/>
          <p:nvPr/>
        </p:nvSpPr>
        <p:spPr>
          <a:xfrm>
            <a:off x="3630168"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Le modèle décrit le contenu visuel sous forme de vecteur.</a:t>
            </a:r>
            <a:endParaRPr lang="en-US" sz="1220" dirty="0"/>
          </a:p>
        </p:txBody>
      </p:sp>
      <p:sp>
        <p:nvSpPr>
          <p:cNvPr id="20" name="Text 18"/>
          <p:cNvSpPr/>
          <p:nvPr/>
        </p:nvSpPr>
        <p:spPr>
          <a:xfrm>
            <a:off x="5980176"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1" name="Shape 19"/>
          <p:cNvSpPr/>
          <p:nvPr/>
        </p:nvSpPr>
        <p:spPr>
          <a:xfrm>
            <a:off x="6135624"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2" name="Shape 20"/>
          <p:cNvSpPr/>
          <p:nvPr/>
        </p:nvSpPr>
        <p:spPr>
          <a:xfrm>
            <a:off x="6373368" y="2926080"/>
            <a:ext cx="521208" cy="521208"/>
          </a:xfrm>
          <a:prstGeom prst="ellipse">
            <a:avLst/>
          </a:prstGeom>
          <a:solidFill>
            <a:srgbClr val="EFF1EA"/>
          </a:solidFill>
          <a:ln w="12700">
            <a:solidFill>
              <a:srgbClr val="EFF1EA">
                <a:alpha val="0"/>
              </a:srgbClr>
            </a:solidFill>
            <a:prstDash val="solid"/>
          </a:ln>
        </p:spPr>
      </p:sp>
      <p:sp>
        <p:nvSpPr>
          <p:cNvPr id="23" name="Text 21"/>
          <p:cNvSpPr/>
          <p:nvPr/>
        </p:nvSpPr>
        <p:spPr>
          <a:xfrm>
            <a:off x="6391656"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03</a:t>
            </a:r>
            <a:endParaRPr lang="en-US" sz="1200" dirty="0"/>
          </a:p>
        </p:txBody>
      </p:sp>
      <p:sp>
        <p:nvSpPr>
          <p:cNvPr id="24" name="Text 22"/>
          <p:cNvSpPr/>
          <p:nvPr/>
        </p:nvSpPr>
        <p:spPr>
          <a:xfrm>
            <a:off x="6382512"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CLASSEMENT</a:t>
            </a:r>
            <a:endParaRPr lang="en-US" sz="1300" dirty="0"/>
          </a:p>
        </p:txBody>
      </p:sp>
      <p:sp>
        <p:nvSpPr>
          <p:cNvPr id="25" name="Text 23"/>
          <p:cNvSpPr/>
          <p:nvPr/>
        </p:nvSpPr>
        <p:spPr>
          <a:xfrm>
            <a:off x="6382512"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Recherche des références les plus proches parmi 120 produits.</a:t>
            </a:r>
            <a:endParaRPr lang="en-US" sz="1220" dirty="0"/>
          </a:p>
        </p:txBody>
      </p:sp>
      <p:sp>
        <p:nvSpPr>
          <p:cNvPr id="26" name="Text 24"/>
          <p:cNvSpPr/>
          <p:nvPr/>
        </p:nvSpPr>
        <p:spPr>
          <a:xfrm>
            <a:off x="8732520"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7" name="Shape 25"/>
          <p:cNvSpPr/>
          <p:nvPr/>
        </p:nvSpPr>
        <p:spPr>
          <a:xfrm>
            <a:off x="8897112"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8" name="Shape 26"/>
          <p:cNvSpPr/>
          <p:nvPr/>
        </p:nvSpPr>
        <p:spPr>
          <a:xfrm>
            <a:off x="9134856" y="2926080"/>
            <a:ext cx="521208" cy="521208"/>
          </a:xfrm>
          <a:prstGeom prst="ellipse">
            <a:avLst/>
          </a:prstGeom>
          <a:solidFill>
            <a:srgbClr val="EFF1EA"/>
          </a:solidFill>
          <a:ln w="12700">
            <a:solidFill>
              <a:srgbClr val="EFF1EA">
                <a:alpha val="0"/>
              </a:srgbClr>
            </a:solidFill>
            <a:prstDash val="solid"/>
          </a:ln>
        </p:spPr>
      </p:sp>
      <p:sp>
        <p:nvSpPr>
          <p:cNvPr id="29" name="Text 27"/>
          <p:cNvSpPr/>
          <p:nvPr/>
        </p:nvSpPr>
        <p:spPr>
          <a:xfrm>
            <a:off x="9153144"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04</a:t>
            </a:r>
            <a:endParaRPr lang="en-US" sz="1200" dirty="0"/>
          </a:p>
        </p:txBody>
      </p:sp>
      <p:sp>
        <p:nvSpPr>
          <p:cNvPr id="30" name="Text 28"/>
          <p:cNvSpPr/>
          <p:nvPr/>
        </p:nvSpPr>
        <p:spPr>
          <a:xfrm>
            <a:off x="9144000"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TOP 5</a:t>
            </a:r>
            <a:endParaRPr lang="en-US" sz="1300" dirty="0"/>
          </a:p>
        </p:txBody>
      </p:sp>
      <p:sp>
        <p:nvSpPr>
          <p:cNvPr id="31" name="Text 29"/>
          <p:cNvSpPr/>
          <p:nvPr/>
        </p:nvSpPr>
        <p:spPr>
          <a:xfrm>
            <a:off x="9144000"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Cinq produits distincts soumis à une évaluation métier.</a:t>
            </a:r>
            <a:endParaRPr lang="en-US" sz="1220" dirty="0"/>
          </a:p>
        </p:txBody>
      </p:sp>
      <p:sp>
        <p:nvSpPr>
          <p:cNvPr id="32" name="Shape 30"/>
          <p:cNvSpPr/>
          <p:nvPr/>
        </p:nvSpPr>
        <p:spPr>
          <a:xfrm>
            <a:off x="640080" y="5541264"/>
            <a:ext cx="10927080" cy="466344"/>
          </a:xfrm>
          <a:prstGeom prst="roundRect">
            <a:avLst>
              <a:gd name="adj" fmla="val 19608"/>
            </a:avLst>
          </a:prstGeom>
          <a:solidFill>
            <a:srgbClr val="EFF1EA"/>
          </a:solidFill>
          <a:ln w="12700">
            <a:solidFill>
              <a:srgbClr val="EFF1EA">
                <a:alpha val="0"/>
              </a:srgbClr>
            </a:solidFill>
            <a:prstDash val="solid"/>
          </a:ln>
        </p:spPr>
      </p:sp>
      <p:sp>
        <p:nvSpPr>
          <p:cNvPr id="33" name="Text 31"/>
          <p:cNvSpPr/>
          <p:nvPr/>
        </p:nvSpPr>
        <p:spPr>
          <a:xfrm>
            <a:off x="813816" y="5687568"/>
            <a:ext cx="10442448" cy="155448"/>
          </a:xfrm>
          <a:prstGeom prst="rect">
            <a:avLst/>
          </a:prstGeom>
          <a:noFill/>
          <a:ln/>
        </p:spPr>
        <p:txBody>
          <a:bodyPr wrap="square" lIns="0" tIns="0" rIns="0" bIns="0" rtlCol="0" anchor="ctr">
            <a:normAutofit/>
          </a:bodyPr>
          <a:lstStyle/>
          <a:p>
            <a:pPr algn="l" indent="0" marL="0">
              <a:buNone/>
            </a:pPr>
            <a:r>
              <a:rPr lang="en-US" sz="1150" i="1" dirty="0">
                <a:solidFill>
                  <a:srgbClr val="17221F"/>
                </a:solidFill>
                <a:latin typeface="Inter" pitchFamily="34" charset="0"/>
                <a:ea typeface="Inter" pitchFamily="34" charset="-122"/>
                <a:cs typeface="Inter" pitchFamily="34" charset="-120"/>
              </a:rPr>
              <a:t>Évaluation identique pour les méthodes comparées ; ne pas réutiliser les photos du catalogue comme photos de test.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04  /  DONNÉES ET QUALITÉ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Les données sont le premier prérequis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06</a:t>
            </a:r>
            <a:endParaRPr lang="en-US" sz="900" dirty="0"/>
          </a:p>
        </p:txBody>
      </p:sp>
      <p:sp>
        <p:nvSpPr>
          <p:cNvPr id="8" name="Shape 6"/>
          <p:cNvSpPr/>
          <p:nvPr/>
        </p:nvSpPr>
        <p:spPr>
          <a:xfrm>
            <a:off x="621792"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9" name="Shape 7"/>
          <p:cNvSpPr/>
          <p:nvPr/>
        </p:nvSpPr>
        <p:spPr>
          <a:xfrm>
            <a:off x="804672"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0" name="Text 8"/>
          <p:cNvSpPr/>
          <p:nvPr/>
        </p:nvSpPr>
        <p:spPr>
          <a:xfrm>
            <a:off x="1024128"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CATALOGUE</a:t>
            </a:r>
            <a:endParaRPr lang="en-US" sz="1600" dirty="0"/>
          </a:p>
        </p:txBody>
      </p:sp>
      <p:sp>
        <p:nvSpPr>
          <p:cNvPr id="11" name="Text 9"/>
          <p:cNvSpPr/>
          <p:nvPr/>
        </p:nvSpPr>
        <p:spPr>
          <a:xfrm>
            <a:off x="896112"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120 références pilotes ; images sous plusieurs angles, descriptions et tags de style. Sources aujourd’hui dispersées.</a:t>
            </a:r>
            <a:endParaRPr lang="en-US" sz="1400" dirty="0"/>
          </a:p>
        </p:txBody>
      </p:sp>
      <p:sp>
        <p:nvSpPr>
          <p:cNvPr id="12" name="Shape 10"/>
          <p:cNvSpPr/>
          <p:nvPr/>
        </p:nvSpPr>
        <p:spPr>
          <a:xfrm>
            <a:off x="4379976"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3" name="Shape 11"/>
          <p:cNvSpPr/>
          <p:nvPr/>
        </p:nvSpPr>
        <p:spPr>
          <a:xfrm>
            <a:off x="4562856"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4" name="Text 12"/>
          <p:cNvSpPr/>
          <p:nvPr/>
        </p:nvSpPr>
        <p:spPr>
          <a:xfrm>
            <a:off x="4782312"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PHOTOS DE TEST</a:t>
            </a:r>
            <a:endParaRPr lang="en-US" sz="1600" dirty="0"/>
          </a:p>
        </p:txBody>
      </p:sp>
      <p:sp>
        <p:nvSpPr>
          <p:cNvPr id="15" name="Text 13"/>
          <p:cNvSpPr/>
          <p:nvPr/>
        </p:nvSpPr>
        <p:spPr>
          <a:xfrm>
            <a:off x="4654296"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40 photos indépendantes, représentatives des usages réels ; leur disponibilité et leurs droits restent à confirmer.</a:t>
            </a:r>
            <a:endParaRPr lang="en-US" sz="1400" dirty="0"/>
          </a:p>
        </p:txBody>
      </p:sp>
      <p:sp>
        <p:nvSpPr>
          <p:cNvPr id="16" name="Shape 14"/>
          <p:cNvSpPr/>
          <p:nvPr/>
        </p:nvSpPr>
        <p:spPr>
          <a:xfrm>
            <a:off x="8138160"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7" name="Shape 15"/>
          <p:cNvSpPr/>
          <p:nvPr/>
        </p:nvSpPr>
        <p:spPr>
          <a:xfrm>
            <a:off x="8321040"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8" name="Text 16"/>
          <p:cNvSpPr/>
          <p:nvPr/>
        </p:nvSpPr>
        <p:spPr>
          <a:xfrm>
            <a:off x="8540496"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JUGEMENTS MÉTIER</a:t>
            </a:r>
            <a:endParaRPr lang="en-US" sz="1600" dirty="0"/>
          </a:p>
        </p:txBody>
      </p:sp>
      <p:sp>
        <p:nvSpPr>
          <p:cNvPr id="19" name="Text 17"/>
          <p:cNvSpPr/>
          <p:nvPr/>
        </p:nvSpPr>
        <p:spPr>
          <a:xfrm>
            <a:off x="8412480"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Deux évaluateurs et une grille : coupe, couleur, matière apparente et style. Arbitrage des désaccords.</a:t>
            </a:r>
            <a:endParaRPr lang="en-US" sz="1400" dirty="0"/>
          </a:p>
        </p:txBody>
      </p:sp>
      <p:sp>
        <p:nvSpPr>
          <p:cNvPr id="20" name="Shape 18"/>
          <p:cNvSpPr/>
          <p:nvPr/>
        </p:nvSpPr>
        <p:spPr>
          <a:xfrm>
            <a:off x="621792" y="5001768"/>
            <a:ext cx="10954512" cy="923544"/>
          </a:xfrm>
          <a:prstGeom prst="roundRect">
            <a:avLst>
              <a:gd name="adj" fmla="val 13861"/>
            </a:avLst>
          </a:prstGeom>
          <a:solidFill>
            <a:srgbClr val="17221F"/>
          </a:solidFill>
          <a:ln w="12700">
            <a:solidFill>
              <a:srgbClr val="17221F">
                <a:alpha val="0"/>
              </a:srgbClr>
            </a:solidFill>
            <a:prstDash val="solid"/>
          </a:ln>
        </p:spPr>
      </p:sp>
      <p:sp>
        <p:nvSpPr>
          <p:cNvPr id="21" name="Text 19"/>
          <p:cNvSpPr/>
          <p:nvPr/>
        </p:nvSpPr>
        <p:spPr>
          <a:xfrm>
            <a:off x="886968" y="5184648"/>
            <a:ext cx="1837944" cy="457200"/>
          </a:xfrm>
          <a:prstGeom prst="rect">
            <a:avLst/>
          </a:prstGeom>
          <a:noFill/>
          <a:ln/>
        </p:spPr>
        <p:txBody>
          <a:bodyPr wrap="square" lIns="0" tIns="0" rIns="0" bIns="0" rtlCol="0" anchor="ctr">
            <a:normAutofit/>
          </a:bodyPr>
          <a:lstStyle/>
          <a:p>
            <a:pPr algn="l" indent="0" marL="0">
              <a:buNone/>
            </a:pPr>
            <a:r>
              <a:rPr lang="en-US" sz="2800" b="1" dirty="0">
                <a:solidFill>
                  <a:srgbClr val="D4F086"/>
                </a:solidFill>
                <a:latin typeface="Inter Display" pitchFamily="34" charset="0"/>
                <a:ea typeface="Inter Display" pitchFamily="34" charset="-122"/>
                <a:cs typeface="Inter Display" pitchFamily="34" charset="-120"/>
              </a:rPr>
              <a:t>3 J-H</a:t>
            </a:r>
            <a:endParaRPr lang="en-US" sz="2800" dirty="0"/>
          </a:p>
        </p:txBody>
      </p:sp>
      <p:sp>
        <p:nvSpPr>
          <p:cNvPr id="22" name="Text 20"/>
          <p:cNvSpPr/>
          <p:nvPr/>
        </p:nvSpPr>
        <p:spPr>
          <a:xfrm>
            <a:off x="2770632" y="5157216"/>
            <a:ext cx="8366760" cy="548640"/>
          </a:xfrm>
          <a:prstGeom prst="rect">
            <a:avLst/>
          </a:prstGeom>
          <a:noFill/>
          <a:ln/>
        </p:spPr>
        <p:txBody>
          <a:bodyPr wrap="square" lIns="0" tIns="0" rIns="0" bIns="0" rtlCol="0" anchor="ctr">
            <a:normAutofit/>
          </a:bodyPr>
          <a:lstStyle/>
          <a:p>
            <a:pPr algn="l" indent="0" marL="0">
              <a:buNone/>
            </a:pPr>
            <a:r>
              <a:rPr lang="en-US" sz="1250" dirty="0">
                <a:solidFill>
                  <a:srgbClr val="FFFFFF"/>
                </a:solidFill>
                <a:latin typeface="Inter" pitchFamily="34" charset="0"/>
                <a:ea typeface="Inter" pitchFamily="34" charset="-122"/>
                <a:cs typeface="Inter" pitchFamily="34" charset="-120"/>
              </a:rPr>
              <a:t>repère historique d’extraction des données sur l’ensemble du catalogue ;</a:t>
            </a:r>
            <a:endParaRPr lang="en-US" sz="1250" dirty="0"/>
          </a:p>
          <a:p>
            <a:pPr algn="l" indent="0" marL="0">
              <a:buNone/>
            </a:pPr>
            <a:r>
              <a:rPr lang="en-US" sz="1250" dirty="0">
                <a:solidFill>
                  <a:srgbClr val="FFFFFF"/>
                </a:solidFill>
                <a:latin typeface="Inter" pitchFamily="34" charset="0"/>
                <a:ea typeface="Inter" pitchFamily="34" charset="-122"/>
                <a:cs typeface="Inter" pitchFamily="34" charset="-120"/>
              </a:rPr>
              <a:t>pas une garantie de délai pour le PoC.</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05  /  FAISABILITÉ TECHNIQUE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Approche IA prioritaire : embeddings visuels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07</a:t>
            </a:r>
            <a:endParaRPr lang="en-US" sz="900" dirty="0"/>
          </a:p>
        </p:txBody>
      </p:sp>
      <p:sp>
        <p:nvSpPr>
          <p:cNvPr id="8" name="Text 6"/>
          <p:cNvSpPr/>
          <p:nvPr/>
        </p:nvSpPr>
        <p:spPr>
          <a:xfrm>
            <a:off x="621792" y="1783080"/>
            <a:ext cx="10881360" cy="429768"/>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Catalogue encodé en BATCH ; photo utilisateur encodée à la demande pour la recherche en ligne.</a:t>
            </a:r>
            <a:endParaRPr lang="en-US" sz="1800" dirty="0"/>
          </a:p>
        </p:txBody>
      </p:sp>
      <p:sp>
        <p:nvSpPr>
          <p:cNvPr id="9" name="Shape 7"/>
          <p:cNvSpPr/>
          <p:nvPr/>
        </p:nvSpPr>
        <p:spPr>
          <a:xfrm>
            <a:off x="685800" y="2578608"/>
            <a:ext cx="2395728" cy="822960"/>
          </a:xfrm>
          <a:prstGeom prst="roundRect">
            <a:avLst>
              <a:gd name="adj" fmla="val 14444"/>
            </a:avLst>
          </a:prstGeom>
          <a:solidFill>
            <a:srgbClr val="17221F"/>
          </a:solidFill>
          <a:ln w="12700">
            <a:solidFill>
              <a:srgbClr val="17221F">
                <a:alpha val="0"/>
              </a:srgbClr>
            </a:solidFill>
            <a:prstDash val="solid"/>
          </a:ln>
        </p:spPr>
        <p:txBody>
          <a:bodyPr/>
          <a:p/>
        </p:txBody>
      </p:sp>
      <p:sp>
        <p:nvSpPr>
          <p:cNvPr id="10" name="Text 8"/>
          <p:cNvSpPr/>
          <p:nvPr/>
        </p:nvSpPr>
        <p:spPr>
          <a:xfrm>
            <a:off x="896112" y="2852928"/>
            <a:ext cx="2011680" cy="29260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Inter" pitchFamily="34" charset="0"/>
                <a:ea typeface="Inter" pitchFamily="34" charset="-122"/>
                <a:cs typeface="Inter" pitchFamily="34" charset="-120"/>
              </a:rPr>
              <a:t>IMAGES CATALOGUE</a:t>
            </a:r>
            <a:endParaRPr lang="en-US" sz="1300" dirty="0"/>
          </a:p>
        </p:txBody>
      </p:sp>
      <p:sp>
        <p:nvSpPr>
          <p:cNvPr id="11" name="Shape 9"/>
          <p:cNvSpPr/>
          <p:nvPr/>
        </p:nvSpPr>
        <p:spPr>
          <a:xfrm>
            <a:off x="685800" y="3749040"/>
            <a:ext cx="2395728" cy="822960"/>
          </a:xfrm>
          <a:prstGeom prst="roundRect">
            <a:avLst>
              <a:gd name="adj" fmla="val 14444"/>
            </a:avLst>
          </a:prstGeom>
          <a:solidFill>
            <a:srgbClr val="EFF1EA"/>
          </a:solidFill>
          <a:ln w="12700">
            <a:solidFill>
              <a:srgbClr val="EFF1EA">
                <a:alpha val="0"/>
              </a:srgbClr>
            </a:solidFill>
            <a:prstDash val="solid"/>
          </a:ln>
        </p:spPr>
        <p:txBody>
          <a:bodyPr/>
          <a:p/>
        </p:txBody>
      </p:sp>
      <p:sp>
        <p:nvSpPr>
          <p:cNvPr id="12" name="Text 10"/>
          <p:cNvSpPr/>
          <p:nvPr/>
        </p:nvSpPr>
        <p:spPr>
          <a:xfrm>
            <a:off x="877824" y="4032504"/>
            <a:ext cx="2002536" cy="29260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PHOTO DE TEST</a:t>
            </a:r>
            <a:endParaRPr lang="en-US" sz="1300" dirty="0"/>
          </a:p>
        </p:txBody>
      </p:sp>
      <p:sp>
        <p:nvSpPr>
          <p:cNvPr id="13" name="Text 11"/>
          <p:cNvSpPr/>
          <p:nvPr/>
        </p:nvSpPr>
        <p:spPr>
          <a:xfrm>
            <a:off x="3127248" y="3246120"/>
            <a:ext cx="338328" cy="329184"/>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4" name="Shape 12"/>
          <p:cNvSpPr/>
          <p:nvPr/>
        </p:nvSpPr>
        <p:spPr>
          <a:xfrm>
            <a:off x="3566160" y="2935224"/>
            <a:ext cx="2130552" cy="1225296"/>
          </a:xfrm>
          <a:prstGeom prst="roundRect">
            <a:avLst>
              <a:gd name="adj" fmla="val 11940"/>
            </a:avLst>
          </a:prstGeom>
          <a:solidFill>
            <a:srgbClr val="FFFFFF"/>
          </a:solidFill>
          <a:ln w="12700">
            <a:solidFill>
              <a:srgbClr val="FFFFFF">
                <a:alpha val="0"/>
              </a:srgbClr>
            </a:solidFill>
            <a:prstDash val="solid"/>
          </a:ln>
        </p:spPr>
        <p:txBody>
          <a:bodyPr/>
          <a:p/>
        </p:txBody>
      </p:sp>
      <p:sp>
        <p:nvSpPr>
          <p:cNvPr id="15" name="Text 13"/>
          <p:cNvSpPr/>
          <p:nvPr/>
        </p:nvSpPr>
        <p:spPr>
          <a:xfrm>
            <a:off x="3758184" y="3209544"/>
            <a:ext cx="1755648" cy="621792"/>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MODÈLE VISUEL</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PRÉENTRAÎNÉ</a:t>
            </a:r>
            <a:endParaRPr lang="en-US" sz="1300" dirty="0"/>
          </a:p>
        </p:txBody>
      </p:sp>
      <p:sp>
        <p:nvSpPr>
          <p:cNvPr id="16" name="Text 14"/>
          <p:cNvSpPr/>
          <p:nvPr/>
        </p:nvSpPr>
        <p:spPr>
          <a:xfrm>
            <a:off x="5742432" y="3300984"/>
            <a:ext cx="310896"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7" name="Shape 15"/>
          <p:cNvSpPr/>
          <p:nvPr/>
        </p:nvSpPr>
        <p:spPr>
          <a:xfrm>
            <a:off x="6190488" y="2944368"/>
            <a:ext cx="2167128" cy="1225296"/>
          </a:xfrm>
          <a:prstGeom prst="roundRect">
            <a:avLst>
              <a:gd name="adj" fmla="val 11940"/>
            </a:avLst>
          </a:prstGeom>
          <a:solidFill>
            <a:srgbClr val="FFFFFF"/>
          </a:solidFill>
          <a:ln w="12700">
            <a:solidFill>
              <a:srgbClr val="FFFFFF">
                <a:alpha val="0"/>
              </a:srgbClr>
            </a:solidFill>
            <a:prstDash val="solid"/>
          </a:ln>
        </p:spPr>
        <p:txBody>
          <a:bodyPr/>
          <a:p/>
        </p:txBody>
      </p:sp>
      <p:sp>
        <p:nvSpPr>
          <p:cNvPr id="18" name="Text 16"/>
          <p:cNvSpPr/>
          <p:nvPr/>
        </p:nvSpPr>
        <p:spPr>
          <a:xfrm>
            <a:off x="6391656" y="3246120"/>
            <a:ext cx="1792224" cy="56692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EMBEDDINGS</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&amp; COSINUS</a:t>
            </a:r>
            <a:endParaRPr lang="en-US" sz="1300" dirty="0"/>
          </a:p>
        </p:txBody>
      </p:sp>
      <p:sp>
        <p:nvSpPr>
          <p:cNvPr id="19" name="Text 17"/>
          <p:cNvSpPr/>
          <p:nvPr/>
        </p:nvSpPr>
        <p:spPr>
          <a:xfrm>
            <a:off x="8394192" y="3300984"/>
            <a:ext cx="320040"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20" name="Shape 18"/>
          <p:cNvSpPr/>
          <p:nvPr/>
        </p:nvSpPr>
        <p:spPr>
          <a:xfrm>
            <a:off x="8842248" y="2935224"/>
            <a:ext cx="2715768" cy="1225296"/>
          </a:xfrm>
          <a:prstGeom prst="roundRect">
            <a:avLst>
              <a:gd name="adj" fmla="val 11940"/>
            </a:avLst>
          </a:prstGeom>
          <a:solidFill>
            <a:srgbClr val="D4F086"/>
          </a:solidFill>
          <a:ln w="12700">
            <a:solidFill>
              <a:srgbClr val="D4F086">
                <a:alpha val="0"/>
              </a:srgbClr>
            </a:solidFill>
            <a:prstDash val="solid"/>
          </a:ln>
        </p:spPr>
        <p:txBody>
          <a:bodyPr/>
          <a:p/>
        </p:txBody>
      </p:sp>
      <p:sp>
        <p:nvSpPr>
          <p:cNvPr id="21" name="Text 19"/>
          <p:cNvSpPr/>
          <p:nvPr/>
        </p:nvSpPr>
        <p:spPr>
          <a:xfrm>
            <a:off x="9043416" y="3246120"/>
            <a:ext cx="2331720" cy="566928"/>
          </a:xfrm>
          <a:prstGeom prst="rect">
            <a:avLst/>
          </a:prstGeom>
          <a:noFill/>
          <a:ln/>
        </p:spPr>
        <p:txBody>
          <a:bodyPr wrap="square" lIns="0" tIns="0" rIns="0" bIns="0" rtlCol="0" anchor="ctr">
            <a:normAutofit/>
          </a:bodyPr>
          <a:lstStyle/>
          <a:p>
            <a:pPr algn="ctr" indent="0" marL="0">
              <a:buNone/>
            </a:pPr>
            <a:r>
              <a:rPr lang="en-US" sz="1400" b="1" dirty="0">
                <a:solidFill>
                  <a:srgbClr val="17221F"/>
                </a:solidFill>
                <a:latin typeface="Inter" pitchFamily="34" charset="0"/>
                <a:ea typeface="Inter" pitchFamily="34" charset="-122"/>
                <a:cs typeface="Inter" pitchFamily="34" charset="-120"/>
              </a:rPr>
              <a:t>TOP 5</a:t>
            </a:r>
            <a:endParaRPr lang="en-US" sz="1400" dirty="0"/>
          </a:p>
          <a:p>
            <a:pPr algn="ctr" indent="0" marL="0">
              <a:buNone/>
            </a:pPr>
            <a:r>
              <a:rPr lang="en-US" sz="1400" b="1" dirty="0">
                <a:solidFill>
                  <a:srgbClr val="17221F"/>
                </a:solidFill>
                <a:latin typeface="Inter" pitchFamily="34" charset="0"/>
                <a:ea typeface="Inter" pitchFamily="34" charset="-122"/>
                <a:cs typeface="Inter" pitchFamily="34" charset="-120"/>
              </a:rPr>
              <a:t>DE PRODUITS</a:t>
            </a:r>
            <a:endParaRPr lang="en-US" sz="1400" dirty="0"/>
          </a:p>
        </p:txBody>
      </p:sp>
      <p:sp>
        <p:nvSpPr>
          <p:cNvPr id="22" name="Shape 20"/>
          <p:cNvSpPr/>
          <p:nvPr/>
        </p:nvSpPr>
        <p:spPr>
          <a:xfrm>
            <a:off x="640080" y="5001768"/>
            <a:ext cx="10908792" cy="877824"/>
          </a:xfrm>
          <a:prstGeom prst="roundRect">
            <a:avLst>
              <a:gd name="adj" fmla="val 13542"/>
            </a:avLst>
          </a:prstGeom>
          <a:solidFill>
            <a:srgbClr val="EFF1EA"/>
          </a:solidFill>
          <a:ln w="12700">
            <a:solidFill>
              <a:srgbClr val="EFF1EA">
                <a:alpha val="0"/>
              </a:srgbClr>
            </a:solidFill>
            <a:prstDash val="solid"/>
          </a:ln>
        </p:spPr>
        <p:txBody>
          <a:bodyPr/>
          <a:p/>
        </p:txBody>
      </p:sp>
      <p:sp>
        <p:nvSpPr>
          <p:cNvPr id="23" name="Text 21"/>
          <p:cNvSpPr/>
          <p:nvPr/>
        </p:nvSpPr>
        <p:spPr>
          <a:xfrm>
            <a:off x="886968" y="5166360"/>
            <a:ext cx="3822192"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7221F"/>
                </a:solidFill>
                <a:latin typeface="Inter" pitchFamily="34" charset="0"/>
                <a:ea typeface="Inter" pitchFamily="34" charset="-122"/>
                <a:cs typeface="Inter" pitchFamily="34" charset="-120"/>
              </a:rPr>
              <a:t>ENVIRONNEMENT MICROSOFT AZURE</a:t>
            </a:r>
            <a:endParaRPr lang="en-US" sz="1100" dirty="0"/>
          </a:p>
        </p:txBody>
      </p:sp>
      <p:sp>
        <p:nvSpPr>
          <p:cNvPr id="24" name="Text 22"/>
          <p:cNvSpPr/>
          <p:nvPr/>
        </p:nvSpPr>
        <p:spPr>
          <a:xfrm>
            <a:off x="886968" y="5477256"/>
            <a:ext cx="10241280" cy="192024"/>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Blob Storage : photos  ·  Azure Machine Learning : expérimentation  ·  Azure AI Search : optionnel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06  /  CHOIX TECHNOLOGIQUES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Deux voies techniques — un test prioritaire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08</a:t>
            </a:r>
            <a:endParaRPr lang="en-US" sz="900" dirty="0"/>
          </a:p>
        </p:txBody>
      </p:sp>
      <p:sp>
        <p:nvSpPr>
          <p:cNvPr id="8" name="Shape 6"/>
          <p:cNvSpPr/>
          <p:nvPr/>
        </p:nvSpPr>
        <p:spPr>
          <a:xfrm>
            <a:off x="621792" y="1911096"/>
            <a:ext cx="5303520" cy="3209544"/>
          </a:xfrm>
          <a:prstGeom prst="roundRect">
            <a:avLst>
              <a:gd name="adj" fmla="val 5128"/>
            </a:avLst>
          </a:prstGeom>
          <a:solidFill>
            <a:srgbClr val="17221F"/>
          </a:solidFill>
          <a:ln w="12700">
            <a:solidFill>
              <a:srgbClr val="17221F">
                <a:alpha val="0"/>
              </a:srgbClr>
            </a:solidFill>
            <a:prstDash val="solid"/>
          </a:ln>
        </p:spPr>
      </p:sp>
      <p:sp>
        <p:nvSpPr>
          <p:cNvPr id="9" name="Shape 7"/>
          <p:cNvSpPr/>
          <p:nvPr/>
        </p:nvSpPr>
        <p:spPr>
          <a:xfrm>
            <a:off x="886968" y="2157984"/>
            <a:ext cx="2569464" cy="301752"/>
          </a:xfrm>
          <a:prstGeom prst="roundRect">
            <a:avLst>
              <a:gd name="adj" fmla="val 48485"/>
            </a:avLst>
          </a:prstGeom>
          <a:solidFill>
            <a:srgbClr val="D4F086"/>
          </a:solidFill>
          <a:ln w="12700">
            <a:solidFill>
              <a:srgbClr val="D4F086">
                <a:alpha val="0"/>
              </a:srgbClr>
            </a:solidFill>
            <a:prstDash val="solid"/>
          </a:ln>
        </p:spPr>
      </p:sp>
      <p:sp>
        <p:nvSpPr>
          <p:cNvPr id="10" name="Text 8"/>
          <p:cNvSpPr/>
          <p:nvPr/>
        </p:nvSpPr>
        <p:spPr>
          <a:xfrm>
            <a:off x="987552" y="2176272"/>
            <a:ext cx="2368296"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A  /  PRIORITAIRE</a:t>
            </a:r>
            <a:endParaRPr lang="en-US" sz="1000" dirty="0"/>
          </a:p>
        </p:txBody>
      </p:sp>
      <p:sp>
        <p:nvSpPr>
          <p:cNvPr id="11" name="Text 9"/>
          <p:cNvSpPr/>
          <p:nvPr/>
        </p:nvSpPr>
        <p:spPr>
          <a:xfrm>
            <a:off x="886968" y="2697480"/>
            <a:ext cx="4718304" cy="429768"/>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Inter Display" pitchFamily="34" charset="0"/>
                <a:ea typeface="Inter Display" pitchFamily="34" charset="-122"/>
                <a:cs typeface="Inter Display" pitchFamily="34" charset="-120"/>
              </a:rPr>
              <a:t>Embeddings visuels</a:t>
            </a:r>
            <a:endParaRPr lang="en-US" sz="2100" dirty="0"/>
          </a:p>
        </p:txBody>
      </p:sp>
      <p:sp>
        <p:nvSpPr>
          <p:cNvPr id="12" name="Text 10"/>
          <p:cNvSpPr/>
          <p:nvPr/>
        </p:nvSpPr>
        <p:spPr>
          <a:xfrm>
            <a:off x="886968" y="3209544"/>
            <a:ext cx="4562856" cy="356616"/>
          </a:xfrm>
          <a:prstGeom prst="rect">
            <a:avLst/>
          </a:prstGeom>
          <a:noFill/>
          <a:ln/>
        </p:spPr>
        <p:txBody>
          <a:bodyPr wrap="square" lIns="0" tIns="0" rIns="0" bIns="0" rtlCol="0" anchor="ctr">
            <a:normAutofit/>
          </a:bodyPr>
          <a:lstStyle/>
          <a:p>
            <a:pPr algn="l" indent="0" marL="0">
              <a:buNone/>
            </a:pPr>
            <a:r>
              <a:rPr lang="en-US" sz="1400" dirty="0">
                <a:solidFill>
                  <a:srgbClr val="E5EEE3"/>
                </a:solidFill>
                <a:latin typeface="Inter" pitchFamily="34" charset="0"/>
                <a:ea typeface="Inter" pitchFamily="34" charset="-122"/>
                <a:cs typeface="Inter" pitchFamily="34" charset="-120"/>
              </a:rPr>
              <a:t>CLIP / OpenCLIP + similarité cosinus</a:t>
            </a:r>
            <a:endParaRPr lang="en-US" sz="1400" dirty="0"/>
          </a:p>
        </p:txBody>
      </p:sp>
      <p:sp>
        <p:nvSpPr>
          <p:cNvPr id="13" name="Shape 11"/>
          <p:cNvSpPr/>
          <p:nvPr/>
        </p:nvSpPr>
        <p:spPr>
          <a:xfrm>
            <a:off x="886968" y="3721608"/>
            <a:ext cx="4700016" cy="0"/>
          </a:xfrm>
          <a:prstGeom prst="line">
            <a:avLst/>
          </a:prstGeom>
          <a:noFill/>
          <a:ln w="12700">
            <a:solidFill>
              <a:srgbClr val="52655A"/>
            </a:solidFill>
            <a:prstDash val="solid"/>
            <a:headEnd type="none"/>
            <a:tailEnd type="none"/>
          </a:ln>
        </p:spPr>
      </p:sp>
      <p:sp>
        <p:nvSpPr>
          <p:cNvPr id="14" name="Text 12"/>
          <p:cNvSpPr/>
          <p:nvPr/>
        </p:nvSpPr>
        <p:spPr>
          <a:xfrm>
            <a:off x="886968" y="3904488"/>
            <a:ext cx="4572000" cy="941832"/>
          </a:xfrm>
          <a:prstGeom prst="rect">
            <a:avLst/>
          </a:prstGeom>
          <a:noFill/>
          <a:ln/>
        </p:spPr>
        <p:txBody>
          <a:bodyPr wrap="square" lIns="0" tIns="0" rIns="0" bIns="0" rtlCol="0" anchor="t">
            <a:normAutofit/>
          </a:bodyPr>
          <a:lstStyle/>
          <a:p>
            <a:pPr algn="l" indent="0" marL="0">
              <a:buNone/>
            </a:pPr>
            <a:r>
              <a:rPr lang="en-US" sz="1270" dirty="0">
                <a:solidFill>
                  <a:srgbClr val="FFFFFF"/>
                </a:solidFill>
                <a:latin typeface="Inter" pitchFamily="34" charset="0"/>
                <a:ea typeface="Inter" pitchFamily="34" charset="-122"/>
                <a:cs typeface="Inter" pitchFamily="34" charset="-120"/>
              </a:rPr>
              <a:t>+ Rapide à expérimenter</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Sans entraînement initial lourd</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Style parfois confondu avec couleur ou décor</a:t>
            </a:r>
            <a:endParaRPr lang="en-US" sz="1270" dirty="0"/>
          </a:p>
        </p:txBody>
      </p:sp>
      <p:sp>
        <p:nvSpPr>
          <p:cNvPr id="15" name="Shape 13"/>
          <p:cNvSpPr/>
          <p:nvPr/>
        </p:nvSpPr>
        <p:spPr>
          <a:xfrm>
            <a:off x="6190488" y="1911096"/>
            <a:ext cx="5376672" cy="3209544"/>
          </a:xfrm>
          <a:prstGeom prst="roundRect">
            <a:avLst>
              <a:gd name="adj" fmla="val 5128"/>
            </a:avLst>
          </a:prstGeom>
          <a:solidFill>
            <a:srgbClr val="FFFFFF"/>
          </a:solidFill>
          <a:ln w="12700">
            <a:solidFill>
              <a:srgbClr val="FFFFFF">
                <a:alpha val="0"/>
              </a:srgbClr>
            </a:solidFill>
            <a:prstDash val="solid"/>
          </a:ln>
        </p:spPr>
      </p:sp>
      <p:sp>
        <p:nvSpPr>
          <p:cNvPr id="16" name="Shape 14"/>
          <p:cNvSpPr/>
          <p:nvPr/>
        </p:nvSpPr>
        <p:spPr>
          <a:xfrm>
            <a:off x="6455664" y="2157984"/>
            <a:ext cx="2743200" cy="301752"/>
          </a:xfrm>
          <a:prstGeom prst="roundRect">
            <a:avLst>
              <a:gd name="adj" fmla="val 48485"/>
            </a:avLst>
          </a:prstGeom>
          <a:solidFill>
            <a:srgbClr val="EFF1EA"/>
          </a:solidFill>
          <a:ln w="12700">
            <a:solidFill>
              <a:srgbClr val="EFF1EA">
                <a:alpha val="0"/>
              </a:srgbClr>
            </a:solidFill>
            <a:prstDash val="solid"/>
          </a:ln>
        </p:spPr>
      </p:sp>
      <p:sp>
        <p:nvSpPr>
          <p:cNvPr id="17" name="Text 15"/>
          <p:cNvSpPr/>
          <p:nvPr/>
        </p:nvSpPr>
        <p:spPr>
          <a:xfrm>
            <a:off x="6556248" y="2176272"/>
            <a:ext cx="2542032"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B  /  ALTERNATIVE</a:t>
            </a:r>
            <a:endParaRPr lang="en-US" sz="1000" dirty="0"/>
          </a:p>
        </p:txBody>
      </p:sp>
      <p:sp>
        <p:nvSpPr>
          <p:cNvPr id="18" name="Text 16"/>
          <p:cNvSpPr/>
          <p:nvPr/>
        </p:nvSpPr>
        <p:spPr>
          <a:xfrm>
            <a:off x="6455664" y="2697480"/>
            <a:ext cx="4809744" cy="429768"/>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Vision-langage</a:t>
            </a:r>
            <a:endParaRPr lang="en-US" sz="2100" dirty="0"/>
          </a:p>
        </p:txBody>
      </p:sp>
      <p:sp>
        <p:nvSpPr>
          <p:cNvPr id="19" name="Text 17"/>
          <p:cNvSpPr/>
          <p:nvPr/>
        </p:nvSpPr>
        <p:spPr>
          <a:xfrm>
            <a:off x="6455664" y="3209544"/>
            <a:ext cx="4736592" cy="356616"/>
          </a:xfrm>
          <a:prstGeom prst="rect">
            <a:avLst/>
          </a:prstGeom>
          <a:noFill/>
          <a:ln/>
        </p:spPr>
        <p:txBody>
          <a:bodyPr wrap="square" lIns="0" tIns="0" rIns="0" bIns="0" rtlCol="0" anchor="ctr">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Modèle multimodal + attributs produit</a:t>
            </a:r>
            <a:endParaRPr lang="en-US" sz="1400" dirty="0"/>
          </a:p>
        </p:txBody>
      </p:sp>
      <p:sp>
        <p:nvSpPr>
          <p:cNvPr id="20" name="Shape 18"/>
          <p:cNvSpPr/>
          <p:nvPr/>
        </p:nvSpPr>
        <p:spPr>
          <a:xfrm>
            <a:off x="6455664" y="3721608"/>
            <a:ext cx="4782312" cy="0"/>
          </a:xfrm>
          <a:prstGeom prst="line">
            <a:avLst/>
          </a:prstGeom>
          <a:noFill/>
          <a:ln w="12700">
            <a:solidFill>
              <a:srgbClr val="D9DED4"/>
            </a:solidFill>
            <a:prstDash val="solid"/>
            <a:headEnd type="none"/>
            <a:tailEnd type="none"/>
          </a:ln>
        </p:spPr>
      </p:sp>
      <p:sp>
        <p:nvSpPr>
          <p:cNvPr id="21" name="Text 19"/>
          <p:cNvSpPr/>
          <p:nvPr/>
        </p:nvSpPr>
        <p:spPr>
          <a:xfrm>
            <a:off x="6455664" y="3904488"/>
            <a:ext cx="4617720" cy="941832"/>
          </a:xfrm>
          <a:prstGeom prst="rect">
            <a:avLst/>
          </a:prstGeom>
          <a:noFill/>
          <a:ln/>
        </p:spPr>
        <p:txBody>
          <a:bodyPr wrap="square" lIns="0" tIns="0" rIns="0" bIns="0" rtlCol="0" anchor="t">
            <a:normAutofit/>
          </a:bodyPr>
          <a:lstStyle/>
          <a:p>
            <a:pPr algn="l" indent="0" marL="0">
              <a:buNone/>
            </a:pPr>
            <a:r>
              <a:rPr lang="en-US" sz="1270" dirty="0">
                <a:solidFill>
                  <a:srgbClr val="17221F"/>
                </a:solidFill>
                <a:latin typeface="Inter" pitchFamily="34" charset="0"/>
                <a:ea typeface="Inter" pitchFamily="34" charset="-122"/>
                <a:cs typeface="Inter" pitchFamily="34" charset="-120"/>
              </a:rPr>
              <a:t>+ Explications par coupe, style, couleur</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Risque d’attributs inexacts</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Coût / accès à confirmer</a:t>
            </a:r>
            <a:endParaRPr lang="en-US" sz="1270" dirty="0"/>
          </a:p>
        </p:txBody>
      </p:sp>
      <p:sp>
        <p:nvSpPr>
          <p:cNvPr id="22" name="Shape 20"/>
          <p:cNvSpPr/>
          <p:nvPr/>
        </p:nvSpPr>
        <p:spPr>
          <a:xfrm>
            <a:off x="630936" y="5431536"/>
            <a:ext cx="10936224" cy="576072"/>
          </a:xfrm>
          <a:prstGeom prst="roundRect">
            <a:avLst>
              <a:gd name="adj" fmla="val 22222"/>
            </a:avLst>
          </a:prstGeom>
          <a:solidFill>
            <a:srgbClr val="D4F086"/>
          </a:solidFill>
          <a:ln w="12700">
            <a:solidFill>
              <a:srgbClr val="D4F086">
                <a:alpha val="0"/>
              </a:srgbClr>
            </a:solidFill>
            <a:prstDash val="solid"/>
          </a:ln>
        </p:spPr>
      </p:sp>
      <p:sp>
        <p:nvSpPr>
          <p:cNvPr id="23" name="Text 21"/>
          <p:cNvSpPr/>
          <p:nvPr/>
        </p:nvSpPr>
        <p:spPr>
          <a:xfrm>
            <a:off x="877824" y="5623560"/>
            <a:ext cx="10378440" cy="182880"/>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Comparer également une méthode SANS IA fondée sur les tags : elle sert de point de référence.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07  /  ÉVALUATION &amp; CRITÈRES DE SUCCÈS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 succès sera défini avant l’expérience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09</a:t>
            </a:r>
            <a:endParaRPr lang="en-US" sz="900" dirty="0"/>
          </a:p>
        </p:txBody>
      </p:sp>
      <p:sp>
        <p:nvSpPr>
          <p:cNvPr id="8" name="Text 6"/>
          <p:cNvSpPr/>
          <p:nvPr/>
        </p:nvSpPr>
        <p:spPr>
          <a:xfrm>
            <a:off x="621792" y="1773936"/>
            <a:ext cx="10817352" cy="402336"/>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40 photos × 5 propositions = 200 recommandations jugées par les métiers.</a:t>
            </a:r>
            <a:endParaRPr lang="en-US" sz="1800" dirty="0"/>
          </a:p>
        </p:txBody>
      </p:sp>
      <p:sp>
        <p:nvSpPr>
          <p:cNvPr id="9" name="Shape 7"/>
          <p:cNvSpPr/>
          <p:nvPr/>
        </p:nvSpPr>
        <p:spPr>
          <a:xfrm>
            <a:off x="630936" y="2578608"/>
            <a:ext cx="3493008" cy="2377440"/>
          </a:xfrm>
          <a:prstGeom prst="roundRect">
            <a:avLst>
              <a:gd name="adj" fmla="val 6923"/>
            </a:avLst>
          </a:prstGeom>
          <a:solidFill>
            <a:srgbClr val="17221F"/>
          </a:solidFill>
          <a:ln w="12700">
            <a:solidFill>
              <a:srgbClr val="17221F">
                <a:alpha val="0"/>
              </a:srgbClr>
            </a:solidFill>
            <a:prstDash val="solid"/>
          </a:ln>
        </p:spPr>
      </p:sp>
      <p:sp>
        <p:nvSpPr>
          <p:cNvPr id="10" name="Text 8"/>
          <p:cNvSpPr/>
          <p:nvPr/>
        </p:nvSpPr>
        <p:spPr>
          <a:xfrm>
            <a:off x="905256"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D4F086"/>
                </a:solidFill>
                <a:latin typeface="Inter Display" pitchFamily="34" charset="0"/>
                <a:ea typeface="Inter Display" pitchFamily="34" charset="-122"/>
                <a:cs typeface="Inter Display" pitchFamily="34" charset="-120"/>
              </a:rPr>
              <a:t>≥ 60 %</a:t>
            </a:r>
            <a:endParaRPr lang="en-US" sz="2900" dirty="0"/>
          </a:p>
        </p:txBody>
      </p:sp>
      <p:sp>
        <p:nvSpPr>
          <p:cNvPr id="11" name="Text 9"/>
          <p:cNvSpPr/>
          <p:nvPr/>
        </p:nvSpPr>
        <p:spPr>
          <a:xfrm>
            <a:off x="914400"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FFFFFF"/>
                </a:solidFill>
                <a:latin typeface="Inter" pitchFamily="34" charset="0"/>
                <a:ea typeface="Inter" pitchFamily="34" charset="-122"/>
                <a:cs typeface="Inter" pitchFamily="34" charset="-120"/>
              </a:rPr>
              <a:t>PRECISION@5</a:t>
            </a:r>
            <a:endParaRPr lang="en-US" sz="1200" dirty="0"/>
          </a:p>
        </p:txBody>
      </p:sp>
      <p:sp>
        <p:nvSpPr>
          <p:cNvPr id="12" name="Text 10"/>
          <p:cNvSpPr/>
          <p:nvPr/>
        </p:nvSpPr>
        <p:spPr>
          <a:xfrm>
            <a:off x="914400"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E5EEE5"/>
                </a:solidFill>
                <a:latin typeface="Inter" pitchFamily="34" charset="0"/>
                <a:ea typeface="Inter" pitchFamily="34" charset="-122"/>
                <a:cs typeface="Inter" pitchFamily="34" charset="-120"/>
              </a:rPr>
              <a:t>Au moins 120 recommandations pertinentes sur 200.</a:t>
            </a:r>
            <a:endParaRPr lang="en-US" sz="1200" dirty="0"/>
          </a:p>
        </p:txBody>
      </p:sp>
      <p:sp>
        <p:nvSpPr>
          <p:cNvPr id="13" name="Shape 11"/>
          <p:cNvSpPr/>
          <p:nvPr/>
        </p:nvSpPr>
        <p:spPr>
          <a:xfrm>
            <a:off x="4352544"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4" name="Text 12"/>
          <p:cNvSpPr/>
          <p:nvPr/>
        </p:nvSpPr>
        <p:spPr>
          <a:xfrm>
            <a:off x="4626864"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80 %</a:t>
            </a:r>
            <a:endParaRPr lang="en-US" sz="2900" dirty="0"/>
          </a:p>
        </p:txBody>
      </p:sp>
      <p:sp>
        <p:nvSpPr>
          <p:cNvPr id="15" name="Text 13"/>
          <p:cNvSpPr/>
          <p:nvPr/>
        </p:nvSpPr>
        <p:spPr>
          <a:xfrm>
            <a:off x="4636008"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SUCCESS@5</a:t>
            </a:r>
            <a:endParaRPr lang="en-US" sz="1200" dirty="0"/>
          </a:p>
        </p:txBody>
      </p:sp>
      <p:sp>
        <p:nvSpPr>
          <p:cNvPr id="16" name="Text 14"/>
          <p:cNvSpPr/>
          <p:nvPr/>
        </p:nvSpPr>
        <p:spPr>
          <a:xfrm>
            <a:off x="4636008"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Au moins une suggestion pertinente pour 32 photos sur 40.</a:t>
            </a:r>
            <a:endParaRPr lang="en-US" sz="1200" dirty="0"/>
          </a:p>
        </p:txBody>
      </p:sp>
      <p:sp>
        <p:nvSpPr>
          <p:cNvPr id="17" name="Shape 15"/>
          <p:cNvSpPr/>
          <p:nvPr/>
        </p:nvSpPr>
        <p:spPr>
          <a:xfrm>
            <a:off x="8092440"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8" name="Text 16"/>
          <p:cNvSpPr/>
          <p:nvPr/>
        </p:nvSpPr>
        <p:spPr>
          <a:xfrm>
            <a:off x="8366760"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+10 pts</a:t>
            </a:r>
            <a:endParaRPr lang="en-US" sz="2900" dirty="0"/>
          </a:p>
        </p:txBody>
      </p:sp>
      <p:sp>
        <p:nvSpPr>
          <p:cNvPr id="19" name="Text 17"/>
          <p:cNvSpPr/>
          <p:nvPr/>
        </p:nvSpPr>
        <p:spPr>
          <a:xfrm>
            <a:off x="8375904"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GAIN P@5 VS TAGS</a:t>
            </a:r>
            <a:endParaRPr lang="en-US" sz="1200" dirty="0"/>
          </a:p>
        </p:txBody>
      </p:sp>
      <p:sp>
        <p:nvSpPr>
          <p:cNvPr id="20" name="Text 18"/>
          <p:cNvSpPr/>
          <p:nvPr/>
        </p:nvSpPr>
        <p:spPr>
          <a:xfrm>
            <a:off x="8375904"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Supériorité face au système de référence sans IA.</a:t>
            </a:r>
            <a:endParaRPr lang="en-US" sz="1200" dirty="0"/>
          </a:p>
        </p:txBody>
      </p:sp>
      <p:sp>
        <p:nvSpPr>
          <p:cNvPr id="21" name="Shape 19"/>
          <p:cNvSpPr/>
          <p:nvPr/>
        </p:nvSpPr>
        <p:spPr>
          <a:xfrm>
            <a:off x="649224" y="5312664"/>
            <a:ext cx="10917936" cy="685800"/>
          </a:xfrm>
          <a:prstGeom prst="roundRect">
            <a:avLst>
              <a:gd name="adj" fmla="val 18667"/>
            </a:avLst>
          </a:prstGeom>
          <a:solidFill>
            <a:srgbClr val="EFF1EA"/>
          </a:solidFill>
          <a:ln w="12700">
            <a:solidFill>
              <a:srgbClr val="EFF1EA">
                <a:alpha val="0"/>
              </a:srgbClr>
            </a:solidFill>
            <a:prstDash val="solid"/>
          </a:ln>
        </p:spPr>
      </p:sp>
      <p:sp>
        <p:nvSpPr>
          <p:cNvPr id="22" name="Text 20"/>
          <p:cNvSpPr/>
          <p:nvPr/>
        </p:nvSpPr>
        <p:spPr>
          <a:xfrm>
            <a:off x="868680" y="5532120"/>
            <a:ext cx="10378440" cy="237744"/>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Test comparatif sur les mêmes photos ; double jugement métier ; seuils proposés à valider avec Alicia.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08  /  PLANIFICATION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calendrier court, avec trois jalons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10</a:t>
            </a:r>
            <a:endParaRPr lang="en-US" sz="900" dirty="0"/>
          </a:p>
        </p:txBody>
      </p:sp>
      <p:sp>
        <p:nvSpPr>
          <p:cNvPr id="8" name="Text 6"/>
          <p:cNvSpPr/>
          <p:nvPr/>
        </p:nvSpPr>
        <p:spPr>
          <a:xfrm>
            <a:off x="612648" y="1810512"/>
            <a:ext cx="10881360" cy="347472"/>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15 jours ouvrés après autorisation COMEX  ·  trois semaines de réalisation.</a:t>
            </a:r>
            <a:endParaRPr lang="en-US" sz="1800" dirty="0"/>
          </a:p>
        </p:txBody>
      </p:sp>
      <p:sp>
        <p:nvSpPr>
          <p:cNvPr id="9" name="Shape 7"/>
          <p:cNvSpPr/>
          <p:nvPr/>
        </p:nvSpPr>
        <p:spPr>
          <a:xfrm>
            <a:off x="63093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0" name="Shape 8"/>
          <p:cNvSpPr/>
          <p:nvPr/>
        </p:nvSpPr>
        <p:spPr>
          <a:xfrm>
            <a:off x="630936" y="2487168"/>
            <a:ext cx="3429000" cy="128016"/>
          </a:xfrm>
          <a:prstGeom prst="roundRect">
            <a:avLst>
              <a:gd name="adj" fmla="val 28571"/>
            </a:avLst>
          </a:prstGeom>
          <a:solidFill>
            <a:srgbClr val="82AE99"/>
          </a:solidFill>
          <a:ln w="12700">
            <a:solidFill>
              <a:srgbClr val="82AE99">
                <a:alpha val="0"/>
              </a:srgbClr>
            </a:solidFill>
            <a:prstDash val="solid"/>
          </a:ln>
        </p:spPr>
      </p:sp>
      <p:sp>
        <p:nvSpPr>
          <p:cNvPr id="11" name="Text 9"/>
          <p:cNvSpPr/>
          <p:nvPr/>
        </p:nvSpPr>
        <p:spPr>
          <a:xfrm>
            <a:off x="88696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S1</a:t>
            </a:r>
            <a:endParaRPr lang="en-US" sz="2200" dirty="0"/>
          </a:p>
        </p:txBody>
      </p:sp>
      <p:sp>
        <p:nvSpPr>
          <p:cNvPr id="12" name="Text 10"/>
          <p:cNvSpPr/>
          <p:nvPr/>
        </p:nvSpPr>
        <p:spPr>
          <a:xfrm>
            <a:off x="177393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 → J5</a:t>
            </a:r>
            <a:endParaRPr lang="en-US" sz="1300" dirty="0"/>
          </a:p>
        </p:txBody>
      </p:sp>
      <p:sp>
        <p:nvSpPr>
          <p:cNvPr id="13" name="Text 11"/>
          <p:cNvSpPr/>
          <p:nvPr/>
        </p:nvSpPr>
        <p:spPr>
          <a:xfrm>
            <a:off x="88696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DONNÉES &amp; PROTOCOLE</a:t>
            </a:r>
            <a:endParaRPr lang="en-US" sz="1220" dirty="0"/>
          </a:p>
        </p:txBody>
      </p:sp>
      <p:sp>
        <p:nvSpPr>
          <p:cNvPr id="14" name="Text 12"/>
          <p:cNvSpPr/>
          <p:nvPr/>
        </p:nvSpPr>
        <p:spPr>
          <a:xfrm>
            <a:off x="90525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Extraction et contrôle qualité</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Photos test et droits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Accès Azure, grille métier</a:t>
            </a:r>
            <a:endParaRPr lang="en-US" sz="1250" dirty="0"/>
          </a:p>
        </p:txBody>
      </p:sp>
      <p:sp>
        <p:nvSpPr>
          <p:cNvPr id="15" name="Shape 13"/>
          <p:cNvSpPr/>
          <p:nvPr/>
        </p:nvSpPr>
        <p:spPr>
          <a:xfrm>
            <a:off x="85039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16" name="Text 14"/>
          <p:cNvSpPr/>
          <p:nvPr/>
        </p:nvSpPr>
        <p:spPr>
          <a:xfrm>
            <a:off x="98755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J1  •  données validées</a:t>
            </a:r>
            <a:endParaRPr lang="en-US" sz="1000" dirty="0"/>
          </a:p>
        </p:txBody>
      </p:sp>
      <p:sp>
        <p:nvSpPr>
          <p:cNvPr id="17" name="Shape 15"/>
          <p:cNvSpPr/>
          <p:nvPr/>
        </p:nvSpPr>
        <p:spPr>
          <a:xfrm>
            <a:off x="437997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8" name="Shape 16"/>
          <p:cNvSpPr/>
          <p:nvPr/>
        </p:nvSpPr>
        <p:spPr>
          <a:xfrm>
            <a:off x="4379976" y="2487168"/>
            <a:ext cx="3429000" cy="128016"/>
          </a:xfrm>
          <a:prstGeom prst="roundRect">
            <a:avLst>
              <a:gd name="adj" fmla="val 28571"/>
            </a:avLst>
          </a:prstGeom>
          <a:solidFill>
            <a:srgbClr val="D5BD8D"/>
          </a:solidFill>
          <a:ln w="12700">
            <a:solidFill>
              <a:srgbClr val="D5BD8D">
                <a:alpha val="0"/>
              </a:srgbClr>
            </a:solidFill>
            <a:prstDash val="solid"/>
          </a:ln>
        </p:spPr>
      </p:sp>
      <p:sp>
        <p:nvSpPr>
          <p:cNvPr id="19" name="Text 17"/>
          <p:cNvSpPr/>
          <p:nvPr/>
        </p:nvSpPr>
        <p:spPr>
          <a:xfrm>
            <a:off x="463600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S2</a:t>
            </a:r>
            <a:endParaRPr lang="en-US" sz="2200" dirty="0"/>
          </a:p>
        </p:txBody>
      </p:sp>
      <p:sp>
        <p:nvSpPr>
          <p:cNvPr id="20" name="Text 18"/>
          <p:cNvSpPr/>
          <p:nvPr/>
        </p:nvSpPr>
        <p:spPr>
          <a:xfrm>
            <a:off x="552297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J6 → J10</a:t>
            </a:r>
            <a:endParaRPr lang="en-US" sz="1300" dirty="0"/>
          </a:p>
        </p:txBody>
      </p:sp>
      <p:sp>
        <p:nvSpPr>
          <p:cNvPr id="21" name="Text 19"/>
          <p:cNvSpPr/>
          <p:nvPr/>
        </p:nvSpPr>
        <p:spPr>
          <a:xfrm>
            <a:off x="463600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EXPÉRIMENTATIONS</a:t>
            </a:r>
            <a:endParaRPr lang="en-US" sz="1220" dirty="0"/>
          </a:p>
        </p:txBody>
      </p:sp>
      <p:sp>
        <p:nvSpPr>
          <p:cNvPr id="22" name="Text 20"/>
          <p:cNvSpPr/>
          <p:nvPr/>
        </p:nvSpPr>
        <p:spPr>
          <a:xfrm>
            <a:off x="465429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Baseline sans IA</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Embeddings et Top 5</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Alternative multimodale limitée</a:t>
            </a:r>
            <a:endParaRPr lang="en-US" sz="1250" dirty="0"/>
          </a:p>
        </p:txBody>
      </p:sp>
      <p:sp>
        <p:nvSpPr>
          <p:cNvPr id="23" name="Shape 21"/>
          <p:cNvSpPr/>
          <p:nvPr/>
        </p:nvSpPr>
        <p:spPr>
          <a:xfrm>
            <a:off x="459943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24" name="Text 22"/>
          <p:cNvSpPr/>
          <p:nvPr/>
        </p:nvSpPr>
        <p:spPr>
          <a:xfrm>
            <a:off x="473659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J2  •  premiers scores</a:t>
            </a:r>
            <a:endParaRPr lang="en-US" sz="1000" dirty="0"/>
          </a:p>
        </p:txBody>
      </p:sp>
      <p:sp>
        <p:nvSpPr>
          <p:cNvPr id="25" name="Shape 23"/>
          <p:cNvSpPr/>
          <p:nvPr/>
        </p:nvSpPr>
        <p:spPr>
          <a:xfrm>
            <a:off x="8138160"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26" name="Shape 24"/>
          <p:cNvSpPr/>
          <p:nvPr/>
        </p:nvSpPr>
        <p:spPr>
          <a:xfrm>
            <a:off x="8138160" y="2487168"/>
            <a:ext cx="3429000" cy="128016"/>
          </a:xfrm>
          <a:prstGeom prst="roundRect">
            <a:avLst>
              <a:gd name="adj" fmla="val 28571"/>
            </a:avLst>
          </a:prstGeom>
          <a:solidFill>
            <a:srgbClr val="D4F086"/>
          </a:solidFill>
          <a:ln w="12700">
            <a:solidFill>
              <a:srgbClr val="D4F086">
                <a:alpha val="0"/>
              </a:srgbClr>
            </a:solidFill>
            <a:prstDash val="solid"/>
          </a:ln>
        </p:spPr>
      </p:sp>
      <p:sp>
        <p:nvSpPr>
          <p:cNvPr id="27" name="Text 25"/>
          <p:cNvSpPr/>
          <p:nvPr/>
        </p:nvSpPr>
        <p:spPr>
          <a:xfrm>
            <a:off x="8394192"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S3</a:t>
            </a:r>
            <a:endParaRPr lang="en-US" sz="2200" dirty="0"/>
          </a:p>
        </p:txBody>
      </p:sp>
      <p:sp>
        <p:nvSpPr>
          <p:cNvPr id="28" name="Text 26"/>
          <p:cNvSpPr/>
          <p:nvPr/>
        </p:nvSpPr>
        <p:spPr>
          <a:xfrm>
            <a:off x="9281160"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J11 → J15</a:t>
            </a:r>
            <a:endParaRPr lang="en-US" sz="1300" dirty="0"/>
          </a:p>
        </p:txBody>
      </p:sp>
      <p:sp>
        <p:nvSpPr>
          <p:cNvPr id="29" name="Text 27"/>
          <p:cNvSpPr/>
          <p:nvPr/>
        </p:nvSpPr>
        <p:spPr>
          <a:xfrm>
            <a:off x="8394192"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MESURE &amp; DÉCISION</a:t>
            </a:r>
            <a:endParaRPr lang="en-US" sz="1220" dirty="0"/>
          </a:p>
        </p:txBody>
      </p:sp>
      <p:sp>
        <p:nvSpPr>
          <p:cNvPr id="30" name="Text 28"/>
          <p:cNvSpPr/>
          <p:nvPr/>
        </p:nvSpPr>
        <p:spPr>
          <a:xfrm>
            <a:off x="8412480"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Annotations métier</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Analyse des échecs / risques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Recommandation Go / No-Go</a:t>
            </a:r>
            <a:endParaRPr lang="en-US" sz="1250" dirty="0"/>
          </a:p>
        </p:txBody>
      </p:sp>
      <p:sp>
        <p:nvSpPr>
          <p:cNvPr id="31" name="Shape 29"/>
          <p:cNvSpPr/>
          <p:nvPr/>
        </p:nvSpPr>
        <p:spPr>
          <a:xfrm>
            <a:off x="8357616"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32" name="Text 30"/>
          <p:cNvSpPr/>
          <p:nvPr/>
        </p:nvSpPr>
        <p:spPr>
          <a:xfrm>
            <a:off x="8494776"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J3  •  restitution</a:t>
            </a:r>
            <a:endParaRPr lang="en-US" sz="1000" dirty="0"/>
          </a:p>
        </p:txBody>
      </p:sp>
      <p:sp>
        <p:nvSpPr>
          <p:cNvPr id="33" name="Shape 31"/>
          <p:cNvSpPr/>
          <p:nvPr/>
        </p:nvSpPr>
        <p:spPr>
          <a:xfrm>
            <a:off x="640080" y="5504688"/>
            <a:ext cx="10927080" cy="502920"/>
          </a:xfrm>
          <a:prstGeom prst="roundRect">
            <a:avLst>
              <a:gd name="adj" fmla="val 23636"/>
            </a:avLst>
          </a:prstGeom>
          <a:solidFill>
            <a:srgbClr val="17221F"/>
          </a:solidFill>
          <a:ln w="12700">
            <a:solidFill>
              <a:srgbClr val="17221F">
                <a:alpha val="0"/>
              </a:srgbClr>
            </a:solidFill>
            <a:prstDash val="solid"/>
          </a:ln>
        </p:spPr>
      </p:sp>
      <p:sp>
        <p:nvSpPr>
          <p:cNvPr id="34" name="Text 32"/>
          <p:cNvSpPr/>
          <p:nvPr/>
        </p:nvSpPr>
        <p:spPr>
          <a:xfrm>
            <a:off x="877824" y="5650992"/>
            <a:ext cx="10442448" cy="20116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NE PAS CONFONDRE : 3 semaines de préparation du cadrage avant COMEX ≠ 3 semaines de PoC après accord.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09  /  CHARGE ET GOUVERNANCE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30 jours-homme sur les quatre profils Data</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11</a:t>
            </a:r>
            <a:endParaRPr lang="en-US" sz="900" dirty="0"/>
          </a:p>
        </p:txBody>
      </p:sp>
      <p:sp>
        <p:nvSpPr>
          <p:cNvPr id="8" name="Text 6"/>
          <p:cNvSpPr/>
          <p:nvPr/>
        </p:nvSpPr>
        <p:spPr>
          <a:xfrm>
            <a:off x="640080" y="1984248"/>
            <a:ext cx="3438144" cy="265176"/>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Data Scientist (3)</a:t>
            </a:r>
            <a:endParaRPr lang="en-US" sz="1250" dirty="0"/>
          </a:p>
        </p:txBody>
      </p:sp>
      <p:sp>
        <p:nvSpPr>
          <p:cNvPr id="9" name="Shape 7"/>
          <p:cNvSpPr/>
          <p:nvPr/>
        </p:nvSpPr>
        <p:spPr>
          <a:xfrm>
            <a:off x="4114800" y="2016252"/>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0" name="Shape 8"/>
          <p:cNvSpPr/>
          <p:nvPr/>
        </p:nvSpPr>
        <p:spPr>
          <a:xfrm>
            <a:off x="4114800" y="2016252"/>
            <a:ext cx="6126480" cy="201168"/>
          </a:xfrm>
          <a:prstGeom prst="roundRect">
            <a:avLst>
              <a:gd name="adj" fmla="val 31818"/>
            </a:avLst>
          </a:prstGeom>
          <a:solidFill>
            <a:srgbClr val="17221F"/>
          </a:solidFill>
          <a:ln w="12700">
            <a:solidFill>
              <a:srgbClr val="17221F">
                <a:alpha val="0"/>
              </a:srgbClr>
            </a:solidFill>
            <a:prstDash val="solid"/>
          </a:ln>
        </p:spPr>
        <p:txBody>
          <a:bodyPr/>
          <a:p/>
        </p:txBody>
      </p:sp>
      <p:sp>
        <p:nvSpPr>
          <p:cNvPr id="11" name="Text 9"/>
          <p:cNvSpPr/>
          <p:nvPr/>
        </p:nvSpPr>
        <p:spPr>
          <a:xfrm>
            <a:off x="10433304" y="1984248"/>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16 j-h</a:t>
            </a:r>
            <a:endParaRPr lang="en-US" sz="1250" dirty="0"/>
          </a:p>
        </p:txBody>
      </p:sp>
      <p:sp>
        <p:nvSpPr>
          <p:cNvPr id="12" name="Text 10"/>
          <p:cNvSpPr/>
          <p:nvPr/>
        </p:nvSpPr>
        <p:spPr>
          <a:xfrm>
            <a:off x="640080" y="2505456"/>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Data Engineer (2)</a:t>
            </a:r>
            <a:endParaRPr lang="en-US" sz="1250" dirty="0"/>
          </a:p>
        </p:txBody>
      </p:sp>
      <p:sp>
        <p:nvSpPr>
          <p:cNvPr id="13" name="Shape 11"/>
          <p:cNvSpPr/>
          <p:nvPr/>
        </p:nvSpPr>
        <p:spPr>
          <a:xfrm>
            <a:off x="4114800" y="2537460"/>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4" name="Shape 12"/>
          <p:cNvSpPr/>
          <p:nvPr/>
        </p:nvSpPr>
        <p:spPr>
          <a:xfrm>
            <a:off x="4114800" y="2537460"/>
            <a:ext cx="2295144"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15" name="Text 13"/>
          <p:cNvSpPr/>
          <p:nvPr/>
        </p:nvSpPr>
        <p:spPr>
          <a:xfrm>
            <a:off x="10433304" y="2505456"/>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6 j-h</a:t>
            </a:r>
            <a:endParaRPr lang="en-US" sz="1250" dirty="0"/>
          </a:p>
        </p:txBody>
      </p:sp>
      <p:sp>
        <p:nvSpPr>
          <p:cNvPr id="16" name="Text 14"/>
          <p:cNvSpPr/>
          <p:nvPr/>
        </p:nvSpPr>
        <p:spPr>
          <a:xfrm>
            <a:off x="640080" y="3026664"/>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Tech Lead Data (1)</a:t>
            </a:r>
            <a:endParaRPr lang="en-US" sz="1250" dirty="0"/>
          </a:p>
        </p:txBody>
      </p:sp>
      <p:sp>
        <p:nvSpPr>
          <p:cNvPr id="17" name="Shape 15"/>
          <p:cNvSpPr/>
          <p:nvPr/>
        </p:nvSpPr>
        <p:spPr>
          <a:xfrm>
            <a:off x="4114800" y="3058668"/>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8" name="Shape 16"/>
          <p:cNvSpPr/>
          <p:nvPr/>
        </p:nvSpPr>
        <p:spPr>
          <a:xfrm>
            <a:off x="4114800" y="3058668"/>
            <a:ext cx="153619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19" name="Text 17"/>
          <p:cNvSpPr/>
          <p:nvPr/>
        </p:nvSpPr>
        <p:spPr>
          <a:xfrm>
            <a:off x="10433304" y="3026664"/>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0" name="Text 18"/>
          <p:cNvSpPr/>
          <p:nvPr/>
        </p:nvSpPr>
        <p:spPr>
          <a:xfrm>
            <a:off x="640080" y="3547872"/>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MLOps Engineer (1)</a:t>
            </a:r>
            <a:endParaRPr lang="en-US" sz="1250" dirty="0"/>
          </a:p>
        </p:txBody>
      </p:sp>
      <p:sp>
        <p:nvSpPr>
          <p:cNvPr id="21" name="Shape 19"/>
          <p:cNvSpPr/>
          <p:nvPr/>
        </p:nvSpPr>
        <p:spPr>
          <a:xfrm>
            <a:off x="4114800" y="3579876"/>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22" name="Shape 20"/>
          <p:cNvSpPr/>
          <p:nvPr/>
        </p:nvSpPr>
        <p:spPr>
          <a:xfrm>
            <a:off x="4114800" y="3579876"/>
            <a:ext cx="153619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23" name="Text 21"/>
          <p:cNvSpPr/>
          <p:nvPr/>
        </p:nvSpPr>
        <p:spPr>
          <a:xfrm>
            <a:off x="10433304" y="3547872"/>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4" name="Text 22"/>
          <p:cNvSpPr/>
          <p:nvPr/>
        </p:nvSpPr>
        <p:spPr>
          <a:xfrm>
            <a:off x="640080" y="4069080"/>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Alicia / évaluateurs métier</a:t>
            </a:r>
            <a:endParaRPr lang="en-US" sz="1250" dirty="0"/>
          </a:p>
        </p:txBody>
      </p:sp>
      <p:sp>
        <p:nvSpPr>
          <p:cNvPr id="25" name="Shape 23"/>
          <p:cNvSpPr/>
          <p:nvPr/>
        </p:nvSpPr>
        <p:spPr>
          <a:xfrm>
            <a:off x="4114800" y="4101084"/>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26" name="Shape 24"/>
          <p:cNvSpPr/>
          <p:nvPr/>
        </p:nvSpPr>
        <p:spPr>
          <a:xfrm>
            <a:off x="4114800" y="4101084"/>
            <a:ext cx="2743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27" name="Text 25"/>
          <p:cNvSpPr/>
          <p:nvPr/>
        </p:nvSpPr>
        <p:spPr>
          <a:xfrm>
            <a:off x="9784080" y="4069080"/>
            <a:ext cx="1737360" cy="237744"/>
          </a:xfrm>
          <a:prstGeom prst="rect">
            <a:avLst/>
          </a:prstGeom>
          <a:noFill/>
          <a:ln/>
        </p:spPr>
        <p:txBody>
          <a:bodyPr wrap="square" lIns="0" tIns="0" rIns="0" bIns="0" rtlCol="0" anchor="ctr">
            <a:normAutofit/>
          </a:bodyPr>
          <a:lstStyle/>
          <a:p>
            <a:pPr algn="r" indent="0" marL="0">
              <a:buNone/>
            </a:pPr>
            <a:r>
              <a:rPr lang="en-US" sz="1080" b="1" dirty="0">
                <a:solidFill>
                  <a:srgbClr val="17221F"/>
                </a:solidFill>
                <a:latin typeface="Inter" pitchFamily="34" charset="0"/>
                <a:ea typeface="Inter" pitchFamily="34" charset="-122"/>
                <a:cs typeface="Inter" pitchFamily="34" charset="-120"/>
              </a:rPr>
              <a:t>consultés</a:t>
            </a:r>
            <a:endParaRPr lang="en-US" sz="1250" dirty="0"/>
          </a:p>
        </p:txBody>
      </p:sp>
      <p:sp>
        <p:nvSpPr>
          <p:cNvPr id="28" name="Text 26"/>
          <p:cNvSpPr/>
          <p:nvPr/>
        </p:nvSpPr>
        <p:spPr>
          <a:xfrm>
            <a:off x="640080" y="4590288"/>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DPO / sécurité / produit</a:t>
            </a:r>
            <a:endParaRPr lang="en-US" sz="1250" dirty="0"/>
          </a:p>
        </p:txBody>
      </p:sp>
      <p:sp>
        <p:nvSpPr>
          <p:cNvPr id="29" name="Shape 27"/>
          <p:cNvSpPr/>
          <p:nvPr/>
        </p:nvSpPr>
        <p:spPr>
          <a:xfrm>
            <a:off x="4114800" y="4622292"/>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30" name="Shape 28"/>
          <p:cNvSpPr/>
          <p:nvPr/>
        </p:nvSpPr>
        <p:spPr>
          <a:xfrm>
            <a:off x="4114800" y="4622292"/>
            <a:ext cx="2743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31" name="Text 29"/>
          <p:cNvSpPr/>
          <p:nvPr/>
        </p:nvSpPr>
        <p:spPr>
          <a:xfrm>
            <a:off x="9784080" y="4590288"/>
            <a:ext cx="1737360" cy="237744"/>
          </a:xfrm>
          <a:prstGeom prst="rect">
            <a:avLst/>
          </a:prstGeom>
          <a:noFill/>
          <a:ln/>
        </p:spPr>
        <p:txBody>
          <a:bodyPr wrap="square" lIns="0" tIns="0" rIns="0" bIns="0" rtlCol="0" anchor="ctr">
            <a:normAutofit/>
          </a:bodyPr>
          <a:lstStyle/>
          <a:p>
            <a:pPr algn="r" indent="0" marL="0">
              <a:buNone/>
            </a:pPr>
            <a:r>
              <a:rPr lang="en-US" sz="1080" b="1" dirty="0">
                <a:solidFill>
                  <a:srgbClr val="17221F"/>
                </a:solidFill>
                <a:latin typeface="Inter" pitchFamily="34" charset="0"/>
                <a:ea typeface="Inter" pitchFamily="34" charset="-122"/>
                <a:cs typeface="Inter" pitchFamily="34" charset="-120"/>
              </a:rPr>
              <a:t>consultés</a:t>
            </a:r>
            <a:endParaRPr lang="en-US" sz="1250" dirty="0"/>
          </a:p>
        </p:txBody>
      </p:sp>
      <p:sp>
        <p:nvSpPr>
          <p:cNvPr id="32" name="Shape 30"/>
          <p:cNvSpPr/>
          <p:nvPr/>
        </p:nvSpPr>
        <p:spPr>
          <a:xfrm>
            <a:off x="621792" y="5266944"/>
            <a:ext cx="10954512" cy="685800"/>
          </a:xfrm>
          <a:prstGeom prst="roundRect">
            <a:avLst>
              <a:gd name="adj" fmla="val 18667"/>
            </a:avLst>
          </a:prstGeom>
          <a:solidFill>
            <a:srgbClr val="17221F"/>
          </a:solidFill>
          <a:ln w="12700">
            <a:solidFill>
              <a:srgbClr val="17221F">
                <a:alpha val="0"/>
              </a:srgbClr>
            </a:solidFill>
            <a:prstDash val="solid"/>
          </a:ln>
        </p:spPr>
        <p:txBody>
          <a:bodyPr/>
          <a:p/>
        </p:txBody>
      </p:sp>
      <p:sp>
        <p:nvSpPr>
          <p:cNvPr id="33" name="Text 31"/>
          <p:cNvSpPr/>
          <p:nvPr/>
        </p:nvSpPr>
        <p:spPr>
          <a:xfrm>
            <a:off x="786384" y="5486400"/>
            <a:ext cx="6492240" cy="182880"/>
          </a:xfrm>
          <a:prstGeom prst="rect">
            <a:avLst/>
          </a:prstGeom>
          <a:noFill/>
          <a:ln/>
        </p:spPr>
        <p:txBody>
          <a:bodyPr wrap="square" lIns="0" tIns="0" rIns="0" bIns="0" rtlCol="0" anchor="ctr">
            <a:normAutofit/>
          </a:bodyPr>
          <a:lstStyle/>
          <a:p>
            <a:pPr algn="l" indent="0" marL="0">
              <a:buNone/>
            </a:pPr>
            <a:r>
              <a:rPr lang="en-US" sz="1080" b="1" dirty="0">
                <a:solidFill>
                  <a:srgbClr val="FFFFFF"/>
                </a:solidFill>
                <a:latin typeface="Inter" pitchFamily="34" charset="0"/>
                <a:ea typeface="Inter" pitchFamily="34" charset="-122"/>
                <a:cs typeface="Inter" pitchFamily="34" charset="-120"/>
              </a:rPr>
              <a:t>Fonctions métier, RGPD et produit : hors chiffrage Data/IA</a:t>
            </a:r>
            <a:endParaRPr lang="en-US" sz="1300" dirty="0"/>
          </a:p>
        </p:txBody>
      </p:sp>
      <p:sp>
        <p:nvSpPr>
          <p:cNvPr id="34" name="Text 32"/>
          <p:cNvSpPr/>
          <p:nvPr/>
        </p:nvSpPr>
        <p:spPr>
          <a:xfrm>
            <a:off x="7360920" y="5468112"/>
            <a:ext cx="3886200" cy="228600"/>
          </a:xfrm>
          <a:prstGeom prst="rect">
            <a:avLst/>
          </a:prstGeom>
          <a:noFill/>
          <a:ln/>
        </p:spPr>
        <p:txBody>
          <a:bodyPr wrap="square" lIns="0" tIns="0" rIns="0" bIns="0" rtlCol="0" anchor="ctr">
            <a:normAutofit/>
          </a:bodyPr>
          <a:lstStyle/>
          <a:p>
            <a:pPr algn="r" indent="0" marL="0">
              <a:buNone/>
            </a:pPr>
            <a:r>
              <a:rPr lang="en-US" sz="1000" dirty="0">
                <a:solidFill>
                  <a:srgbClr val="DFE8DF"/>
                </a:solidFill>
                <a:latin typeface="Inter" pitchFamily="34" charset="0"/>
                <a:ea typeface="Inter" pitchFamily="34" charset="-122"/>
                <a:cs typeface="Inter" pitchFamily="34" charset="-120"/>
              </a:rPr>
              <a:t>PoC : 10 860 € d’équipe Data ; Azure estimatif : +400 €</a:t>
            </a:r>
            <a:endParaRPr lang="en-US" sz="11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10  /  RISQUES &amp; MAÎTRISE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Cinq risques à neutraliser dès le départ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12</a:t>
            </a:r>
            <a:endParaRPr lang="en-US" sz="900" dirty="0"/>
          </a:p>
        </p:txBody>
      </p:sp>
      <p:sp>
        <p:nvSpPr>
          <p:cNvPr id="8" name="Shape 6"/>
          <p:cNvSpPr/>
          <p:nvPr/>
        </p:nvSpPr>
        <p:spPr>
          <a:xfrm>
            <a:off x="621792" y="1975104"/>
            <a:ext cx="10963656" cy="649224"/>
          </a:xfrm>
          <a:prstGeom prst="roundRect">
            <a:avLst>
              <a:gd name="adj" fmla="val 14085"/>
            </a:avLst>
          </a:prstGeom>
          <a:solidFill>
            <a:srgbClr val="EFF1EA"/>
          </a:solidFill>
          <a:ln w="12700">
            <a:solidFill>
              <a:srgbClr val="EFF1EA">
                <a:alpha val="0"/>
              </a:srgbClr>
            </a:solidFill>
            <a:prstDash val="solid"/>
          </a:ln>
        </p:spPr>
      </p:sp>
      <p:sp>
        <p:nvSpPr>
          <p:cNvPr id="9" name="Shape 7"/>
          <p:cNvSpPr/>
          <p:nvPr/>
        </p:nvSpPr>
        <p:spPr>
          <a:xfrm>
            <a:off x="850392" y="2139696"/>
            <a:ext cx="320040" cy="320040"/>
          </a:xfrm>
          <a:prstGeom prst="ellipse">
            <a:avLst/>
          </a:prstGeom>
          <a:solidFill>
            <a:srgbClr val="D4F086"/>
          </a:solidFill>
          <a:ln w="12700">
            <a:solidFill>
              <a:srgbClr val="D4F086">
                <a:alpha val="0"/>
              </a:srgbClr>
            </a:solidFill>
            <a:prstDash val="solid"/>
          </a:ln>
        </p:spPr>
      </p:sp>
      <p:sp>
        <p:nvSpPr>
          <p:cNvPr id="10" name="Text 8"/>
          <p:cNvSpPr/>
          <p:nvPr/>
        </p:nvSpPr>
        <p:spPr>
          <a:xfrm>
            <a:off x="877824" y="2221992"/>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1</a:t>
            </a:r>
            <a:endParaRPr lang="en-US" sz="1000" dirty="0"/>
          </a:p>
        </p:txBody>
      </p:sp>
      <p:sp>
        <p:nvSpPr>
          <p:cNvPr id="11" name="Text 9"/>
          <p:cNvSpPr/>
          <p:nvPr/>
        </p:nvSpPr>
        <p:spPr>
          <a:xfrm>
            <a:off x="1316736" y="2139696"/>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Données dispersées</a:t>
            </a:r>
            <a:endParaRPr lang="en-US" sz="1400" dirty="0"/>
          </a:p>
        </p:txBody>
      </p:sp>
      <p:sp>
        <p:nvSpPr>
          <p:cNvPr id="12" name="Shape 10"/>
          <p:cNvSpPr/>
          <p:nvPr/>
        </p:nvSpPr>
        <p:spPr>
          <a:xfrm>
            <a:off x="4590288" y="2112264"/>
            <a:ext cx="0" cy="356616"/>
          </a:xfrm>
          <a:prstGeom prst="line">
            <a:avLst/>
          </a:prstGeom>
          <a:noFill/>
          <a:ln w="10160">
            <a:solidFill>
              <a:srgbClr val="D9DED4"/>
            </a:solidFill>
            <a:prstDash val="solid"/>
            <a:headEnd type="none"/>
            <a:tailEnd type="none"/>
          </a:ln>
        </p:spPr>
      </p:sp>
      <p:sp>
        <p:nvSpPr>
          <p:cNvPr id="13" name="Text 11"/>
          <p:cNvSpPr/>
          <p:nvPr/>
        </p:nvSpPr>
        <p:spPr>
          <a:xfrm>
            <a:off x="4828032" y="2139696"/>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Extraire une catégorie et contrôler images / tags</a:t>
            </a:r>
            <a:endParaRPr lang="en-US" sz="1270" dirty="0"/>
          </a:p>
        </p:txBody>
      </p:sp>
      <p:sp>
        <p:nvSpPr>
          <p:cNvPr id="14" name="Shape 12"/>
          <p:cNvSpPr/>
          <p:nvPr/>
        </p:nvSpPr>
        <p:spPr>
          <a:xfrm>
            <a:off x="621792" y="2734056"/>
            <a:ext cx="10963656" cy="649224"/>
          </a:xfrm>
          <a:prstGeom prst="roundRect">
            <a:avLst>
              <a:gd name="adj" fmla="val 14085"/>
            </a:avLst>
          </a:prstGeom>
          <a:solidFill>
            <a:srgbClr val="FFFFFF"/>
          </a:solidFill>
          <a:ln w="12700">
            <a:solidFill>
              <a:srgbClr val="FFFFFF">
                <a:alpha val="0"/>
              </a:srgbClr>
            </a:solidFill>
            <a:prstDash val="solid"/>
          </a:ln>
        </p:spPr>
      </p:sp>
      <p:sp>
        <p:nvSpPr>
          <p:cNvPr id="15" name="Shape 13"/>
          <p:cNvSpPr/>
          <p:nvPr/>
        </p:nvSpPr>
        <p:spPr>
          <a:xfrm>
            <a:off x="850392" y="2898648"/>
            <a:ext cx="320040" cy="320040"/>
          </a:xfrm>
          <a:prstGeom prst="ellipse">
            <a:avLst/>
          </a:prstGeom>
          <a:solidFill>
            <a:srgbClr val="D4F086"/>
          </a:solidFill>
          <a:ln w="12700">
            <a:solidFill>
              <a:srgbClr val="D4F086">
                <a:alpha val="0"/>
              </a:srgbClr>
            </a:solidFill>
            <a:prstDash val="solid"/>
          </a:ln>
        </p:spPr>
      </p:sp>
      <p:sp>
        <p:nvSpPr>
          <p:cNvPr id="16" name="Text 14"/>
          <p:cNvSpPr/>
          <p:nvPr/>
        </p:nvSpPr>
        <p:spPr>
          <a:xfrm>
            <a:off x="877824" y="2980944"/>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2</a:t>
            </a:r>
            <a:endParaRPr lang="en-US" sz="1000" dirty="0"/>
          </a:p>
        </p:txBody>
      </p:sp>
      <p:sp>
        <p:nvSpPr>
          <p:cNvPr id="17" name="Text 15"/>
          <p:cNvSpPr/>
          <p:nvPr/>
        </p:nvSpPr>
        <p:spPr>
          <a:xfrm>
            <a:off x="1316736" y="2898648"/>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Photos non représentatives</a:t>
            </a:r>
            <a:endParaRPr lang="en-US" sz="1400" dirty="0"/>
          </a:p>
        </p:txBody>
      </p:sp>
      <p:sp>
        <p:nvSpPr>
          <p:cNvPr id="18" name="Shape 16"/>
          <p:cNvSpPr/>
          <p:nvPr/>
        </p:nvSpPr>
        <p:spPr>
          <a:xfrm>
            <a:off x="4590288" y="2871216"/>
            <a:ext cx="0" cy="356616"/>
          </a:xfrm>
          <a:prstGeom prst="line">
            <a:avLst/>
          </a:prstGeom>
          <a:noFill/>
          <a:ln w="10160">
            <a:solidFill>
              <a:srgbClr val="D9DED4"/>
            </a:solidFill>
            <a:prstDash val="solid"/>
            <a:headEnd type="none"/>
            <a:tailEnd type="none"/>
          </a:ln>
        </p:spPr>
      </p:sp>
      <p:sp>
        <p:nvSpPr>
          <p:cNvPr id="19" name="Text 17"/>
          <p:cNvSpPr/>
          <p:nvPr/>
        </p:nvSpPr>
        <p:spPr>
          <a:xfrm>
            <a:off x="4828032" y="2898648"/>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40 vues variées, sans fuite depuis le catalogue</a:t>
            </a:r>
            <a:endParaRPr lang="en-US" sz="1270" dirty="0"/>
          </a:p>
        </p:txBody>
      </p:sp>
      <p:sp>
        <p:nvSpPr>
          <p:cNvPr id="20" name="Shape 18"/>
          <p:cNvSpPr/>
          <p:nvPr/>
        </p:nvSpPr>
        <p:spPr>
          <a:xfrm>
            <a:off x="621792" y="3493008"/>
            <a:ext cx="10963656" cy="649224"/>
          </a:xfrm>
          <a:prstGeom prst="roundRect">
            <a:avLst>
              <a:gd name="adj" fmla="val 14085"/>
            </a:avLst>
          </a:prstGeom>
          <a:solidFill>
            <a:srgbClr val="EFF1EA"/>
          </a:solidFill>
          <a:ln w="12700">
            <a:solidFill>
              <a:srgbClr val="EFF1EA">
                <a:alpha val="0"/>
              </a:srgbClr>
            </a:solidFill>
            <a:prstDash val="solid"/>
          </a:ln>
        </p:spPr>
      </p:sp>
      <p:sp>
        <p:nvSpPr>
          <p:cNvPr id="21" name="Shape 19"/>
          <p:cNvSpPr/>
          <p:nvPr/>
        </p:nvSpPr>
        <p:spPr>
          <a:xfrm>
            <a:off x="850392" y="3657600"/>
            <a:ext cx="320040" cy="320040"/>
          </a:xfrm>
          <a:prstGeom prst="ellipse">
            <a:avLst/>
          </a:prstGeom>
          <a:solidFill>
            <a:srgbClr val="D4F086"/>
          </a:solidFill>
          <a:ln w="12700">
            <a:solidFill>
              <a:srgbClr val="D4F086">
                <a:alpha val="0"/>
              </a:srgbClr>
            </a:solidFill>
            <a:prstDash val="solid"/>
          </a:ln>
        </p:spPr>
      </p:sp>
      <p:sp>
        <p:nvSpPr>
          <p:cNvPr id="22" name="Text 20"/>
          <p:cNvSpPr/>
          <p:nvPr/>
        </p:nvSpPr>
        <p:spPr>
          <a:xfrm>
            <a:off x="877824" y="3739896"/>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3</a:t>
            </a:r>
            <a:endParaRPr lang="en-US" sz="1000" dirty="0"/>
          </a:p>
        </p:txBody>
      </p:sp>
      <p:sp>
        <p:nvSpPr>
          <p:cNvPr id="23" name="Text 21"/>
          <p:cNvSpPr/>
          <p:nvPr/>
        </p:nvSpPr>
        <p:spPr>
          <a:xfrm>
            <a:off x="1316736" y="3657600"/>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“Même style” subjectif</a:t>
            </a:r>
            <a:endParaRPr lang="en-US" sz="1400" dirty="0"/>
          </a:p>
        </p:txBody>
      </p:sp>
      <p:sp>
        <p:nvSpPr>
          <p:cNvPr id="24" name="Shape 22"/>
          <p:cNvSpPr/>
          <p:nvPr/>
        </p:nvSpPr>
        <p:spPr>
          <a:xfrm>
            <a:off x="4590288" y="3630168"/>
            <a:ext cx="0" cy="356616"/>
          </a:xfrm>
          <a:prstGeom prst="line">
            <a:avLst/>
          </a:prstGeom>
          <a:noFill/>
          <a:ln w="10160">
            <a:solidFill>
              <a:srgbClr val="D9DED4"/>
            </a:solidFill>
            <a:prstDash val="solid"/>
            <a:headEnd type="none"/>
            <a:tailEnd type="none"/>
          </a:ln>
        </p:spPr>
      </p:sp>
      <p:sp>
        <p:nvSpPr>
          <p:cNvPr id="25" name="Text 23"/>
          <p:cNvSpPr/>
          <p:nvPr/>
        </p:nvSpPr>
        <p:spPr>
          <a:xfrm>
            <a:off x="4828032" y="3657600"/>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Grille métier commune et arbitrage à deux</a:t>
            </a:r>
            <a:endParaRPr lang="en-US" sz="1270" dirty="0"/>
          </a:p>
        </p:txBody>
      </p:sp>
      <p:sp>
        <p:nvSpPr>
          <p:cNvPr id="26" name="Shape 24"/>
          <p:cNvSpPr/>
          <p:nvPr/>
        </p:nvSpPr>
        <p:spPr>
          <a:xfrm>
            <a:off x="621792" y="4251960"/>
            <a:ext cx="10963656" cy="649224"/>
          </a:xfrm>
          <a:prstGeom prst="roundRect">
            <a:avLst>
              <a:gd name="adj" fmla="val 14085"/>
            </a:avLst>
          </a:prstGeom>
          <a:solidFill>
            <a:srgbClr val="FFFFFF"/>
          </a:solidFill>
          <a:ln w="12700">
            <a:solidFill>
              <a:srgbClr val="FFFFFF">
                <a:alpha val="0"/>
              </a:srgbClr>
            </a:solidFill>
            <a:prstDash val="solid"/>
          </a:ln>
        </p:spPr>
      </p:sp>
      <p:sp>
        <p:nvSpPr>
          <p:cNvPr id="27" name="Shape 25"/>
          <p:cNvSpPr/>
          <p:nvPr/>
        </p:nvSpPr>
        <p:spPr>
          <a:xfrm>
            <a:off x="850392" y="4416552"/>
            <a:ext cx="320040" cy="320040"/>
          </a:xfrm>
          <a:prstGeom prst="ellipse">
            <a:avLst/>
          </a:prstGeom>
          <a:solidFill>
            <a:srgbClr val="F3D1C1"/>
          </a:solidFill>
          <a:ln w="12700">
            <a:solidFill>
              <a:srgbClr val="F3D1C1">
                <a:alpha val="0"/>
              </a:srgbClr>
            </a:solidFill>
            <a:prstDash val="solid"/>
          </a:ln>
        </p:spPr>
      </p:sp>
      <p:sp>
        <p:nvSpPr>
          <p:cNvPr id="28" name="Text 26"/>
          <p:cNvSpPr/>
          <p:nvPr/>
        </p:nvSpPr>
        <p:spPr>
          <a:xfrm>
            <a:off x="877824" y="4498848"/>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4</a:t>
            </a:r>
            <a:endParaRPr lang="en-US" sz="1000" dirty="0"/>
          </a:p>
        </p:txBody>
      </p:sp>
      <p:sp>
        <p:nvSpPr>
          <p:cNvPr id="29" name="Text 27"/>
          <p:cNvSpPr/>
          <p:nvPr/>
        </p:nvSpPr>
        <p:spPr>
          <a:xfrm>
            <a:off x="1316736" y="4416552"/>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RGPD et droits des images</a:t>
            </a:r>
            <a:endParaRPr lang="en-US" sz="1400" dirty="0"/>
          </a:p>
        </p:txBody>
      </p:sp>
      <p:sp>
        <p:nvSpPr>
          <p:cNvPr id="30" name="Shape 28"/>
          <p:cNvSpPr/>
          <p:nvPr/>
        </p:nvSpPr>
        <p:spPr>
          <a:xfrm>
            <a:off x="4590288" y="4389120"/>
            <a:ext cx="0" cy="356616"/>
          </a:xfrm>
          <a:prstGeom prst="line">
            <a:avLst/>
          </a:prstGeom>
          <a:noFill/>
          <a:ln w="10160">
            <a:solidFill>
              <a:srgbClr val="D9DED4"/>
            </a:solidFill>
            <a:prstDash val="solid"/>
            <a:headEnd type="none"/>
            <a:tailEnd type="none"/>
          </a:ln>
        </p:spPr>
      </p:sp>
      <p:sp>
        <p:nvSpPr>
          <p:cNvPr id="31" name="Text 29"/>
          <p:cNvSpPr/>
          <p:nvPr/>
        </p:nvSpPr>
        <p:spPr>
          <a:xfrm>
            <a:off x="4828032" y="4416552"/>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Minimisation, accès restreints, suppression</a:t>
            </a:r>
            <a:endParaRPr lang="en-US" sz="1270" dirty="0"/>
          </a:p>
        </p:txBody>
      </p:sp>
      <p:sp>
        <p:nvSpPr>
          <p:cNvPr id="32" name="Shape 30"/>
          <p:cNvSpPr/>
          <p:nvPr/>
        </p:nvSpPr>
        <p:spPr>
          <a:xfrm>
            <a:off x="621792" y="5010912"/>
            <a:ext cx="10963656" cy="649224"/>
          </a:xfrm>
          <a:prstGeom prst="roundRect">
            <a:avLst>
              <a:gd name="adj" fmla="val 14085"/>
            </a:avLst>
          </a:prstGeom>
          <a:solidFill>
            <a:srgbClr val="EFF1EA"/>
          </a:solidFill>
          <a:ln w="12700">
            <a:solidFill>
              <a:srgbClr val="EFF1EA">
                <a:alpha val="0"/>
              </a:srgbClr>
            </a:solidFill>
            <a:prstDash val="solid"/>
          </a:ln>
        </p:spPr>
      </p:sp>
      <p:sp>
        <p:nvSpPr>
          <p:cNvPr id="33" name="Shape 31"/>
          <p:cNvSpPr/>
          <p:nvPr/>
        </p:nvSpPr>
        <p:spPr>
          <a:xfrm>
            <a:off x="850392" y="5175504"/>
            <a:ext cx="320040" cy="320040"/>
          </a:xfrm>
          <a:prstGeom prst="ellipse">
            <a:avLst/>
          </a:prstGeom>
          <a:solidFill>
            <a:srgbClr val="D4F086"/>
          </a:solidFill>
          <a:ln w="12700">
            <a:solidFill>
              <a:srgbClr val="D4F086">
                <a:alpha val="0"/>
              </a:srgbClr>
            </a:solidFill>
            <a:prstDash val="solid"/>
          </a:ln>
        </p:spPr>
      </p:sp>
      <p:sp>
        <p:nvSpPr>
          <p:cNvPr id="34" name="Text 32"/>
          <p:cNvSpPr/>
          <p:nvPr/>
        </p:nvSpPr>
        <p:spPr>
          <a:xfrm>
            <a:off x="877824" y="5257800"/>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5</a:t>
            </a:r>
            <a:endParaRPr lang="en-US" sz="1000" dirty="0"/>
          </a:p>
        </p:txBody>
      </p:sp>
      <p:sp>
        <p:nvSpPr>
          <p:cNvPr id="35" name="Text 33"/>
          <p:cNvSpPr/>
          <p:nvPr/>
        </p:nvSpPr>
        <p:spPr>
          <a:xfrm>
            <a:off x="1316736" y="5175504"/>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Dérive coût / périmètre</a:t>
            </a:r>
            <a:endParaRPr lang="en-US" sz="1400" dirty="0"/>
          </a:p>
        </p:txBody>
      </p:sp>
      <p:sp>
        <p:nvSpPr>
          <p:cNvPr id="36" name="Shape 34"/>
          <p:cNvSpPr/>
          <p:nvPr/>
        </p:nvSpPr>
        <p:spPr>
          <a:xfrm>
            <a:off x="4590288" y="5148072"/>
            <a:ext cx="0" cy="356616"/>
          </a:xfrm>
          <a:prstGeom prst="line">
            <a:avLst/>
          </a:prstGeom>
          <a:noFill/>
          <a:ln w="10160">
            <a:solidFill>
              <a:srgbClr val="D9DED4"/>
            </a:solidFill>
            <a:prstDash val="solid"/>
            <a:headEnd type="none"/>
            <a:tailEnd type="none"/>
          </a:ln>
        </p:spPr>
      </p:sp>
      <p:sp>
        <p:nvSpPr>
          <p:cNvPr id="37" name="Text 35"/>
          <p:cNvSpPr/>
          <p:nvPr/>
        </p:nvSpPr>
        <p:spPr>
          <a:xfrm>
            <a:off x="4828032" y="5175504"/>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Plafond Azure, jalons et périmètre gelé</a:t>
            </a:r>
            <a:endParaRPr lang="en-US" sz="1270" dirty="0"/>
          </a:p>
        </p:txBody>
      </p:sp>
      <p:sp>
        <p:nvSpPr>
          <p:cNvPr id="38" name="Text 36"/>
          <p:cNvSpPr/>
          <p:nvPr/>
        </p:nvSpPr>
        <p:spPr>
          <a:xfrm>
            <a:off x="694944" y="6035040"/>
            <a:ext cx="10607040" cy="192024"/>
          </a:xfrm>
          <a:prstGeom prst="rect">
            <a:avLst/>
          </a:prstGeom>
          <a:noFill/>
          <a:ln/>
        </p:spPr>
        <p:txBody>
          <a:bodyPr wrap="square" lIns="0" tIns="0" rIns="0" bIns="0" rtlCol="0" anchor="ctr">
            <a:normAutofit/>
          </a:bodyPr>
          <a:lstStyle/>
          <a:p>
            <a:pPr algn="l" indent="0" marL="0">
              <a:buNone/>
            </a:pPr>
            <a:r>
              <a:rPr lang="en-US" sz="900" i="1" dirty="0">
                <a:solidFill>
                  <a:srgbClr val="607069"/>
                </a:solidFill>
                <a:latin typeface="Inter" pitchFamily="34" charset="0"/>
                <a:ea typeface="Inter" pitchFamily="34" charset="-122"/>
                <a:cs typeface="Inter" pitchFamily="34" charset="-120"/>
              </a:rPr>
              <a:t>Les photos de personnes identifiables nécessitent un traitement conforme au RGPD ; pas de collecte personnelle implicite.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D4F086"/>
          </a:solidFill>
          <a:ln w="12700">
            <a:solidFill>
              <a:srgbClr val="D4F086">
                <a:alpha val="0"/>
              </a:srgbClr>
            </a:solidFill>
            <a:prstDash val="solid"/>
          </a:ln>
        </p:spPr>
      </p:sp>
      <p:sp>
        <p:nvSpPr>
          <p:cNvPr id="3" name="Text 1"/>
          <p:cNvSpPr/>
          <p:nvPr/>
        </p:nvSpPr>
        <p:spPr>
          <a:xfrm>
            <a:off x="640080" y="429768"/>
            <a:ext cx="7315200" cy="274320"/>
          </a:xfrm>
          <a:prstGeom prst="rect">
            <a:avLst/>
          </a:prstGeom>
          <a:noFill/>
          <a:ln/>
        </p:spPr>
        <p:txBody>
          <a:bodyPr wrap="square" lIns="0" tIns="0" rIns="0" bIns="0" rtlCol="0" anchor="ctr">
            <a:normAutofit/>
          </a:bodyPr>
          <a:lstStyle/>
          <a:p>
            <a:pPr algn="l" indent="0" marL="0">
              <a:buNone/>
            </a:pPr>
            <a:r>
              <a:rPr lang="en-US" sz="1100" b="1" spc="180" kern="0" dirty="0">
                <a:solidFill>
                  <a:srgbClr val="D4F086"/>
                </a:solidFill>
                <a:latin typeface="Inter" pitchFamily="34" charset="0"/>
                <a:ea typeface="Inter" pitchFamily="34" charset="-122"/>
                <a:cs typeface="Inter" pitchFamily="34" charset="-120"/>
              </a:rPr>
              <a:t>11   /   GO — NO-GO</a:t>
            </a:r>
            <a:endParaRPr lang="en-US" sz="1100" dirty="0"/>
          </a:p>
        </p:txBody>
      </p:sp>
      <p:sp>
        <p:nvSpPr>
          <p:cNvPr id="4" name="Text 2"/>
          <p:cNvSpPr/>
          <p:nvPr/>
        </p:nvSpPr>
        <p:spPr>
          <a:xfrm>
            <a:off x="640080" y="987552"/>
            <a:ext cx="10735056" cy="1783080"/>
          </a:xfrm>
          <a:prstGeom prst="rect">
            <a:avLst/>
          </a:prstGeom>
          <a:noFill/>
          <a:ln/>
        </p:spPr>
        <p:txBody>
          <a:bodyPr wrap="square" lIns="0" tIns="0" rIns="0" bIns="0" rtlCol="0" anchor="ctr">
            <a:normAutofit/>
          </a:bodyPr>
          <a:lstStyle/>
          <a:p>
            <a:pPr algn="l" indent="0" marL="0">
              <a:buNone/>
            </a:pPr>
            <a:r>
              <a:rPr lang="en-US" sz="4300" b="1" dirty="0">
                <a:solidFill>
                  <a:srgbClr val="FFFFFF"/>
                </a:solidFill>
                <a:latin typeface="Inter Display" pitchFamily="34" charset="0"/>
                <a:ea typeface="Inter Display" pitchFamily="34" charset="-122"/>
                <a:cs typeface="Inter Display" pitchFamily="34" charset="-120"/>
              </a:rPr>
              <a:t>TESTER PETIT.</a:t>
            </a:r>
            <a:endParaRPr lang="en-US" sz="4300" dirty="0"/>
          </a:p>
          <a:p>
            <a:pPr algn="l" indent="0" marL="0">
              <a:buNone/>
            </a:pPr>
            <a:r>
              <a:rPr lang="en-US" sz="4300" b="1" dirty="0">
                <a:solidFill>
                  <a:srgbClr val="FFFFFF"/>
                </a:solidFill>
                <a:latin typeface="Inter Display" pitchFamily="34" charset="0"/>
                <a:ea typeface="Inter Display" pitchFamily="34" charset="-122"/>
                <a:cs typeface="Inter Display" pitchFamily="34" charset="-120"/>
              </a:rPr>
              <a:t>DÉCIDER VITE.</a:t>
            </a:r>
            <a:endParaRPr lang="en-US" sz="4300" dirty="0"/>
          </a:p>
        </p:txBody>
      </p:sp>
      <p:sp>
        <p:nvSpPr>
          <p:cNvPr id="5" name="Shape 3"/>
          <p:cNvSpPr/>
          <p:nvPr/>
        </p:nvSpPr>
        <p:spPr>
          <a:xfrm>
            <a:off x="640080" y="3044952"/>
            <a:ext cx="10844784" cy="0"/>
          </a:xfrm>
          <a:prstGeom prst="line">
            <a:avLst/>
          </a:prstGeom>
          <a:noFill/>
          <a:ln w="12700">
            <a:solidFill>
              <a:srgbClr val="4B675A"/>
            </a:solidFill>
            <a:prstDash val="solid"/>
            <a:headEnd type="none"/>
            <a:tailEnd type="none"/>
          </a:ln>
        </p:spPr>
      </p:sp>
      <p:sp>
        <p:nvSpPr>
          <p:cNvPr id="6" name="Text 4"/>
          <p:cNvSpPr/>
          <p:nvPr/>
        </p:nvSpPr>
        <p:spPr>
          <a:xfrm>
            <a:off x="640080" y="3346704"/>
            <a:ext cx="2130552" cy="384048"/>
          </a:xfrm>
          <a:prstGeom prst="rect">
            <a:avLst/>
          </a:prstGeom>
          <a:noFill/>
          <a:ln/>
        </p:spPr>
        <p:txBody>
          <a:bodyPr wrap="square" lIns="0" tIns="0" rIns="0" bIns="0" rtlCol="0" anchor="ctr">
            <a:normAutofit/>
          </a:bodyPr>
          <a:lstStyle/>
          <a:p>
            <a:pPr algn="l" indent="0" marL="0">
              <a:buNone/>
            </a:pPr>
            <a:r>
              <a:rPr lang="en-US" sz="1800" b="1" dirty="0">
                <a:solidFill>
                  <a:srgbClr val="D4F086"/>
                </a:solidFill>
                <a:latin typeface="Inter" pitchFamily="34" charset="0"/>
                <a:ea typeface="Inter" pitchFamily="34" charset="-122"/>
                <a:cs typeface="Inter" pitchFamily="34" charset="-120"/>
              </a:rPr>
              <a:t>GO SI…</a:t>
            </a:r>
            <a:endParaRPr lang="en-US" sz="1800" dirty="0"/>
          </a:p>
        </p:txBody>
      </p:sp>
      <p:sp>
        <p:nvSpPr>
          <p:cNvPr id="7" name="Shape 5"/>
          <p:cNvSpPr/>
          <p:nvPr/>
        </p:nvSpPr>
        <p:spPr>
          <a:xfrm>
            <a:off x="2990088" y="3364992"/>
            <a:ext cx="192024" cy="192024"/>
          </a:xfrm>
          <a:prstGeom prst="ellipse">
            <a:avLst/>
          </a:prstGeom>
          <a:solidFill>
            <a:srgbClr val="D4F086"/>
          </a:solidFill>
          <a:ln w="12700">
            <a:solidFill>
              <a:srgbClr val="D4F086">
                <a:alpha val="0"/>
              </a:srgbClr>
            </a:solidFill>
            <a:prstDash val="solid"/>
          </a:ln>
        </p:spPr>
      </p:sp>
      <p:sp>
        <p:nvSpPr>
          <p:cNvPr id="8" name="Text 6"/>
          <p:cNvSpPr/>
          <p:nvPr/>
        </p:nvSpPr>
        <p:spPr>
          <a:xfrm>
            <a:off x="3017520" y="339516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9" name="Text 7"/>
          <p:cNvSpPr/>
          <p:nvPr/>
        </p:nvSpPr>
        <p:spPr>
          <a:xfrm>
            <a:off x="3355848" y="333756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Precision@5 ≥ 60 %</a:t>
            </a:r>
            <a:endParaRPr lang="en-US" sz="1410" dirty="0"/>
          </a:p>
        </p:txBody>
      </p:sp>
      <p:sp>
        <p:nvSpPr>
          <p:cNvPr id="10" name="Shape 8"/>
          <p:cNvSpPr/>
          <p:nvPr/>
        </p:nvSpPr>
        <p:spPr>
          <a:xfrm>
            <a:off x="2990088" y="3776472"/>
            <a:ext cx="192024" cy="192024"/>
          </a:xfrm>
          <a:prstGeom prst="ellipse">
            <a:avLst/>
          </a:prstGeom>
          <a:solidFill>
            <a:srgbClr val="D4F086"/>
          </a:solidFill>
          <a:ln w="12700">
            <a:solidFill>
              <a:srgbClr val="D4F086">
                <a:alpha val="0"/>
              </a:srgbClr>
            </a:solidFill>
            <a:prstDash val="solid"/>
          </a:ln>
        </p:spPr>
      </p:sp>
      <p:sp>
        <p:nvSpPr>
          <p:cNvPr id="11" name="Text 9"/>
          <p:cNvSpPr/>
          <p:nvPr/>
        </p:nvSpPr>
        <p:spPr>
          <a:xfrm>
            <a:off x="3017520" y="380664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2" name="Text 10"/>
          <p:cNvSpPr/>
          <p:nvPr/>
        </p:nvSpPr>
        <p:spPr>
          <a:xfrm>
            <a:off x="3355848" y="374904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Success@5 ≥ 80 %</a:t>
            </a:r>
            <a:endParaRPr lang="en-US" sz="1410" dirty="0"/>
          </a:p>
        </p:txBody>
      </p:sp>
      <p:sp>
        <p:nvSpPr>
          <p:cNvPr id="13" name="Shape 11"/>
          <p:cNvSpPr/>
          <p:nvPr/>
        </p:nvSpPr>
        <p:spPr>
          <a:xfrm>
            <a:off x="2990088" y="4187952"/>
            <a:ext cx="192024" cy="192024"/>
          </a:xfrm>
          <a:prstGeom prst="ellipse">
            <a:avLst/>
          </a:prstGeom>
          <a:solidFill>
            <a:srgbClr val="D4F086"/>
          </a:solidFill>
          <a:ln w="12700">
            <a:solidFill>
              <a:srgbClr val="D4F086">
                <a:alpha val="0"/>
              </a:srgbClr>
            </a:solidFill>
            <a:prstDash val="solid"/>
          </a:ln>
        </p:spPr>
      </p:sp>
      <p:sp>
        <p:nvSpPr>
          <p:cNvPr id="14" name="Text 12"/>
          <p:cNvSpPr/>
          <p:nvPr/>
        </p:nvSpPr>
        <p:spPr>
          <a:xfrm>
            <a:off x="3017520" y="421812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5" name="Text 13"/>
          <p:cNvSpPr/>
          <p:nvPr/>
        </p:nvSpPr>
        <p:spPr>
          <a:xfrm>
            <a:off x="3355848" y="416052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Gain ≥ +10 pts face aux tags</a:t>
            </a:r>
            <a:endParaRPr lang="en-US" sz="1410" dirty="0"/>
          </a:p>
        </p:txBody>
      </p:sp>
      <p:sp>
        <p:nvSpPr>
          <p:cNvPr id="16" name="Shape 14"/>
          <p:cNvSpPr/>
          <p:nvPr/>
        </p:nvSpPr>
        <p:spPr>
          <a:xfrm>
            <a:off x="2990088" y="4599432"/>
            <a:ext cx="192024" cy="192024"/>
          </a:xfrm>
          <a:prstGeom prst="ellipse">
            <a:avLst/>
          </a:prstGeom>
          <a:solidFill>
            <a:srgbClr val="D4F086"/>
          </a:solidFill>
          <a:ln w="12700">
            <a:solidFill>
              <a:srgbClr val="D4F086">
                <a:alpha val="0"/>
              </a:srgbClr>
            </a:solidFill>
            <a:prstDash val="solid"/>
          </a:ln>
        </p:spPr>
      </p:sp>
      <p:sp>
        <p:nvSpPr>
          <p:cNvPr id="17" name="Text 15"/>
          <p:cNvSpPr/>
          <p:nvPr/>
        </p:nvSpPr>
        <p:spPr>
          <a:xfrm>
            <a:off x="3017520" y="462960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8" name="Text 16"/>
          <p:cNvSpPr/>
          <p:nvPr/>
        </p:nvSpPr>
        <p:spPr>
          <a:xfrm>
            <a:off x="3355848" y="457200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Résultats reproductibles et données utilisables</a:t>
            </a:r>
            <a:endParaRPr lang="en-US" sz="1410" dirty="0"/>
          </a:p>
        </p:txBody>
      </p:sp>
      <p:sp>
        <p:nvSpPr>
          <p:cNvPr id="19" name="Shape 17"/>
          <p:cNvSpPr/>
          <p:nvPr/>
        </p:nvSpPr>
        <p:spPr>
          <a:xfrm>
            <a:off x="2990088" y="5010912"/>
            <a:ext cx="192024" cy="192024"/>
          </a:xfrm>
          <a:prstGeom prst="ellipse">
            <a:avLst/>
          </a:prstGeom>
          <a:solidFill>
            <a:srgbClr val="D4F086"/>
          </a:solidFill>
          <a:ln w="12700">
            <a:solidFill>
              <a:srgbClr val="D4F086">
                <a:alpha val="0"/>
              </a:srgbClr>
            </a:solidFill>
            <a:prstDash val="solid"/>
          </a:ln>
        </p:spPr>
      </p:sp>
      <p:sp>
        <p:nvSpPr>
          <p:cNvPr id="20" name="Text 18"/>
          <p:cNvSpPr/>
          <p:nvPr/>
        </p:nvSpPr>
        <p:spPr>
          <a:xfrm>
            <a:off x="3017520" y="504108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21" name="Text 19"/>
          <p:cNvSpPr/>
          <p:nvPr/>
        </p:nvSpPr>
        <p:spPr>
          <a:xfrm>
            <a:off x="3355848" y="498348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Aucun blocage de droits, sécurité ou RGPD</a:t>
            </a:r>
            <a:endParaRPr lang="en-US" sz="1410" dirty="0"/>
          </a:p>
        </p:txBody>
      </p:sp>
      <p:sp>
        <p:nvSpPr>
          <p:cNvPr id="22" name="Shape 20"/>
          <p:cNvSpPr/>
          <p:nvPr/>
        </p:nvSpPr>
        <p:spPr>
          <a:xfrm>
            <a:off x="630936" y="5788152"/>
            <a:ext cx="10936224" cy="493776"/>
          </a:xfrm>
          <a:prstGeom prst="roundRect">
            <a:avLst>
              <a:gd name="adj" fmla="val 24074"/>
            </a:avLst>
          </a:prstGeom>
          <a:solidFill>
            <a:srgbClr val="D4F086"/>
          </a:solidFill>
          <a:ln w="12700">
            <a:solidFill>
              <a:srgbClr val="D4F086">
                <a:alpha val="0"/>
              </a:srgbClr>
            </a:solidFill>
            <a:prstDash val="solid"/>
          </a:ln>
        </p:spPr>
      </p:sp>
      <p:sp>
        <p:nvSpPr>
          <p:cNvPr id="23" name="Text 21"/>
          <p:cNvSpPr/>
          <p:nvPr/>
        </p:nvSpPr>
        <p:spPr>
          <a:xfrm>
            <a:off x="877824" y="5943600"/>
            <a:ext cx="10396728" cy="164592"/>
          </a:xfrm>
          <a:prstGeom prst="rect">
            <a:avLst/>
          </a:prstGeom>
          <a:noFill/>
          <a:ln/>
        </p:spPr>
        <p:txBody>
          <a:bodyPr wrap="square" lIns="0" tIns="0" rIns="0" bIns="0" rtlCol="0" anchor="ctr">
            <a:normAutofit/>
          </a:bodyPr>
          <a:lstStyle/>
          <a:p>
            <a:pPr algn="l" indent="0" marL="0">
              <a:buNone/>
            </a:pPr>
            <a:r>
              <a:rPr lang="en-US" sz="1200" b="1" spc="30" kern="0" dirty="0">
                <a:solidFill>
                  <a:srgbClr val="17221F"/>
                </a:solidFill>
                <a:latin typeface="Inter" pitchFamily="34" charset="0"/>
                <a:ea typeface="Inter" pitchFamily="34" charset="-122"/>
                <a:cs typeface="Inter" pitchFamily="34" charset="-120"/>
              </a:rPr>
              <a:t>DEMANDE AU COMEX  →  FEU VERT CONDITIONNEL POUR UN POC DE 15 JOURS OUVRÉS</a:t>
            </a:r>
            <a:endParaRPr lang="en-US" sz="1200" dirty="0"/>
          </a:p>
        </p:txBody>
      </p:sp>
      <p:sp>
        <p:nvSpPr>
          <p:cNvPr id="24" name="Text 22"/>
          <p:cNvSpPr/>
          <p:nvPr/>
        </p:nvSpPr>
        <p:spPr>
          <a:xfrm>
            <a:off x="640080" y="6528816"/>
            <a:ext cx="10058400" cy="128016"/>
          </a:xfrm>
          <a:prstGeom prst="rect">
            <a:avLst/>
          </a:prstGeom>
          <a:noFill/>
          <a:ln/>
        </p:spPr>
        <p:txBody>
          <a:bodyPr wrap="square" lIns="0" tIns="0" rIns="0" bIns="0" rtlCol="0" anchor="ctr">
            <a:normAutofit/>
          </a:bodyPr>
          <a:lstStyle/>
          <a:p>
            <a:pPr algn="l" indent="0" marL="0">
              <a:buNone/>
            </a:pPr>
            <a:r>
              <a:rPr lang="en-US" sz="890" spc="80" kern="0" dirty="0">
                <a:solidFill>
                  <a:srgbClr val="A7BCA9"/>
                </a:solidFill>
                <a:latin typeface="Inter" pitchFamily="34" charset="0"/>
                <a:ea typeface="Inter" pitchFamily="34" charset="-122"/>
                <a:cs typeface="Inter" pitchFamily="34" charset="-120"/>
              </a:rPr>
              <a:t>HYPOTHÈSES DE CADRAGE — SEUILS ET MOYENS À VALIDER AVANT LANCEMENT</a:t>
            </a:r>
            <a:endParaRPr lang="en-US" sz="89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12  /  ARCHITECTURE DE PRODUCTION</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Une chaîne Data / IA de bout en bout</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881360"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Flux ONLINE : réponse aux photos clients   |   Flux BATCH : préparation et mise à jour du catalogue.</a:t>
            </a:r>
          </a:p>
        </p:txBody>
      </p:sp>
      <p:cxnSp>
        <p:nvCxnSpPr>
          <p:cNvPr id="6" name="Connector 5"/>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SYSTEM DESIGN PRODUCTION  /  PROPOSITION À VALIDER</a:t>
            </a:r>
          </a:p>
        </p:txBody>
      </p:sp>
      <p:sp>
        <p:nvSpPr>
          <p:cNvPr id="8" name="TextBox 7"/>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14</a:t>
            </a:r>
          </a:p>
        </p:txBody>
      </p:sp>
      <p:sp>
        <p:nvSpPr>
          <p:cNvPr id="9" name="TextBox 8"/>
          <p:cNvSpPr txBox="1"/>
          <p:nvPr/>
        </p:nvSpPr>
        <p:spPr>
          <a:xfrm>
            <a:off x="621792" y="2112264"/>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PARCOURS EN LIGNE — DE LA PHOTO À LA RECOMMANDATION</a:t>
            </a:r>
          </a:p>
        </p:txBody>
      </p:sp>
      <p:sp>
        <p:nvSpPr>
          <p:cNvPr id="10" name="Rounded Rectangle 9"/>
          <p:cNvSpPr/>
          <p:nvPr/>
        </p:nvSpPr>
        <p:spPr>
          <a:xfrm>
            <a:off x="630936" y="2331720"/>
            <a:ext cx="1892807" cy="1033271"/>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FFFFFF"/>
                </a:solidFill>
                <a:latin typeface="Inter"/>
              </a:rPr>
              <a:t>ENTRÉE CLIENT</a:t>
            </a:r>
          </a:p>
        </p:txBody>
      </p:sp>
      <p:sp>
        <p:nvSpPr>
          <p:cNvPr id="12" name="TextBox 11"/>
          <p:cNvSpPr txBox="1"/>
          <p:nvPr/>
        </p:nvSpPr>
        <p:spPr>
          <a:xfrm>
            <a:off x="740664"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FFFFFF"/>
                </a:solidFill>
                <a:latin typeface="Inter"/>
              </a:rPr>
              <a:t>Photo / garde-robe,</a:t>
            </a:r>
          </a:p>
          <a:p>
            <a:pPr algn="ctr">
              <a:spcAft>
                <a:spcPts val="0"/>
              </a:spcAft>
            </a:pPr>
            <a:r>
              <a:rPr sz="1010" b="0">
                <a:solidFill>
                  <a:srgbClr val="FFFFFF"/>
                </a:solidFill>
                <a:latin typeface="Inter"/>
              </a:rPr>
              <a:t>styles, marques, blogs</a:t>
            </a:r>
          </a:p>
        </p:txBody>
      </p:sp>
      <p:sp>
        <p:nvSpPr>
          <p:cNvPr id="13" name="TextBox 12"/>
          <p:cNvSpPr txBox="1"/>
          <p:nvPr/>
        </p:nvSpPr>
        <p:spPr>
          <a:xfrm>
            <a:off x="731519"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FFFFFF"/>
                </a:solidFill>
                <a:latin typeface="Inter"/>
              </a:rPr>
              <a:t>APP MOBILE *</a:t>
            </a:r>
          </a:p>
        </p:txBody>
      </p:sp>
      <p:sp>
        <p:nvSpPr>
          <p:cNvPr id="14" name="TextBox 13"/>
          <p:cNvSpPr txBox="1"/>
          <p:nvPr/>
        </p:nvSpPr>
        <p:spPr>
          <a:xfrm>
            <a:off x="2532887"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15" name="Rounded Rectangle 14"/>
          <p:cNvSpPr/>
          <p:nvPr/>
        </p:nvSpPr>
        <p:spPr>
          <a:xfrm>
            <a:off x="2889504"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9232"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ORCHESTRATION</a:t>
            </a:r>
          </a:p>
        </p:txBody>
      </p:sp>
      <p:sp>
        <p:nvSpPr>
          <p:cNvPr id="17" name="TextBox 16"/>
          <p:cNvSpPr txBox="1"/>
          <p:nvPr/>
        </p:nvSpPr>
        <p:spPr>
          <a:xfrm>
            <a:off x="2999232"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Consentement, accès</a:t>
            </a:r>
          </a:p>
          <a:p>
            <a:pPr algn="ctr">
              <a:spcAft>
                <a:spcPts val="0"/>
              </a:spcAft>
            </a:pPr>
            <a:r>
              <a:rPr sz="1010" b="0">
                <a:solidFill>
                  <a:srgbClr val="607069"/>
                </a:solidFill>
                <a:latin typeface="Inter"/>
              </a:rPr>
              <a:t>et prétraitement</a:t>
            </a:r>
          </a:p>
        </p:txBody>
      </p:sp>
      <p:sp>
        <p:nvSpPr>
          <p:cNvPr id="18" name="TextBox 17"/>
          <p:cNvSpPr txBox="1"/>
          <p:nvPr/>
        </p:nvSpPr>
        <p:spPr>
          <a:xfrm>
            <a:off x="2990088"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API DATA / IA</a:t>
            </a:r>
          </a:p>
        </p:txBody>
      </p:sp>
      <p:sp>
        <p:nvSpPr>
          <p:cNvPr id="19" name="TextBox 18"/>
          <p:cNvSpPr txBox="1"/>
          <p:nvPr/>
        </p:nvSpPr>
        <p:spPr>
          <a:xfrm>
            <a:off x="4791456"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20" name="Rounded Rectangle 19"/>
          <p:cNvSpPr/>
          <p:nvPr/>
        </p:nvSpPr>
        <p:spPr>
          <a:xfrm>
            <a:off x="5148072"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VISION</a:t>
            </a:r>
          </a:p>
        </p:txBody>
      </p:sp>
      <p:sp>
        <p:nvSpPr>
          <p:cNvPr id="22" name="TextBox 21"/>
          <p:cNvSpPr txBox="1"/>
          <p:nvPr/>
        </p:nvSpPr>
        <p:spPr>
          <a:xfrm>
            <a:off x="5257800"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Vecteur image / attributs</a:t>
            </a:r>
          </a:p>
          <a:p>
            <a:pPr algn="ctr">
              <a:spcAft>
                <a:spcPts val="0"/>
              </a:spcAft>
            </a:pPr>
            <a:r>
              <a:rPr sz="1010" b="0">
                <a:solidFill>
                  <a:srgbClr val="607069"/>
                </a:solidFill>
                <a:latin typeface="Inter"/>
              </a:rPr>
              <a:t>modèle préentraîné</a:t>
            </a:r>
          </a:p>
        </p:txBody>
      </p:sp>
      <p:sp>
        <p:nvSpPr>
          <p:cNvPr id="23" name="TextBox 22"/>
          <p:cNvSpPr txBox="1"/>
          <p:nvPr/>
        </p:nvSpPr>
        <p:spPr>
          <a:xfrm>
            <a:off x="5248656"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ML</a:t>
            </a:r>
          </a:p>
        </p:txBody>
      </p:sp>
      <p:sp>
        <p:nvSpPr>
          <p:cNvPr id="24" name="TextBox 23"/>
          <p:cNvSpPr txBox="1"/>
          <p:nvPr/>
        </p:nvSpPr>
        <p:spPr>
          <a:xfrm>
            <a:off x="7050023"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25" name="Rounded Rectangle 24"/>
          <p:cNvSpPr/>
          <p:nvPr/>
        </p:nvSpPr>
        <p:spPr>
          <a:xfrm>
            <a:off x="7406640"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16367"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CLASSEMENT</a:t>
            </a:r>
          </a:p>
        </p:txBody>
      </p:sp>
      <p:sp>
        <p:nvSpPr>
          <p:cNvPr id="27" name="TextBox 26"/>
          <p:cNvSpPr txBox="1"/>
          <p:nvPr/>
        </p:nvSpPr>
        <p:spPr>
          <a:xfrm>
            <a:off x="7516367"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Voisins visuels + filtres</a:t>
            </a:r>
          </a:p>
          <a:p>
            <a:pPr algn="ctr">
              <a:spcAft>
                <a:spcPts val="0"/>
              </a:spcAft>
            </a:pPr>
            <a:r>
              <a:rPr sz="1010" b="0">
                <a:solidFill>
                  <a:srgbClr val="607069"/>
                </a:solidFill>
                <a:latin typeface="Inter"/>
              </a:rPr>
              <a:t>stock, tags, marques</a:t>
            </a:r>
          </a:p>
        </p:txBody>
      </p:sp>
      <p:sp>
        <p:nvSpPr>
          <p:cNvPr id="28" name="TextBox 27"/>
          <p:cNvSpPr txBox="1"/>
          <p:nvPr/>
        </p:nvSpPr>
        <p:spPr>
          <a:xfrm>
            <a:off x="7507223" y="3090672"/>
            <a:ext cx="1691639" cy="210312"/>
          </a:xfrm>
          <a:prstGeom prst="rect">
            <a:avLst/>
          </a:prstGeom>
          <a:noFill/>
        </p:spPr>
        <p:txBody>
          <a:bodyPr wrap="square" lIns="18288" rIns="18288" tIns="9144" bIns="9144" anchor="ctr">
            <a:spAutoFit/>
          </a:bodyPr>
          <a:lstStyle/>
          <a:p>
            <a:r>
              <a:rPr sz="770">
                <a:solidFill>
                  <a:srgbClr val="4B795B"/>
                </a:solidFill>
                <a:latin typeface="Inter"/>
              </a:rPr>
              <a:t>AI SEARCH (OPTION)</a:t>
            </a:r>
          </a:p>
        </p:txBody>
      </p:sp>
      <p:sp>
        <p:nvSpPr>
          <p:cNvPr id="29" name="TextBox 28"/>
          <p:cNvSpPr txBox="1"/>
          <p:nvPr/>
        </p:nvSpPr>
        <p:spPr>
          <a:xfrm>
            <a:off x="9308592"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30" name="Rounded Rectangle 29"/>
          <p:cNvSpPr/>
          <p:nvPr/>
        </p:nvSpPr>
        <p:spPr>
          <a:xfrm>
            <a:off x="9665208" y="2331720"/>
            <a:ext cx="1892807" cy="1033271"/>
          </a:xfrm>
          <a:prstGeom prst="roundRect">
            <a:avLst>
              <a:gd name="adj" fmla="val 14000"/>
            </a:avLst>
          </a:prstGeom>
          <a:solidFill>
            <a:srgbClr val="D5F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74936"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RÉSULTAT</a:t>
            </a:r>
          </a:p>
        </p:txBody>
      </p:sp>
      <p:sp>
        <p:nvSpPr>
          <p:cNvPr id="32" name="TextBox 31"/>
          <p:cNvSpPr txBox="1"/>
          <p:nvPr/>
        </p:nvSpPr>
        <p:spPr>
          <a:xfrm>
            <a:off x="9774936"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Top 5, avis client,</a:t>
            </a:r>
          </a:p>
          <a:p>
            <a:pPr algn="ctr">
              <a:spcAft>
                <a:spcPts val="0"/>
              </a:spcAft>
            </a:pPr>
            <a:r>
              <a:rPr sz="1010" b="0">
                <a:solidFill>
                  <a:srgbClr val="607069"/>
                </a:solidFill>
                <a:latin typeface="Inter"/>
              </a:rPr>
              <a:t>lien vers l’achat</a:t>
            </a:r>
          </a:p>
        </p:txBody>
      </p:sp>
      <p:sp>
        <p:nvSpPr>
          <p:cNvPr id="33" name="TextBox 32"/>
          <p:cNvSpPr txBox="1"/>
          <p:nvPr/>
        </p:nvSpPr>
        <p:spPr>
          <a:xfrm>
            <a:off x="9765792"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RETOUR APP *</a:t>
            </a:r>
          </a:p>
        </p:txBody>
      </p:sp>
      <p:sp>
        <p:nvSpPr>
          <p:cNvPr id="34" name="Rounded Rectangle 33"/>
          <p:cNvSpPr/>
          <p:nvPr/>
        </p:nvSpPr>
        <p:spPr>
          <a:xfrm>
            <a:off x="630936" y="3538728"/>
            <a:ext cx="10972800" cy="448056"/>
          </a:xfrm>
          <a:prstGeom prst="roundRect">
            <a:avLst>
              <a:gd name="adj" fmla="val 14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3584448"/>
            <a:ext cx="10561320" cy="347472"/>
          </a:xfrm>
          <a:prstGeom prst="rect">
            <a:avLst/>
          </a:prstGeom>
          <a:noFill/>
        </p:spPr>
        <p:txBody>
          <a:bodyPr wrap="square" lIns="18288" rIns="18288" tIns="9144" bIns="9144" anchor="ctr">
            <a:spAutoFit/>
          </a:bodyPr>
          <a:lstStyle/>
          <a:p>
            <a:pPr algn="l">
              <a:spcAft>
                <a:spcPts val="0"/>
              </a:spcAft>
            </a:pPr>
            <a:r>
              <a:rPr sz="1019" b="0">
                <a:solidFill>
                  <a:srgbClr val="17221F"/>
                </a:solidFill>
                <a:latin typeface="Inter"/>
              </a:rPr>
              <a:t>EXTENSION : essayage sur photo et variantes (couleur / coupe) via IA générative type Stable Diffusion — à évaluer séparément.</a:t>
            </a:r>
          </a:p>
        </p:txBody>
      </p:sp>
      <p:sp>
        <p:nvSpPr>
          <p:cNvPr id="36" name="TextBox 35"/>
          <p:cNvSpPr txBox="1"/>
          <p:nvPr/>
        </p:nvSpPr>
        <p:spPr>
          <a:xfrm>
            <a:off x="621792" y="4197096"/>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PARCOURS DES DONNÉES — DES SOURCES BRUTES À L’INDEX</a:t>
            </a:r>
          </a:p>
        </p:txBody>
      </p:sp>
      <p:sp>
        <p:nvSpPr>
          <p:cNvPr id="37" name="Rounded Rectangle 36"/>
          <p:cNvSpPr/>
          <p:nvPr/>
        </p:nvSpPr>
        <p:spPr>
          <a:xfrm>
            <a:off x="630936"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0664"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SI SOURCES</a:t>
            </a:r>
          </a:p>
        </p:txBody>
      </p:sp>
      <p:sp>
        <p:nvSpPr>
          <p:cNvPr id="39" name="TextBox 38"/>
          <p:cNvSpPr txBox="1"/>
          <p:nvPr/>
        </p:nvSpPr>
        <p:spPr>
          <a:xfrm>
            <a:off x="740664"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Images, catalogue,</a:t>
            </a:r>
          </a:p>
          <a:p>
            <a:pPr algn="ctr">
              <a:spcAft>
                <a:spcPts val="0"/>
              </a:spcAft>
            </a:pPr>
            <a:r>
              <a:rPr sz="1010" b="0">
                <a:solidFill>
                  <a:srgbClr val="607069"/>
                </a:solidFill>
                <a:latin typeface="Inter"/>
              </a:rPr>
              <a:t>prix, tags, stocks</a:t>
            </a:r>
          </a:p>
        </p:txBody>
      </p:sp>
      <p:sp>
        <p:nvSpPr>
          <p:cNvPr id="40" name="TextBox 39"/>
          <p:cNvSpPr txBox="1"/>
          <p:nvPr/>
        </p:nvSpPr>
        <p:spPr>
          <a:xfrm>
            <a:off x="731519"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SYSTÈMES INTERNES</a:t>
            </a:r>
          </a:p>
        </p:txBody>
      </p:sp>
      <p:sp>
        <p:nvSpPr>
          <p:cNvPr id="41" name="TextBox 40"/>
          <p:cNvSpPr txBox="1"/>
          <p:nvPr/>
        </p:nvSpPr>
        <p:spPr>
          <a:xfrm>
            <a:off x="2532887"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42" name="Rounded Rectangle 41"/>
          <p:cNvSpPr/>
          <p:nvPr/>
        </p:nvSpPr>
        <p:spPr>
          <a:xfrm>
            <a:off x="2889504" y="4407408"/>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9232"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INGESTION</a:t>
            </a:r>
          </a:p>
        </p:txBody>
      </p:sp>
      <p:sp>
        <p:nvSpPr>
          <p:cNvPr id="44" name="TextBox 43"/>
          <p:cNvSpPr txBox="1"/>
          <p:nvPr/>
        </p:nvSpPr>
        <p:spPr>
          <a:xfrm>
            <a:off x="2999232"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Collecte / jointures,</a:t>
            </a:r>
          </a:p>
          <a:p>
            <a:pPr algn="ctr">
              <a:spcAft>
                <a:spcPts val="0"/>
              </a:spcAft>
            </a:pPr>
            <a:r>
              <a:rPr sz="1010" b="0">
                <a:solidFill>
                  <a:srgbClr val="607069"/>
                </a:solidFill>
                <a:latin typeface="Inter"/>
              </a:rPr>
              <a:t>qualité, droits</a:t>
            </a:r>
          </a:p>
        </p:txBody>
      </p:sp>
      <p:sp>
        <p:nvSpPr>
          <p:cNvPr id="45" name="TextBox 44"/>
          <p:cNvSpPr txBox="1"/>
          <p:nvPr/>
        </p:nvSpPr>
        <p:spPr>
          <a:xfrm>
            <a:off x="2990088"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DATA FACTORY</a:t>
            </a:r>
          </a:p>
        </p:txBody>
      </p:sp>
      <p:sp>
        <p:nvSpPr>
          <p:cNvPr id="46" name="TextBox 45"/>
          <p:cNvSpPr txBox="1"/>
          <p:nvPr/>
        </p:nvSpPr>
        <p:spPr>
          <a:xfrm>
            <a:off x="4791456"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47" name="Rounded Rectangle 46"/>
          <p:cNvSpPr/>
          <p:nvPr/>
        </p:nvSpPr>
        <p:spPr>
          <a:xfrm>
            <a:off x="5148072"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57800"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STOCKAGE</a:t>
            </a:r>
          </a:p>
        </p:txBody>
      </p:sp>
      <p:sp>
        <p:nvSpPr>
          <p:cNvPr id="49" name="TextBox 48"/>
          <p:cNvSpPr txBox="1"/>
          <p:nvPr/>
        </p:nvSpPr>
        <p:spPr>
          <a:xfrm>
            <a:off x="5257800"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Photos, métadonnées,</a:t>
            </a:r>
          </a:p>
          <a:p>
            <a:pPr algn="ctr">
              <a:spcAft>
                <a:spcPts val="0"/>
              </a:spcAft>
            </a:pPr>
            <a:r>
              <a:rPr sz="1010" b="0">
                <a:solidFill>
                  <a:srgbClr val="607069"/>
                </a:solidFill>
                <a:latin typeface="Inter"/>
              </a:rPr>
              <a:t>états du catalogue</a:t>
            </a:r>
          </a:p>
        </p:txBody>
      </p:sp>
      <p:sp>
        <p:nvSpPr>
          <p:cNvPr id="50" name="TextBox 49"/>
          <p:cNvSpPr txBox="1"/>
          <p:nvPr/>
        </p:nvSpPr>
        <p:spPr>
          <a:xfrm>
            <a:off x="5248656"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BLOB + AZURE SQL</a:t>
            </a:r>
          </a:p>
        </p:txBody>
      </p:sp>
      <p:sp>
        <p:nvSpPr>
          <p:cNvPr id="51" name="TextBox 50"/>
          <p:cNvSpPr txBox="1"/>
          <p:nvPr/>
        </p:nvSpPr>
        <p:spPr>
          <a:xfrm>
            <a:off x="7050023"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52" name="Rounded Rectangle 51"/>
          <p:cNvSpPr/>
          <p:nvPr/>
        </p:nvSpPr>
        <p:spPr>
          <a:xfrm>
            <a:off x="7406640" y="4407408"/>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16367"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INDEXATION</a:t>
            </a:r>
          </a:p>
        </p:txBody>
      </p:sp>
      <p:sp>
        <p:nvSpPr>
          <p:cNvPr id="54" name="TextBox 53"/>
          <p:cNvSpPr txBox="1"/>
          <p:nvPr/>
        </p:nvSpPr>
        <p:spPr>
          <a:xfrm>
            <a:off x="7516367"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Vecteurs catalogue</a:t>
            </a:r>
          </a:p>
          <a:p>
            <a:pPr algn="ctr">
              <a:spcAft>
                <a:spcPts val="0"/>
              </a:spcAft>
            </a:pPr>
            <a:r>
              <a:rPr sz="1010" b="0">
                <a:solidFill>
                  <a:srgbClr val="607069"/>
                </a:solidFill>
                <a:latin typeface="Inter"/>
              </a:rPr>
              <a:t>calculés en lot</a:t>
            </a:r>
          </a:p>
        </p:txBody>
      </p:sp>
      <p:sp>
        <p:nvSpPr>
          <p:cNvPr id="55" name="TextBox 54"/>
          <p:cNvSpPr txBox="1"/>
          <p:nvPr/>
        </p:nvSpPr>
        <p:spPr>
          <a:xfrm>
            <a:off x="7507223"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ML BATCH</a:t>
            </a:r>
          </a:p>
        </p:txBody>
      </p:sp>
      <p:sp>
        <p:nvSpPr>
          <p:cNvPr id="56" name="TextBox 55"/>
          <p:cNvSpPr txBox="1"/>
          <p:nvPr/>
        </p:nvSpPr>
        <p:spPr>
          <a:xfrm>
            <a:off x="9308592"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57" name="Rounded Rectangle 56"/>
          <p:cNvSpPr/>
          <p:nvPr/>
        </p:nvSpPr>
        <p:spPr>
          <a:xfrm>
            <a:off x="9665208"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774936"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RECHERCHE</a:t>
            </a:r>
          </a:p>
        </p:txBody>
      </p:sp>
      <p:sp>
        <p:nvSpPr>
          <p:cNvPr id="59" name="TextBox 58"/>
          <p:cNvSpPr txBox="1"/>
          <p:nvPr/>
        </p:nvSpPr>
        <p:spPr>
          <a:xfrm>
            <a:off x="9774936"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Index vecteur actualisé</a:t>
            </a:r>
          </a:p>
          <a:p>
            <a:pPr algn="ctr">
              <a:spcAft>
                <a:spcPts val="0"/>
              </a:spcAft>
            </a:pPr>
            <a:r>
              <a:rPr sz="1010" b="0">
                <a:solidFill>
                  <a:srgbClr val="607069"/>
                </a:solidFill>
                <a:latin typeface="Inter"/>
              </a:rPr>
              <a:t>+ attributs filtrables</a:t>
            </a:r>
          </a:p>
        </p:txBody>
      </p:sp>
      <p:sp>
        <p:nvSpPr>
          <p:cNvPr id="60" name="TextBox 59"/>
          <p:cNvSpPr txBox="1"/>
          <p:nvPr/>
        </p:nvSpPr>
        <p:spPr>
          <a:xfrm>
            <a:off x="9765792" y="5166360"/>
            <a:ext cx="1691639" cy="210312"/>
          </a:xfrm>
          <a:prstGeom prst="rect">
            <a:avLst/>
          </a:prstGeom>
          <a:noFill/>
        </p:spPr>
        <p:txBody>
          <a:bodyPr wrap="square" lIns="18288" rIns="18288" tIns="9144" bIns="9144" anchor="ctr">
            <a:spAutoFit/>
          </a:bodyPr>
          <a:lstStyle/>
          <a:p>
            <a:r>
              <a:rPr sz="770">
                <a:solidFill>
                  <a:srgbClr val="4B795B"/>
                </a:solidFill>
                <a:latin typeface="Inter"/>
              </a:rPr>
              <a:t>AI SEARCH (OPTION)</a:t>
            </a:r>
          </a:p>
        </p:txBody>
      </p:sp>
      <p:cxnSp>
        <p:nvCxnSpPr>
          <p:cNvPr id="61" name="Connector 60"/>
          <p:cNvCxnSpPr/>
          <p:nvPr/>
        </p:nvCxnSpPr>
        <p:spPr>
          <a:xfrm flipV="1">
            <a:off x="8348472" y="4133087"/>
            <a:ext cx="0" cy="237745"/>
          </a:xfrm>
          <a:prstGeom prst="line">
            <a:avLst/>
          </a:prstGeom>
          <a:ln w="19050">
            <a:solidFill>
              <a:srgbClr val="8DB8A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485632" y="4087368"/>
            <a:ext cx="2880360" cy="201168"/>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catalogue → moteur de recherche</a:t>
            </a:r>
          </a:p>
        </p:txBody>
      </p:sp>
      <p:sp>
        <p:nvSpPr>
          <p:cNvPr id="63" name="Rounded Rectangle 62"/>
          <p:cNvSpPr/>
          <p:nvPr/>
        </p:nvSpPr>
        <p:spPr>
          <a:xfrm>
            <a:off x="630936" y="5650992"/>
            <a:ext cx="10972800" cy="539496"/>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2104" y="5705856"/>
            <a:ext cx="10561320" cy="420624"/>
          </a:xfrm>
          <a:prstGeom prst="rect">
            <a:avLst/>
          </a:prstGeom>
          <a:noFill/>
        </p:spPr>
        <p:txBody>
          <a:bodyPr wrap="square" lIns="18288" rIns="18288" tIns="9144" bIns="9144" anchor="ctr">
            <a:spAutoFit/>
          </a:bodyPr>
          <a:lstStyle/>
          <a:p>
            <a:pPr algn="l">
              <a:spcAft>
                <a:spcPts val="0"/>
              </a:spcAft>
            </a:pPr>
            <a:r>
              <a:rPr sz="1025" b="0">
                <a:solidFill>
                  <a:srgbClr val="FFFFFF"/>
                </a:solidFill>
                <a:latin typeface="Inter"/>
              </a:rPr>
              <a:t>TRANSVERSE  •  MLOps / KPI  •  sécurité  •  RGPD : rectification, conservation et purge auto  •  trafic cible : ~400 000 actifs/an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13  /  GOUVERNANCE TECHNIQUE</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Qui construit et maintient chaque brique ?</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881360"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Responsabilités attribuées à l’équipe Data interne ; validation des choix avec Alicia et le Tech Lead.</a:t>
            </a:r>
          </a:p>
        </p:txBody>
      </p:sp>
      <p:cxnSp>
        <p:nvCxnSpPr>
          <p:cNvPr id="6" name="Connector 5"/>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SYSTEM DESIGN PRODUCTION  /  PROPOSITION À VALIDER</a:t>
            </a:r>
          </a:p>
        </p:txBody>
      </p:sp>
      <p:sp>
        <p:nvSpPr>
          <p:cNvPr id="8" name="TextBox 7"/>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15</a:t>
            </a:r>
          </a:p>
        </p:txBody>
      </p:sp>
      <p:sp>
        <p:nvSpPr>
          <p:cNvPr id="9" name="Rounded Rectangle 8"/>
          <p:cNvSpPr/>
          <p:nvPr/>
        </p:nvSpPr>
        <p:spPr>
          <a:xfrm>
            <a:off x="630936"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19"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3</a:t>
            </a:r>
          </a:p>
        </p:txBody>
      </p:sp>
      <p:sp>
        <p:nvSpPr>
          <p:cNvPr id="11" name="TextBox 10"/>
          <p:cNvSpPr txBox="1"/>
          <p:nvPr/>
        </p:nvSpPr>
        <p:spPr>
          <a:xfrm>
            <a:off x="1124712"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DATA SCIENTISTS</a:t>
            </a:r>
          </a:p>
        </p:txBody>
      </p:sp>
      <p:sp>
        <p:nvSpPr>
          <p:cNvPr id="12" name="Rounded Rectangle 11"/>
          <p:cNvSpPr/>
          <p:nvPr/>
        </p:nvSpPr>
        <p:spPr>
          <a:xfrm>
            <a:off x="3447288"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2</a:t>
            </a:r>
          </a:p>
        </p:txBody>
      </p:sp>
      <p:sp>
        <p:nvSpPr>
          <p:cNvPr id="14" name="TextBox 13"/>
          <p:cNvSpPr txBox="1"/>
          <p:nvPr/>
        </p:nvSpPr>
        <p:spPr>
          <a:xfrm>
            <a:off x="3941064"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DATA ENGINEERS</a:t>
            </a:r>
          </a:p>
        </p:txBody>
      </p:sp>
      <p:sp>
        <p:nvSpPr>
          <p:cNvPr id="15" name="Rounded Rectangle 14"/>
          <p:cNvSpPr/>
          <p:nvPr/>
        </p:nvSpPr>
        <p:spPr>
          <a:xfrm>
            <a:off x="6263640" y="2176272"/>
            <a:ext cx="2596896" cy="448056"/>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FFFFFF"/>
                </a:solidFill>
                <a:latin typeface="Inter"/>
              </a:rPr>
              <a:t>1</a:t>
            </a:r>
          </a:p>
        </p:txBody>
      </p:sp>
      <p:sp>
        <p:nvSpPr>
          <p:cNvPr id="17" name="TextBox 16"/>
          <p:cNvSpPr txBox="1"/>
          <p:nvPr/>
        </p:nvSpPr>
        <p:spPr>
          <a:xfrm>
            <a:off x="6757416"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FFFFFF"/>
                </a:solidFill>
                <a:latin typeface="Inter"/>
              </a:rPr>
              <a:t>TECH LEAD DATA</a:t>
            </a:r>
          </a:p>
        </p:txBody>
      </p:sp>
      <p:sp>
        <p:nvSpPr>
          <p:cNvPr id="18" name="Rounded Rectangle 17"/>
          <p:cNvSpPr/>
          <p:nvPr/>
        </p:nvSpPr>
        <p:spPr>
          <a:xfrm>
            <a:off x="9079992"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76"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1</a:t>
            </a:r>
          </a:p>
        </p:txBody>
      </p:sp>
      <p:sp>
        <p:nvSpPr>
          <p:cNvPr id="20" name="TextBox 19"/>
          <p:cNvSpPr txBox="1"/>
          <p:nvPr/>
        </p:nvSpPr>
        <p:spPr>
          <a:xfrm>
            <a:off x="9573767"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MLOPS ENGINEER</a:t>
            </a:r>
          </a:p>
        </p:txBody>
      </p:sp>
      <p:sp>
        <p:nvSpPr>
          <p:cNvPr id="21" name="Rounded Rectangle 20"/>
          <p:cNvSpPr/>
          <p:nvPr/>
        </p:nvSpPr>
        <p:spPr>
          <a:xfrm>
            <a:off x="630936" y="2825496"/>
            <a:ext cx="10963656" cy="365760"/>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 y="2871216"/>
            <a:ext cx="2194560"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BRIQUE TECHNIQUE</a:t>
            </a:r>
          </a:p>
        </p:txBody>
      </p:sp>
      <p:sp>
        <p:nvSpPr>
          <p:cNvPr id="23" name="TextBox 22"/>
          <p:cNvSpPr txBox="1"/>
          <p:nvPr/>
        </p:nvSpPr>
        <p:spPr>
          <a:xfrm>
            <a:off x="3063240" y="2871216"/>
            <a:ext cx="2057400"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CONSTRUCTION · PILOTE</a:t>
            </a:r>
          </a:p>
        </p:txBody>
      </p:sp>
      <p:sp>
        <p:nvSpPr>
          <p:cNvPr id="24" name="TextBox 23"/>
          <p:cNvSpPr txBox="1"/>
          <p:nvPr/>
        </p:nvSpPr>
        <p:spPr>
          <a:xfrm>
            <a:off x="5266944" y="2871216"/>
            <a:ext cx="2084831"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MAINTENANCE · PILOTE</a:t>
            </a:r>
          </a:p>
        </p:txBody>
      </p:sp>
      <p:sp>
        <p:nvSpPr>
          <p:cNvPr id="25" name="TextBox 24"/>
          <p:cNvSpPr txBox="1"/>
          <p:nvPr/>
        </p:nvSpPr>
        <p:spPr>
          <a:xfrm>
            <a:off x="7498079" y="2871216"/>
            <a:ext cx="4041648"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CONTRIBUTIONS / RESPONSABILITÉS</a:t>
            </a:r>
          </a:p>
        </p:txBody>
      </p:sp>
      <p:sp>
        <p:nvSpPr>
          <p:cNvPr id="26" name="Rectangle 25"/>
          <p:cNvSpPr/>
          <p:nvPr/>
        </p:nvSpPr>
        <p:spPr>
          <a:xfrm>
            <a:off x="630936" y="3236976"/>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5" y="3255264"/>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Catalogue &amp; qualité</a:t>
            </a:r>
          </a:p>
        </p:txBody>
      </p:sp>
      <p:sp>
        <p:nvSpPr>
          <p:cNvPr id="28" name="TextBox 27"/>
          <p:cNvSpPr txBox="1"/>
          <p:nvPr/>
        </p:nvSpPr>
        <p:spPr>
          <a:xfrm>
            <a:off x="3063240" y="3255264"/>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29" name="TextBox 28"/>
          <p:cNvSpPr txBox="1"/>
          <p:nvPr/>
        </p:nvSpPr>
        <p:spPr>
          <a:xfrm>
            <a:off x="5266944" y="3255264"/>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30" name="TextBox 29"/>
          <p:cNvSpPr txBox="1"/>
          <p:nvPr/>
        </p:nvSpPr>
        <p:spPr>
          <a:xfrm>
            <a:off x="7498079" y="3255264"/>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schémas, accès et validation</a:t>
            </a:r>
          </a:p>
        </p:txBody>
      </p:sp>
      <p:sp>
        <p:nvSpPr>
          <p:cNvPr id="31" name="Rectangle 30"/>
          <p:cNvSpPr/>
          <p:nvPr/>
        </p:nvSpPr>
        <p:spPr>
          <a:xfrm>
            <a:off x="630936" y="3675887"/>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5" y="3694175"/>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Stockage &amp; indexation</a:t>
            </a:r>
          </a:p>
        </p:txBody>
      </p:sp>
      <p:sp>
        <p:nvSpPr>
          <p:cNvPr id="33" name="TextBox 32"/>
          <p:cNvSpPr txBox="1"/>
          <p:nvPr/>
        </p:nvSpPr>
        <p:spPr>
          <a:xfrm>
            <a:off x="3063240" y="3694175"/>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34" name="TextBox 33"/>
          <p:cNvSpPr txBox="1"/>
          <p:nvPr/>
        </p:nvSpPr>
        <p:spPr>
          <a:xfrm>
            <a:off x="5266944" y="3694175"/>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 + MLOps</a:t>
            </a:r>
          </a:p>
        </p:txBody>
      </p:sp>
      <p:sp>
        <p:nvSpPr>
          <p:cNvPr id="35" name="TextBox 34"/>
          <p:cNvSpPr txBox="1"/>
          <p:nvPr/>
        </p:nvSpPr>
        <p:spPr>
          <a:xfrm>
            <a:off x="7498079" y="3694175"/>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Data Scientist : caractéristiques / pertinence</a:t>
            </a:r>
          </a:p>
        </p:txBody>
      </p:sp>
      <p:sp>
        <p:nvSpPr>
          <p:cNvPr id="36" name="Rectangle 35"/>
          <p:cNvSpPr/>
          <p:nvPr/>
        </p:nvSpPr>
        <p:spPr>
          <a:xfrm>
            <a:off x="630936" y="4114800"/>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5" y="4133087"/>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Embeddings &amp; classement</a:t>
            </a:r>
          </a:p>
        </p:txBody>
      </p:sp>
      <p:sp>
        <p:nvSpPr>
          <p:cNvPr id="38" name="TextBox 37"/>
          <p:cNvSpPr txBox="1"/>
          <p:nvPr/>
        </p:nvSpPr>
        <p:spPr>
          <a:xfrm>
            <a:off x="3063240" y="4133087"/>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a:t>
            </a:r>
          </a:p>
        </p:txBody>
      </p:sp>
      <p:sp>
        <p:nvSpPr>
          <p:cNvPr id="39" name="TextBox 38"/>
          <p:cNvSpPr txBox="1"/>
          <p:nvPr/>
        </p:nvSpPr>
        <p:spPr>
          <a:xfrm>
            <a:off x="5266944" y="4133087"/>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MLOps</a:t>
            </a:r>
          </a:p>
        </p:txBody>
      </p:sp>
      <p:sp>
        <p:nvSpPr>
          <p:cNvPr id="40" name="TextBox 39"/>
          <p:cNvSpPr txBox="1"/>
          <p:nvPr/>
        </p:nvSpPr>
        <p:spPr>
          <a:xfrm>
            <a:off x="7498079" y="4133087"/>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choix modèles / performances</a:t>
            </a:r>
          </a:p>
        </p:txBody>
      </p:sp>
      <p:sp>
        <p:nvSpPr>
          <p:cNvPr id="41" name="Rectangle 40"/>
          <p:cNvSpPr/>
          <p:nvPr/>
        </p:nvSpPr>
        <p:spPr>
          <a:xfrm>
            <a:off x="630936" y="4553712"/>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2375" y="4572000"/>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Préférences &amp; feedback</a:t>
            </a:r>
          </a:p>
        </p:txBody>
      </p:sp>
      <p:sp>
        <p:nvSpPr>
          <p:cNvPr id="43" name="TextBox 42"/>
          <p:cNvSpPr txBox="1"/>
          <p:nvPr/>
        </p:nvSpPr>
        <p:spPr>
          <a:xfrm>
            <a:off x="3063240" y="4572000"/>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DE</a:t>
            </a:r>
          </a:p>
        </p:txBody>
      </p:sp>
      <p:sp>
        <p:nvSpPr>
          <p:cNvPr id="44" name="TextBox 43"/>
          <p:cNvSpPr txBox="1"/>
          <p:nvPr/>
        </p:nvSpPr>
        <p:spPr>
          <a:xfrm>
            <a:off x="5266944" y="4572000"/>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DE</a:t>
            </a:r>
          </a:p>
        </p:txBody>
      </p:sp>
      <p:sp>
        <p:nvSpPr>
          <p:cNvPr id="45" name="TextBox 44"/>
          <p:cNvSpPr txBox="1"/>
          <p:nvPr/>
        </p:nvSpPr>
        <p:spPr>
          <a:xfrm>
            <a:off x="7498079" y="4572000"/>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Métiers : règles de style ; DE : événements</a:t>
            </a:r>
          </a:p>
        </p:txBody>
      </p:sp>
      <p:sp>
        <p:nvSpPr>
          <p:cNvPr id="46" name="Rectangle 45"/>
          <p:cNvSpPr/>
          <p:nvPr/>
        </p:nvSpPr>
        <p:spPr>
          <a:xfrm>
            <a:off x="630936" y="4992624"/>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2375" y="5010912"/>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Essayage IA &amp; variantes *</a:t>
            </a:r>
          </a:p>
        </p:txBody>
      </p:sp>
      <p:sp>
        <p:nvSpPr>
          <p:cNvPr id="48" name="TextBox 47"/>
          <p:cNvSpPr txBox="1"/>
          <p:nvPr/>
        </p:nvSpPr>
        <p:spPr>
          <a:xfrm>
            <a:off x="3063240" y="5010912"/>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a:t>
            </a:r>
          </a:p>
        </p:txBody>
      </p:sp>
      <p:sp>
        <p:nvSpPr>
          <p:cNvPr id="49" name="TextBox 48"/>
          <p:cNvSpPr txBox="1"/>
          <p:nvPr/>
        </p:nvSpPr>
        <p:spPr>
          <a:xfrm>
            <a:off x="5266944" y="5010912"/>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Data Scientist</a:t>
            </a:r>
          </a:p>
        </p:txBody>
      </p:sp>
      <p:sp>
        <p:nvSpPr>
          <p:cNvPr id="50" name="TextBox 49"/>
          <p:cNvSpPr txBox="1"/>
          <p:nvPr/>
        </p:nvSpPr>
        <p:spPr>
          <a:xfrm>
            <a:off x="7498079" y="5010912"/>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risques / faisabilité / coûts</a:t>
            </a:r>
          </a:p>
        </p:txBody>
      </p:sp>
      <p:sp>
        <p:nvSpPr>
          <p:cNvPr id="51" name="Rectangle 50"/>
          <p:cNvSpPr/>
          <p:nvPr/>
        </p:nvSpPr>
        <p:spPr>
          <a:xfrm>
            <a:off x="630936" y="5431536"/>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5" y="5449823"/>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Serving, MLOps, sécurité</a:t>
            </a:r>
          </a:p>
        </p:txBody>
      </p:sp>
      <p:sp>
        <p:nvSpPr>
          <p:cNvPr id="53" name="TextBox 52"/>
          <p:cNvSpPr txBox="1"/>
          <p:nvPr/>
        </p:nvSpPr>
        <p:spPr>
          <a:xfrm>
            <a:off x="3063240" y="5449823"/>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Tech Lead</a:t>
            </a:r>
          </a:p>
        </p:txBody>
      </p:sp>
      <p:sp>
        <p:nvSpPr>
          <p:cNvPr id="54" name="TextBox 53"/>
          <p:cNvSpPr txBox="1"/>
          <p:nvPr/>
        </p:nvSpPr>
        <p:spPr>
          <a:xfrm>
            <a:off x="5266944" y="5449823"/>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Data Engineer</a:t>
            </a:r>
          </a:p>
        </p:txBody>
      </p:sp>
      <p:sp>
        <p:nvSpPr>
          <p:cNvPr id="55" name="TextBox 54"/>
          <p:cNvSpPr txBox="1"/>
          <p:nvPr/>
        </p:nvSpPr>
        <p:spPr>
          <a:xfrm>
            <a:off x="7498079" y="5449823"/>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DS : suivi qualité ; DE : suppression RGPD</a:t>
            </a:r>
          </a:p>
        </p:txBody>
      </p:sp>
      <p:sp>
        <p:nvSpPr>
          <p:cNvPr id="56" name="Rounded Rectangle 55"/>
          <p:cNvSpPr/>
          <p:nvPr/>
        </p:nvSpPr>
        <p:spPr>
          <a:xfrm>
            <a:off x="630936" y="5971032"/>
            <a:ext cx="10972800" cy="283464"/>
          </a:xfrm>
          <a:prstGeom prst="roundRect">
            <a:avLst>
              <a:gd name="adj" fmla="val 14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5528" y="5989320"/>
            <a:ext cx="10652760" cy="228600"/>
          </a:xfrm>
          <a:prstGeom prst="rect">
            <a:avLst/>
          </a:prstGeom>
          <a:noFill/>
        </p:spPr>
        <p:txBody>
          <a:bodyPr wrap="square" lIns="18288" rIns="18288" tIns="9144" bIns="9144" anchor="ctr">
            <a:spAutoFit/>
          </a:bodyPr>
          <a:lstStyle/>
          <a:p>
            <a:pPr algn="l">
              <a:spcAft>
                <a:spcPts val="0"/>
              </a:spcAft>
            </a:pPr>
            <a:r>
              <a:rPr sz="950" b="0">
                <a:solidFill>
                  <a:srgbClr val="17221F"/>
                </a:solidFill>
                <a:latin typeface="Inter"/>
              </a:rPr>
              <a:t>* Essayage génératif : extension du produit cible, non nécessaire à la validation du PoC de recommandation.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01168"/>
          </a:xfrm>
          <a:prstGeom prst="rect">
            <a:avLst/>
          </a:prstGeom>
          <a:noFill/>
        </p:spPr>
        <p:txBody>
          <a:bodyPr wrap="square" lIns="0" rIns="0" tIns="0" bIns="0" anchor="ctr">
            <a:spAutoFit/>
          </a:bodyPr>
          <a:lstStyle/>
          <a:p>
            <a:pPr>
              <a:spcAft>
                <a:spcPts val="0"/>
              </a:spcAft>
            </a:pPr>
            <a:r>
              <a:rPr sz="930" b="1">
                <a:solidFill>
                  <a:srgbClr val="607069"/>
                </a:solidFill>
                <a:latin typeface="Aptos"/>
              </a:rPr>
              <a:t>14  /  ÉTAPE 2 — TIMELINE DE LIVRAISON</a:t>
            </a:r>
          </a:p>
        </p:txBody>
      </p:sp>
      <p:sp>
        <p:nvSpPr>
          <p:cNvPr id="4" name="TextBox 3"/>
          <p:cNvSpPr txBox="1"/>
          <p:nvPr/>
        </p:nvSpPr>
        <p:spPr>
          <a:xfrm>
            <a:off x="594360" y="594360"/>
            <a:ext cx="10972800" cy="566928"/>
          </a:xfrm>
          <a:prstGeom prst="rect">
            <a:avLst/>
          </a:prstGeom>
          <a:noFill/>
        </p:spPr>
        <p:txBody>
          <a:bodyPr wrap="square" lIns="0" rIns="0" tIns="0" bIns="0" anchor="ctr">
            <a:spAutoFit/>
          </a:bodyPr>
          <a:lstStyle/>
          <a:p>
            <a:pPr>
              <a:spcAft>
                <a:spcPts val="0"/>
              </a:spcAft>
            </a:pPr>
            <a:r>
              <a:rPr sz="2560" b="1">
                <a:solidFill>
                  <a:srgbClr val="17221F"/>
                </a:solidFill>
                <a:latin typeface="Aptos Display"/>
              </a:rPr>
              <a:t>PoC  →  MVP  →  Run : 17 semaines</a:t>
            </a:r>
          </a:p>
        </p:txBody>
      </p:sp>
      <p:sp>
        <p:nvSpPr>
          <p:cNvPr id="5" name="TextBox 4"/>
          <p:cNvSpPr txBox="1"/>
          <p:nvPr/>
        </p:nvSpPr>
        <p:spPr>
          <a:xfrm>
            <a:off x="630936" y="1234440"/>
            <a:ext cx="10972800" cy="320040"/>
          </a:xfrm>
          <a:prstGeom prst="rect">
            <a:avLst/>
          </a:prstGeom>
          <a:noFill/>
        </p:spPr>
        <p:txBody>
          <a:bodyPr wrap="square" lIns="0" rIns="0" tIns="0" bIns="0" anchor="ctr">
            <a:spAutoFit/>
          </a:bodyPr>
          <a:lstStyle/>
          <a:p>
            <a:pPr>
              <a:spcAft>
                <a:spcPts val="0"/>
              </a:spcAft>
            </a:pPr>
            <a:r>
              <a:rPr sz="1075" b="0">
                <a:solidFill>
                  <a:srgbClr val="607069"/>
                </a:solidFill>
                <a:latin typeface="Aptos"/>
              </a:rPr>
              <a:t>Une livraison progressive, avec responsabilités, staffing et validations métier.</a:t>
            </a:r>
          </a:p>
        </p:txBody>
      </p:sp>
      <p:sp>
        <p:nvSpPr>
          <p:cNvPr id="6" name="Rectangle 5"/>
          <p:cNvSpPr/>
          <p:nvPr/>
        </p:nvSpPr>
        <p:spPr>
          <a:xfrm>
            <a:off x="594360" y="1664208"/>
            <a:ext cx="1100023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37376"/>
            <a:ext cx="1100023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73952"/>
            <a:ext cx="10149840" cy="155448"/>
          </a:xfrm>
          <a:prstGeom prst="rect">
            <a:avLst/>
          </a:prstGeom>
          <a:noFill/>
        </p:spPr>
        <p:txBody>
          <a:bodyPr wrap="square" lIns="0" rIns="0" tIns="0" bIns="0" anchor="ctr">
            <a:spAutoFit/>
          </a:bodyPr>
          <a:lstStyle/>
          <a:p>
            <a:pPr>
              <a:spcAft>
                <a:spcPts val="0"/>
              </a:spcAft>
            </a:pPr>
            <a:r>
              <a:rPr sz="800" b="0">
                <a:solidFill>
                  <a:srgbClr val="607069"/>
                </a:solidFill>
                <a:latin typeface="Aptos"/>
              </a:rPr>
              <a:t>FASHION–INSTA  ·  TIMELINE DATA &amp; IA  /  HYPOTHÈSES DE PLANIFICATION</a:t>
            </a:r>
          </a:p>
        </p:txBody>
      </p:sp>
      <p:sp>
        <p:nvSpPr>
          <p:cNvPr id="9" name="TextBox 8"/>
          <p:cNvSpPr txBox="1"/>
          <p:nvPr/>
        </p:nvSpPr>
        <p:spPr>
          <a:xfrm>
            <a:off x="11109960" y="6455664"/>
            <a:ext cx="457200" cy="182880"/>
          </a:xfrm>
          <a:prstGeom prst="rect">
            <a:avLst/>
          </a:prstGeom>
          <a:noFill/>
        </p:spPr>
        <p:txBody>
          <a:bodyPr wrap="square" lIns="0" rIns="0" tIns="0" bIns="0" anchor="ctr">
            <a:spAutoFit/>
          </a:bodyPr>
          <a:lstStyle/>
          <a:p>
            <a:pPr algn="r">
              <a:spcAft>
                <a:spcPts val="0"/>
              </a:spcAft>
            </a:pPr>
            <a:r>
              <a:rPr sz="900" b="0">
                <a:solidFill>
                  <a:srgbClr val="607069"/>
                </a:solidFill>
                <a:latin typeface="Aptos"/>
              </a:rPr>
              <a:t>16</a:t>
            </a:r>
          </a:p>
        </p:txBody>
      </p:sp>
      <p:sp>
        <p:nvSpPr>
          <p:cNvPr id="10" name="Rectangle 9"/>
          <p:cNvSpPr/>
          <p:nvPr/>
        </p:nvSpPr>
        <p:spPr>
          <a:xfrm>
            <a:off x="630936" y="1773936"/>
            <a:ext cx="1921853" cy="96012"/>
          </a:xfrm>
          <a:prstGeom prst="rect">
            <a:avLst/>
          </a:prstGeom>
          <a:solidFill>
            <a:srgbClr val="355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75649" y="1773936"/>
            <a:ext cx="6406178" cy="96012"/>
          </a:xfrm>
          <a:prstGeom prst="rect">
            <a:avLst/>
          </a:prstGeom>
          <a:solidFill>
            <a:srgbClr val="7EA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004688" y="1773936"/>
            <a:ext cx="2562471" cy="96012"/>
          </a:xfrm>
          <a:prstGeom prst="rect">
            <a:avLst/>
          </a:prstGeom>
          <a:solidFill>
            <a:srgbClr val="B9D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936" y="1975104"/>
            <a:ext cx="3557016" cy="3913632"/>
          </a:xfrm>
          <a:prstGeom prst="roundRect">
            <a:avLst>
              <a:gd name="adj" fmla="val 12000"/>
            </a:avLst>
          </a:prstGeom>
          <a:solidFill>
            <a:srgbClr val="F8FAF7"/>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0936" y="1975104"/>
            <a:ext cx="3557016" cy="566928"/>
          </a:xfrm>
          <a:prstGeom prst="roundRect">
            <a:avLst>
              <a:gd name="adj" fmla="val 12000"/>
            </a:avLst>
          </a:prstGeom>
          <a:solidFill>
            <a:srgbClr val="355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020824"/>
            <a:ext cx="3319272" cy="246888"/>
          </a:xfrm>
          <a:prstGeom prst="rect">
            <a:avLst/>
          </a:prstGeom>
          <a:noFill/>
        </p:spPr>
        <p:txBody>
          <a:bodyPr wrap="square" lIns="0" rIns="0" tIns="0" bIns="0" anchor="ctr">
            <a:spAutoFit/>
          </a:bodyPr>
          <a:lstStyle/>
          <a:p>
            <a:pPr>
              <a:spcAft>
                <a:spcPts val="0"/>
              </a:spcAft>
            </a:pPr>
            <a:r>
              <a:rPr sz="1500" b="1">
                <a:solidFill>
                  <a:srgbClr val="FFFFFF"/>
                </a:solidFill>
                <a:latin typeface="Aptos"/>
              </a:rPr>
              <a:t>01  /  PoC</a:t>
            </a:r>
          </a:p>
        </p:txBody>
      </p:sp>
      <p:sp>
        <p:nvSpPr>
          <p:cNvPr id="16" name="TextBox 15"/>
          <p:cNvSpPr txBox="1"/>
          <p:nvPr/>
        </p:nvSpPr>
        <p:spPr>
          <a:xfrm>
            <a:off x="749808" y="2295144"/>
            <a:ext cx="3319272" cy="164592"/>
          </a:xfrm>
          <a:prstGeom prst="rect">
            <a:avLst/>
          </a:prstGeom>
          <a:noFill/>
        </p:spPr>
        <p:txBody>
          <a:bodyPr wrap="square" lIns="0" rIns="0" tIns="0" bIns="0" anchor="ctr">
            <a:spAutoFit/>
          </a:bodyPr>
          <a:lstStyle/>
          <a:p>
            <a:pPr>
              <a:spcAft>
                <a:spcPts val="0"/>
              </a:spcAft>
            </a:pPr>
            <a:r>
              <a:rPr sz="950" b="0">
                <a:solidFill>
                  <a:srgbClr val="FFFFFF"/>
                </a:solidFill>
                <a:latin typeface="Aptos"/>
              </a:rPr>
              <a:t>S1–S3  ·  3 semaines</a:t>
            </a:r>
          </a:p>
        </p:txBody>
      </p:sp>
      <p:sp>
        <p:nvSpPr>
          <p:cNvPr id="17" name="TextBox 16"/>
          <p:cNvSpPr txBox="1"/>
          <p:nvPr/>
        </p:nvSpPr>
        <p:spPr>
          <a:xfrm>
            <a:off x="758952" y="2615184"/>
            <a:ext cx="3300984" cy="219456"/>
          </a:xfrm>
          <a:prstGeom prst="rect">
            <a:avLst/>
          </a:prstGeom>
          <a:noFill/>
        </p:spPr>
        <p:txBody>
          <a:bodyPr wrap="square" lIns="0" rIns="0" tIns="0" bIns="0" anchor="ctr">
            <a:spAutoFit/>
          </a:bodyPr>
          <a:lstStyle/>
          <a:p>
            <a:pPr>
              <a:spcAft>
                <a:spcPts val="0"/>
              </a:spcAft>
            </a:pPr>
            <a:r>
              <a:rPr sz="1030" b="1">
                <a:solidFill>
                  <a:srgbClr val="213D31"/>
                </a:solidFill>
                <a:latin typeface="Aptos"/>
              </a:rPr>
              <a:t>Tester la faisabilité</a:t>
            </a:r>
          </a:p>
        </p:txBody>
      </p:sp>
      <p:sp>
        <p:nvSpPr>
          <p:cNvPr id="18" name="Rounded Rectangle 17"/>
          <p:cNvSpPr/>
          <p:nvPr/>
        </p:nvSpPr>
        <p:spPr>
          <a:xfrm>
            <a:off x="749808" y="294436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948939"/>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20" name="TextBox 19"/>
          <p:cNvSpPr txBox="1"/>
          <p:nvPr/>
        </p:nvSpPr>
        <p:spPr>
          <a:xfrm>
            <a:off x="1143000" y="2898648"/>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Préparer 120 articles + images</a:t>
            </a:r>
          </a:p>
        </p:txBody>
      </p:sp>
      <p:sp>
        <p:nvSpPr>
          <p:cNvPr id="21" name="Rounded Rectangle 20"/>
          <p:cNvSpPr/>
          <p:nvPr/>
        </p:nvSpPr>
        <p:spPr>
          <a:xfrm>
            <a:off x="749808" y="3291839"/>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296411"/>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23" name="TextBox 22"/>
          <p:cNvSpPr txBox="1"/>
          <p:nvPr/>
        </p:nvSpPr>
        <p:spPr>
          <a:xfrm>
            <a:off x="1143000" y="3246120"/>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CLIP / tags ; 40 photos, Top 5</a:t>
            </a:r>
          </a:p>
        </p:txBody>
      </p:sp>
      <p:sp>
        <p:nvSpPr>
          <p:cNvPr id="24" name="Rounded Rectangle 23"/>
          <p:cNvSpPr/>
          <p:nvPr/>
        </p:nvSpPr>
        <p:spPr>
          <a:xfrm>
            <a:off x="749808" y="3639311"/>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26" name="Rounded Rectangle 25"/>
          <p:cNvSpPr/>
          <p:nvPr/>
        </p:nvSpPr>
        <p:spPr>
          <a:xfrm>
            <a:off x="1088136" y="3639311"/>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8136"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28" name="TextBox 27"/>
          <p:cNvSpPr txBox="1"/>
          <p:nvPr/>
        </p:nvSpPr>
        <p:spPr>
          <a:xfrm>
            <a:off x="1481328" y="3593591"/>
            <a:ext cx="2578608"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Revue technique + démo Go/No-Go</a:t>
            </a:r>
          </a:p>
        </p:txBody>
      </p:sp>
      <p:sp>
        <p:nvSpPr>
          <p:cNvPr id="29" name="Rectangle 28"/>
          <p:cNvSpPr/>
          <p:nvPr/>
        </p:nvSpPr>
        <p:spPr>
          <a:xfrm>
            <a:off x="749808" y="4041648"/>
            <a:ext cx="331927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4133087"/>
            <a:ext cx="3282696" cy="164592"/>
          </a:xfrm>
          <a:prstGeom prst="rect">
            <a:avLst/>
          </a:prstGeom>
          <a:noFill/>
        </p:spPr>
        <p:txBody>
          <a:bodyPr wrap="square" lIns="0" rIns="0" tIns="0" bIns="0" anchor="ctr">
            <a:spAutoFit/>
          </a:bodyPr>
          <a:lstStyle/>
          <a:p>
            <a:pPr>
              <a:spcAft>
                <a:spcPts val="0"/>
              </a:spcAft>
            </a:pPr>
            <a:r>
              <a:rPr sz="810" b="1">
                <a:solidFill>
                  <a:srgbClr val="607069"/>
                </a:solidFill>
                <a:latin typeface="Aptos"/>
              </a:rPr>
              <a:t>LIVRABLE CLÉ</a:t>
            </a:r>
          </a:p>
        </p:txBody>
      </p:sp>
      <p:sp>
        <p:nvSpPr>
          <p:cNvPr id="31" name="TextBox 30"/>
          <p:cNvSpPr txBox="1"/>
          <p:nvPr/>
        </p:nvSpPr>
        <p:spPr>
          <a:xfrm>
            <a:off x="758952" y="4306824"/>
            <a:ext cx="3300984" cy="393192"/>
          </a:xfrm>
          <a:prstGeom prst="rect">
            <a:avLst/>
          </a:prstGeom>
          <a:noFill/>
        </p:spPr>
        <p:txBody>
          <a:bodyPr wrap="square" lIns="0" rIns="0" tIns="0" bIns="0" anchor="ctr">
            <a:spAutoFit/>
          </a:bodyPr>
          <a:lstStyle/>
          <a:p>
            <a:pPr>
              <a:spcAft>
                <a:spcPts val="0"/>
              </a:spcAft>
            </a:pPr>
            <a:r>
              <a:rPr sz="1000" b="1">
                <a:solidFill>
                  <a:srgbClr val="17221F"/>
                </a:solidFill>
                <a:latin typeface="Aptos"/>
              </a:rPr>
              <a:t>Rapport P@5 / S@5 + décision Go/No-Go</a:t>
            </a:r>
          </a:p>
        </p:txBody>
      </p:sp>
      <p:sp>
        <p:nvSpPr>
          <p:cNvPr id="32" name="TextBox 31"/>
          <p:cNvSpPr txBox="1"/>
          <p:nvPr/>
        </p:nvSpPr>
        <p:spPr>
          <a:xfrm>
            <a:off x="758952" y="4754880"/>
            <a:ext cx="3300984" cy="182880"/>
          </a:xfrm>
          <a:prstGeom prst="rect">
            <a:avLst/>
          </a:prstGeom>
          <a:noFill/>
        </p:spPr>
        <p:txBody>
          <a:bodyPr wrap="square" lIns="0" rIns="0" tIns="0" bIns="0" anchor="ctr">
            <a:spAutoFit/>
          </a:bodyPr>
          <a:lstStyle/>
          <a:p>
            <a:pPr>
              <a:spcAft>
                <a:spcPts val="0"/>
              </a:spcAft>
            </a:pPr>
            <a:r>
              <a:rPr sz="805" b="1">
                <a:solidFill>
                  <a:srgbClr val="607069"/>
                </a:solidFill>
                <a:latin typeface="Aptos"/>
              </a:rPr>
              <a:t>STAFFING MOYEN PAR PERSONNE</a:t>
            </a:r>
          </a:p>
        </p:txBody>
      </p:sp>
      <p:sp>
        <p:nvSpPr>
          <p:cNvPr id="33" name="Rounded Rectangle 32"/>
          <p:cNvSpPr/>
          <p:nvPr/>
        </p:nvSpPr>
        <p:spPr>
          <a:xfrm>
            <a:off x="758952" y="4967020"/>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 y="4971592"/>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35" name="TextBox 34"/>
          <p:cNvSpPr txBox="1"/>
          <p:nvPr/>
        </p:nvSpPr>
        <p:spPr>
          <a:xfrm>
            <a:off x="1133856" y="4956048"/>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Scientist</a:t>
            </a:r>
          </a:p>
        </p:txBody>
      </p:sp>
      <p:sp>
        <p:nvSpPr>
          <p:cNvPr id="36" name="Rounded Rectangle 35"/>
          <p:cNvSpPr/>
          <p:nvPr/>
        </p:nvSpPr>
        <p:spPr>
          <a:xfrm>
            <a:off x="2679192" y="5038344"/>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679192" y="5038344"/>
            <a:ext cx="335292" cy="64008"/>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66744" y="4956048"/>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36 %</a:t>
            </a:r>
          </a:p>
        </p:txBody>
      </p:sp>
      <p:sp>
        <p:nvSpPr>
          <p:cNvPr id="39" name="Rounded Rectangle 38"/>
          <p:cNvSpPr/>
          <p:nvPr/>
        </p:nvSpPr>
        <p:spPr>
          <a:xfrm>
            <a:off x="758952" y="519104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8952" y="5195620"/>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41" name="TextBox 40"/>
          <p:cNvSpPr txBox="1"/>
          <p:nvPr/>
        </p:nvSpPr>
        <p:spPr>
          <a:xfrm>
            <a:off x="1133856" y="5180076"/>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Engineer</a:t>
            </a:r>
          </a:p>
        </p:txBody>
      </p:sp>
      <p:sp>
        <p:nvSpPr>
          <p:cNvPr id="42" name="Rounded Rectangle 41"/>
          <p:cNvSpPr/>
          <p:nvPr/>
        </p:nvSpPr>
        <p:spPr>
          <a:xfrm>
            <a:off x="2679192" y="5262372"/>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2679192" y="5262372"/>
            <a:ext cx="188366" cy="64008"/>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66744" y="5180076"/>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20 %</a:t>
            </a:r>
          </a:p>
        </p:txBody>
      </p:sp>
      <p:sp>
        <p:nvSpPr>
          <p:cNvPr id="45" name="Rounded Rectangle 44"/>
          <p:cNvSpPr/>
          <p:nvPr/>
        </p:nvSpPr>
        <p:spPr>
          <a:xfrm>
            <a:off x="758952" y="5415076"/>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8952" y="5419648"/>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47" name="TextBox 46"/>
          <p:cNvSpPr txBox="1"/>
          <p:nvPr/>
        </p:nvSpPr>
        <p:spPr>
          <a:xfrm>
            <a:off x="1133856" y="5404104"/>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Tech Lead Data</a:t>
            </a:r>
          </a:p>
        </p:txBody>
      </p:sp>
      <p:sp>
        <p:nvSpPr>
          <p:cNvPr id="48" name="Rounded Rectangle 47"/>
          <p:cNvSpPr/>
          <p:nvPr/>
        </p:nvSpPr>
        <p:spPr>
          <a:xfrm>
            <a:off x="2679192" y="5486400"/>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2679192" y="5486400"/>
            <a:ext cx="251469" cy="64008"/>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66744" y="5404104"/>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27 %</a:t>
            </a:r>
          </a:p>
        </p:txBody>
      </p:sp>
      <p:sp>
        <p:nvSpPr>
          <p:cNvPr id="51" name="Rounded Rectangle 50"/>
          <p:cNvSpPr/>
          <p:nvPr/>
        </p:nvSpPr>
        <p:spPr>
          <a:xfrm>
            <a:off x="758952" y="5639104"/>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58952" y="5643676"/>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53" name="TextBox 52"/>
          <p:cNvSpPr txBox="1"/>
          <p:nvPr/>
        </p:nvSpPr>
        <p:spPr>
          <a:xfrm>
            <a:off x="1133856" y="5628132"/>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MLOps Engineer</a:t>
            </a:r>
          </a:p>
        </p:txBody>
      </p:sp>
      <p:sp>
        <p:nvSpPr>
          <p:cNvPr id="54" name="Rounded Rectangle 53"/>
          <p:cNvSpPr/>
          <p:nvPr/>
        </p:nvSpPr>
        <p:spPr>
          <a:xfrm>
            <a:off x="2679192" y="5710428"/>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2679192" y="5710428"/>
            <a:ext cx="251469" cy="64008"/>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666744" y="5628132"/>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27 %</a:t>
            </a:r>
          </a:p>
        </p:txBody>
      </p:sp>
      <p:sp>
        <p:nvSpPr>
          <p:cNvPr id="57" name="Rounded Rectangle 56"/>
          <p:cNvSpPr/>
          <p:nvPr/>
        </p:nvSpPr>
        <p:spPr>
          <a:xfrm>
            <a:off x="4315968" y="1975104"/>
            <a:ext cx="3557016" cy="3913632"/>
          </a:xfrm>
          <a:prstGeom prst="roundRect">
            <a:avLst>
              <a:gd name="adj" fmla="val 12000"/>
            </a:avLst>
          </a:prstGeom>
          <a:solidFill>
            <a:srgbClr val="F8FAF7"/>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315968" y="1975104"/>
            <a:ext cx="3557016" cy="566928"/>
          </a:xfrm>
          <a:prstGeom prst="roundRect">
            <a:avLst>
              <a:gd name="adj" fmla="val 12000"/>
            </a:avLst>
          </a:prstGeom>
          <a:solidFill>
            <a:srgbClr val="446F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434840" y="2020824"/>
            <a:ext cx="3319272" cy="246888"/>
          </a:xfrm>
          <a:prstGeom prst="rect">
            <a:avLst/>
          </a:prstGeom>
          <a:noFill/>
        </p:spPr>
        <p:txBody>
          <a:bodyPr wrap="square" lIns="0" rIns="0" tIns="0" bIns="0" anchor="ctr">
            <a:spAutoFit/>
          </a:bodyPr>
          <a:lstStyle/>
          <a:p>
            <a:pPr>
              <a:spcAft>
                <a:spcPts val="0"/>
              </a:spcAft>
            </a:pPr>
            <a:r>
              <a:rPr sz="1500" b="1">
                <a:solidFill>
                  <a:srgbClr val="FFFFFF"/>
                </a:solidFill>
                <a:latin typeface="Aptos"/>
              </a:rPr>
              <a:t>02  /  MVP</a:t>
            </a:r>
          </a:p>
        </p:txBody>
      </p:sp>
      <p:sp>
        <p:nvSpPr>
          <p:cNvPr id="60" name="TextBox 59"/>
          <p:cNvSpPr txBox="1"/>
          <p:nvPr/>
        </p:nvSpPr>
        <p:spPr>
          <a:xfrm>
            <a:off x="4434840" y="2295144"/>
            <a:ext cx="3319272" cy="164592"/>
          </a:xfrm>
          <a:prstGeom prst="rect">
            <a:avLst/>
          </a:prstGeom>
          <a:noFill/>
        </p:spPr>
        <p:txBody>
          <a:bodyPr wrap="square" lIns="0" rIns="0" tIns="0" bIns="0" anchor="ctr">
            <a:spAutoFit/>
          </a:bodyPr>
          <a:lstStyle/>
          <a:p>
            <a:pPr>
              <a:spcAft>
                <a:spcPts val="0"/>
              </a:spcAft>
            </a:pPr>
            <a:r>
              <a:rPr sz="950" b="0">
                <a:solidFill>
                  <a:srgbClr val="FFFFFF"/>
                </a:solidFill>
                <a:latin typeface="Aptos"/>
              </a:rPr>
              <a:t>S4–S13  ·  10 semaines</a:t>
            </a:r>
          </a:p>
        </p:txBody>
      </p:sp>
      <p:sp>
        <p:nvSpPr>
          <p:cNvPr id="61" name="TextBox 60"/>
          <p:cNvSpPr txBox="1"/>
          <p:nvPr/>
        </p:nvSpPr>
        <p:spPr>
          <a:xfrm>
            <a:off x="4443984" y="2615184"/>
            <a:ext cx="3300984" cy="219456"/>
          </a:xfrm>
          <a:prstGeom prst="rect">
            <a:avLst/>
          </a:prstGeom>
          <a:noFill/>
        </p:spPr>
        <p:txBody>
          <a:bodyPr wrap="square" lIns="0" rIns="0" tIns="0" bIns="0" anchor="ctr">
            <a:spAutoFit/>
          </a:bodyPr>
          <a:lstStyle/>
          <a:p>
            <a:pPr>
              <a:spcAft>
                <a:spcPts val="0"/>
              </a:spcAft>
            </a:pPr>
            <a:r>
              <a:rPr sz="1030" b="1">
                <a:solidFill>
                  <a:srgbClr val="213D31"/>
                </a:solidFill>
                <a:latin typeface="Aptos"/>
              </a:rPr>
              <a:t>Industrialiser le moteur IA</a:t>
            </a:r>
          </a:p>
        </p:txBody>
      </p:sp>
      <p:sp>
        <p:nvSpPr>
          <p:cNvPr id="62" name="Rounded Rectangle 61"/>
          <p:cNvSpPr/>
          <p:nvPr/>
        </p:nvSpPr>
        <p:spPr>
          <a:xfrm>
            <a:off x="4434840" y="294436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434840" y="2948939"/>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64" name="TextBox 63"/>
          <p:cNvSpPr txBox="1"/>
          <p:nvPr/>
        </p:nvSpPr>
        <p:spPr>
          <a:xfrm>
            <a:off x="4828032" y="2898648"/>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Ingestion, qualité + index incrémental</a:t>
            </a:r>
          </a:p>
        </p:txBody>
      </p:sp>
      <p:sp>
        <p:nvSpPr>
          <p:cNvPr id="65" name="Rounded Rectangle 64"/>
          <p:cNvSpPr/>
          <p:nvPr/>
        </p:nvSpPr>
        <p:spPr>
          <a:xfrm>
            <a:off x="4434840" y="3291839"/>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434840" y="3296411"/>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67" name="TextBox 66"/>
          <p:cNvSpPr txBox="1"/>
          <p:nvPr/>
        </p:nvSpPr>
        <p:spPr>
          <a:xfrm>
            <a:off x="4828032" y="3246120"/>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Classement, préférences + feedback</a:t>
            </a:r>
          </a:p>
        </p:txBody>
      </p:sp>
      <p:sp>
        <p:nvSpPr>
          <p:cNvPr id="68" name="Rounded Rectangle 67"/>
          <p:cNvSpPr/>
          <p:nvPr/>
        </p:nvSpPr>
        <p:spPr>
          <a:xfrm>
            <a:off x="4434840" y="3639311"/>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434840"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70" name="Rounded Rectangle 69"/>
          <p:cNvSpPr/>
          <p:nvPr/>
        </p:nvSpPr>
        <p:spPr>
          <a:xfrm>
            <a:off x="4773168" y="3639311"/>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73168"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72" name="TextBox 71"/>
          <p:cNvSpPr txBox="1"/>
          <p:nvPr/>
        </p:nvSpPr>
        <p:spPr>
          <a:xfrm>
            <a:off x="5166360" y="3593591"/>
            <a:ext cx="2578608"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API IA, CI/CD, charge + sécurité</a:t>
            </a:r>
          </a:p>
        </p:txBody>
      </p:sp>
      <p:sp>
        <p:nvSpPr>
          <p:cNvPr id="73" name="Rectangle 72"/>
          <p:cNvSpPr/>
          <p:nvPr/>
        </p:nvSpPr>
        <p:spPr>
          <a:xfrm>
            <a:off x="4434840" y="4041648"/>
            <a:ext cx="331927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443984" y="4133087"/>
            <a:ext cx="3282696" cy="164592"/>
          </a:xfrm>
          <a:prstGeom prst="rect">
            <a:avLst/>
          </a:prstGeom>
          <a:noFill/>
        </p:spPr>
        <p:txBody>
          <a:bodyPr wrap="square" lIns="0" rIns="0" tIns="0" bIns="0" anchor="ctr">
            <a:spAutoFit/>
          </a:bodyPr>
          <a:lstStyle/>
          <a:p>
            <a:pPr>
              <a:spcAft>
                <a:spcPts val="0"/>
              </a:spcAft>
            </a:pPr>
            <a:r>
              <a:rPr sz="810" b="1">
                <a:solidFill>
                  <a:srgbClr val="607069"/>
                </a:solidFill>
                <a:latin typeface="Aptos"/>
              </a:rPr>
              <a:t>LIVRABLE CLÉ</a:t>
            </a:r>
          </a:p>
        </p:txBody>
      </p:sp>
      <p:sp>
        <p:nvSpPr>
          <p:cNvPr id="75" name="TextBox 74"/>
          <p:cNvSpPr txBox="1"/>
          <p:nvPr/>
        </p:nvSpPr>
        <p:spPr>
          <a:xfrm>
            <a:off x="4443984" y="4306824"/>
            <a:ext cx="3300984" cy="393192"/>
          </a:xfrm>
          <a:prstGeom prst="rect">
            <a:avLst/>
          </a:prstGeom>
          <a:noFill/>
        </p:spPr>
        <p:txBody>
          <a:bodyPr wrap="square" lIns="0" rIns="0" tIns="0" bIns="0" anchor="ctr">
            <a:spAutoFit/>
          </a:bodyPr>
          <a:lstStyle/>
          <a:p>
            <a:pPr>
              <a:spcAft>
                <a:spcPts val="0"/>
              </a:spcAft>
            </a:pPr>
            <a:r>
              <a:rPr sz="1000" b="1">
                <a:solidFill>
                  <a:srgbClr val="17221F"/>
                </a:solidFill>
                <a:latin typeface="Aptos"/>
              </a:rPr>
              <a:t>Moteur + API + tableaux de suivi ; pilote</a:t>
            </a:r>
          </a:p>
        </p:txBody>
      </p:sp>
      <p:sp>
        <p:nvSpPr>
          <p:cNvPr id="76" name="TextBox 75"/>
          <p:cNvSpPr txBox="1"/>
          <p:nvPr/>
        </p:nvSpPr>
        <p:spPr>
          <a:xfrm>
            <a:off x="4443984" y="4754880"/>
            <a:ext cx="3300984" cy="182880"/>
          </a:xfrm>
          <a:prstGeom prst="rect">
            <a:avLst/>
          </a:prstGeom>
          <a:noFill/>
        </p:spPr>
        <p:txBody>
          <a:bodyPr wrap="square" lIns="0" rIns="0" tIns="0" bIns="0" anchor="ctr">
            <a:spAutoFit/>
          </a:bodyPr>
          <a:lstStyle/>
          <a:p>
            <a:pPr>
              <a:spcAft>
                <a:spcPts val="0"/>
              </a:spcAft>
            </a:pPr>
            <a:r>
              <a:rPr sz="805" b="1">
                <a:solidFill>
                  <a:srgbClr val="607069"/>
                </a:solidFill>
                <a:latin typeface="Aptos"/>
              </a:rPr>
              <a:t>STAFFING MOYEN PAR PERSONNE</a:t>
            </a:r>
          </a:p>
        </p:txBody>
      </p:sp>
      <p:sp>
        <p:nvSpPr>
          <p:cNvPr id="77" name="Rounded Rectangle 76"/>
          <p:cNvSpPr/>
          <p:nvPr/>
        </p:nvSpPr>
        <p:spPr>
          <a:xfrm>
            <a:off x="4443984" y="4967020"/>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443984" y="4971592"/>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79" name="TextBox 78"/>
          <p:cNvSpPr txBox="1"/>
          <p:nvPr/>
        </p:nvSpPr>
        <p:spPr>
          <a:xfrm>
            <a:off x="4818888" y="4956048"/>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Scientist</a:t>
            </a:r>
          </a:p>
        </p:txBody>
      </p:sp>
      <p:sp>
        <p:nvSpPr>
          <p:cNvPr id="80" name="Rounded Rectangle 79"/>
          <p:cNvSpPr/>
          <p:nvPr/>
        </p:nvSpPr>
        <p:spPr>
          <a:xfrm>
            <a:off x="6364224" y="5038344"/>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6364224" y="5038344"/>
            <a:ext cx="470916" cy="64008"/>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351776" y="4956048"/>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50 %</a:t>
            </a:r>
          </a:p>
        </p:txBody>
      </p:sp>
      <p:sp>
        <p:nvSpPr>
          <p:cNvPr id="83" name="Rounded Rectangle 82"/>
          <p:cNvSpPr/>
          <p:nvPr/>
        </p:nvSpPr>
        <p:spPr>
          <a:xfrm>
            <a:off x="4443984" y="519104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443984" y="5195620"/>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85" name="TextBox 84"/>
          <p:cNvSpPr txBox="1"/>
          <p:nvPr/>
        </p:nvSpPr>
        <p:spPr>
          <a:xfrm>
            <a:off x="4818888" y="5180076"/>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Engineer</a:t>
            </a:r>
          </a:p>
        </p:txBody>
      </p:sp>
      <p:sp>
        <p:nvSpPr>
          <p:cNvPr id="86" name="Rounded Rectangle 85"/>
          <p:cNvSpPr/>
          <p:nvPr/>
        </p:nvSpPr>
        <p:spPr>
          <a:xfrm>
            <a:off x="6364224" y="5262372"/>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6364224" y="5262372"/>
            <a:ext cx="518007" cy="64008"/>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351776" y="5180076"/>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55 %</a:t>
            </a:r>
          </a:p>
        </p:txBody>
      </p:sp>
      <p:sp>
        <p:nvSpPr>
          <p:cNvPr id="89" name="Rounded Rectangle 88"/>
          <p:cNvSpPr/>
          <p:nvPr/>
        </p:nvSpPr>
        <p:spPr>
          <a:xfrm>
            <a:off x="4443984" y="5415076"/>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443984" y="5419648"/>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91" name="TextBox 90"/>
          <p:cNvSpPr txBox="1"/>
          <p:nvPr/>
        </p:nvSpPr>
        <p:spPr>
          <a:xfrm>
            <a:off x="4818888" y="5404104"/>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Tech Lead Data</a:t>
            </a:r>
          </a:p>
        </p:txBody>
      </p:sp>
      <p:sp>
        <p:nvSpPr>
          <p:cNvPr id="92" name="Rounded Rectangle 91"/>
          <p:cNvSpPr/>
          <p:nvPr/>
        </p:nvSpPr>
        <p:spPr>
          <a:xfrm>
            <a:off x="6364224" y="5486400"/>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6364224" y="5486400"/>
            <a:ext cx="376732" cy="64008"/>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351776" y="5404104"/>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40 %</a:t>
            </a:r>
          </a:p>
        </p:txBody>
      </p:sp>
      <p:sp>
        <p:nvSpPr>
          <p:cNvPr id="95" name="Rounded Rectangle 94"/>
          <p:cNvSpPr/>
          <p:nvPr/>
        </p:nvSpPr>
        <p:spPr>
          <a:xfrm>
            <a:off x="4443984" y="5639104"/>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443984" y="5643676"/>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97" name="TextBox 96"/>
          <p:cNvSpPr txBox="1"/>
          <p:nvPr/>
        </p:nvSpPr>
        <p:spPr>
          <a:xfrm>
            <a:off x="4818888" y="5628132"/>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MLOps Engineer</a:t>
            </a:r>
          </a:p>
        </p:txBody>
      </p:sp>
      <p:sp>
        <p:nvSpPr>
          <p:cNvPr id="98" name="Rounded Rectangle 97"/>
          <p:cNvSpPr/>
          <p:nvPr/>
        </p:nvSpPr>
        <p:spPr>
          <a:xfrm>
            <a:off x="6364224" y="5710428"/>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6364224" y="5710428"/>
            <a:ext cx="565099" cy="64008"/>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351776" y="5628132"/>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60 %</a:t>
            </a:r>
          </a:p>
        </p:txBody>
      </p:sp>
      <p:sp>
        <p:nvSpPr>
          <p:cNvPr id="101" name="Rounded Rectangle 100"/>
          <p:cNvSpPr/>
          <p:nvPr/>
        </p:nvSpPr>
        <p:spPr>
          <a:xfrm>
            <a:off x="8001000" y="1975104"/>
            <a:ext cx="3557016" cy="3913632"/>
          </a:xfrm>
          <a:prstGeom prst="roundRect">
            <a:avLst>
              <a:gd name="adj" fmla="val 12000"/>
            </a:avLst>
          </a:prstGeom>
          <a:solidFill>
            <a:srgbClr val="F8FAF7"/>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8001000" y="1975104"/>
            <a:ext cx="3557016" cy="566928"/>
          </a:xfrm>
          <a:prstGeom prst="roundRect">
            <a:avLst>
              <a:gd name="adj" fmla="val 12000"/>
            </a:avLst>
          </a:prstGeom>
          <a:solidFill>
            <a:srgbClr val="8B9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119872" y="2020824"/>
            <a:ext cx="3319272" cy="246888"/>
          </a:xfrm>
          <a:prstGeom prst="rect">
            <a:avLst/>
          </a:prstGeom>
          <a:noFill/>
        </p:spPr>
        <p:txBody>
          <a:bodyPr wrap="square" lIns="0" rIns="0" tIns="0" bIns="0" anchor="ctr">
            <a:spAutoFit/>
          </a:bodyPr>
          <a:lstStyle/>
          <a:p>
            <a:pPr>
              <a:spcAft>
                <a:spcPts val="0"/>
              </a:spcAft>
            </a:pPr>
            <a:r>
              <a:rPr sz="1500" b="1">
                <a:solidFill>
                  <a:srgbClr val="FFFFFF"/>
                </a:solidFill>
                <a:latin typeface="Aptos"/>
              </a:rPr>
              <a:t>03  /  Run initial</a:t>
            </a:r>
          </a:p>
        </p:txBody>
      </p:sp>
      <p:sp>
        <p:nvSpPr>
          <p:cNvPr id="104" name="TextBox 103"/>
          <p:cNvSpPr txBox="1"/>
          <p:nvPr/>
        </p:nvSpPr>
        <p:spPr>
          <a:xfrm>
            <a:off x="8119872" y="2295144"/>
            <a:ext cx="3319272" cy="164592"/>
          </a:xfrm>
          <a:prstGeom prst="rect">
            <a:avLst/>
          </a:prstGeom>
          <a:noFill/>
        </p:spPr>
        <p:txBody>
          <a:bodyPr wrap="square" lIns="0" rIns="0" tIns="0" bIns="0" anchor="ctr">
            <a:spAutoFit/>
          </a:bodyPr>
          <a:lstStyle/>
          <a:p>
            <a:pPr>
              <a:spcAft>
                <a:spcPts val="0"/>
              </a:spcAft>
            </a:pPr>
            <a:r>
              <a:rPr sz="950" b="0">
                <a:solidFill>
                  <a:srgbClr val="FFFFFF"/>
                </a:solidFill>
                <a:latin typeface="Aptos"/>
              </a:rPr>
              <a:t>S14–S17  ·  4 semaines</a:t>
            </a:r>
          </a:p>
        </p:txBody>
      </p:sp>
      <p:sp>
        <p:nvSpPr>
          <p:cNvPr id="105" name="TextBox 104"/>
          <p:cNvSpPr txBox="1"/>
          <p:nvPr/>
        </p:nvSpPr>
        <p:spPr>
          <a:xfrm>
            <a:off x="8129016" y="2615184"/>
            <a:ext cx="3300984" cy="219456"/>
          </a:xfrm>
          <a:prstGeom prst="rect">
            <a:avLst/>
          </a:prstGeom>
          <a:noFill/>
        </p:spPr>
        <p:txBody>
          <a:bodyPr wrap="square" lIns="0" rIns="0" tIns="0" bIns="0" anchor="ctr">
            <a:spAutoFit/>
          </a:bodyPr>
          <a:lstStyle/>
          <a:p>
            <a:pPr>
              <a:spcAft>
                <a:spcPts val="0"/>
              </a:spcAft>
            </a:pPr>
            <a:r>
              <a:rPr sz="1030" b="1">
                <a:solidFill>
                  <a:srgbClr val="213D31"/>
                </a:solidFill>
                <a:latin typeface="Aptos"/>
              </a:rPr>
              <a:t>Déployer progressivement</a:t>
            </a:r>
          </a:p>
        </p:txBody>
      </p:sp>
      <p:sp>
        <p:nvSpPr>
          <p:cNvPr id="106" name="Rounded Rectangle 105"/>
          <p:cNvSpPr/>
          <p:nvPr/>
        </p:nvSpPr>
        <p:spPr>
          <a:xfrm>
            <a:off x="8119872" y="2944368"/>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119872" y="2948939"/>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108" name="TextBox 107"/>
          <p:cNvSpPr txBox="1"/>
          <p:nvPr/>
        </p:nvSpPr>
        <p:spPr>
          <a:xfrm>
            <a:off x="8513064" y="2898648"/>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Canary / pilote → extension + rollback</a:t>
            </a:r>
          </a:p>
        </p:txBody>
      </p:sp>
      <p:sp>
        <p:nvSpPr>
          <p:cNvPr id="109" name="Rounded Rectangle 108"/>
          <p:cNvSpPr/>
          <p:nvPr/>
        </p:nvSpPr>
        <p:spPr>
          <a:xfrm>
            <a:off x="8119872" y="3291839"/>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119872" y="3296411"/>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111" name="TextBox 110"/>
          <p:cNvSpPr txBox="1"/>
          <p:nvPr/>
        </p:nvSpPr>
        <p:spPr>
          <a:xfrm>
            <a:off x="8513064" y="3246120"/>
            <a:ext cx="2916936"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MàJ catalogue, index + purge RGPD</a:t>
            </a:r>
          </a:p>
        </p:txBody>
      </p:sp>
      <p:sp>
        <p:nvSpPr>
          <p:cNvPr id="112" name="Rounded Rectangle 111"/>
          <p:cNvSpPr/>
          <p:nvPr/>
        </p:nvSpPr>
        <p:spPr>
          <a:xfrm>
            <a:off x="8119872" y="3639311"/>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119872"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114" name="Rounded Rectangle 113"/>
          <p:cNvSpPr/>
          <p:nvPr/>
        </p:nvSpPr>
        <p:spPr>
          <a:xfrm>
            <a:off x="8458200" y="3639311"/>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458200" y="3643883"/>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116" name="TextBox 115"/>
          <p:cNvSpPr txBox="1"/>
          <p:nvPr/>
        </p:nvSpPr>
        <p:spPr>
          <a:xfrm>
            <a:off x="8851392" y="3593591"/>
            <a:ext cx="2578608" cy="329184"/>
          </a:xfrm>
          <a:prstGeom prst="rect">
            <a:avLst/>
          </a:prstGeom>
          <a:noFill/>
        </p:spPr>
        <p:txBody>
          <a:bodyPr wrap="square" lIns="0" rIns="0" tIns="0" bIns="0" anchor="ctr">
            <a:spAutoFit/>
          </a:bodyPr>
          <a:lstStyle/>
          <a:p>
            <a:pPr>
              <a:spcAft>
                <a:spcPts val="0"/>
              </a:spcAft>
            </a:pPr>
            <a:r>
              <a:rPr sz="925" b="0">
                <a:solidFill>
                  <a:srgbClr val="17221F"/>
                </a:solidFill>
                <a:latin typeface="Aptos"/>
              </a:rPr>
              <a:t>Qualité, incidents, coûts + KPI</a:t>
            </a:r>
          </a:p>
        </p:txBody>
      </p:sp>
      <p:sp>
        <p:nvSpPr>
          <p:cNvPr id="117" name="Rectangle 116"/>
          <p:cNvSpPr/>
          <p:nvPr/>
        </p:nvSpPr>
        <p:spPr>
          <a:xfrm>
            <a:off x="8119872" y="4041648"/>
            <a:ext cx="331927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129016" y="4133087"/>
            <a:ext cx="3282696" cy="164592"/>
          </a:xfrm>
          <a:prstGeom prst="rect">
            <a:avLst/>
          </a:prstGeom>
          <a:noFill/>
        </p:spPr>
        <p:txBody>
          <a:bodyPr wrap="square" lIns="0" rIns="0" tIns="0" bIns="0" anchor="ctr">
            <a:spAutoFit/>
          </a:bodyPr>
          <a:lstStyle/>
          <a:p>
            <a:pPr>
              <a:spcAft>
                <a:spcPts val="0"/>
              </a:spcAft>
            </a:pPr>
            <a:r>
              <a:rPr sz="810" b="1">
                <a:solidFill>
                  <a:srgbClr val="607069"/>
                </a:solidFill>
                <a:latin typeface="Aptos"/>
              </a:rPr>
              <a:t>LIVRABLE CLÉ</a:t>
            </a:r>
          </a:p>
        </p:txBody>
      </p:sp>
      <p:sp>
        <p:nvSpPr>
          <p:cNvPr id="119" name="TextBox 118"/>
          <p:cNvSpPr txBox="1"/>
          <p:nvPr/>
        </p:nvSpPr>
        <p:spPr>
          <a:xfrm>
            <a:off x="8129016" y="4306824"/>
            <a:ext cx="3300984" cy="393192"/>
          </a:xfrm>
          <a:prstGeom prst="rect">
            <a:avLst/>
          </a:prstGeom>
          <a:noFill/>
        </p:spPr>
        <p:txBody>
          <a:bodyPr wrap="square" lIns="0" rIns="0" tIns="0" bIns="0" anchor="ctr">
            <a:spAutoFit/>
          </a:bodyPr>
          <a:lstStyle/>
          <a:p>
            <a:pPr>
              <a:spcAft>
                <a:spcPts val="0"/>
              </a:spcAft>
            </a:pPr>
            <a:r>
              <a:rPr sz="1000" b="1">
                <a:solidFill>
                  <a:srgbClr val="17221F"/>
                </a:solidFill>
                <a:latin typeface="Aptos"/>
              </a:rPr>
              <a:t>Service stabilisé + bilan SLA / incidents</a:t>
            </a:r>
          </a:p>
        </p:txBody>
      </p:sp>
      <p:sp>
        <p:nvSpPr>
          <p:cNvPr id="120" name="TextBox 119"/>
          <p:cNvSpPr txBox="1"/>
          <p:nvPr/>
        </p:nvSpPr>
        <p:spPr>
          <a:xfrm>
            <a:off x="8129016" y="4754880"/>
            <a:ext cx="3300984" cy="182880"/>
          </a:xfrm>
          <a:prstGeom prst="rect">
            <a:avLst/>
          </a:prstGeom>
          <a:noFill/>
        </p:spPr>
        <p:txBody>
          <a:bodyPr wrap="square" lIns="0" rIns="0" tIns="0" bIns="0" anchor="ctr">
            <a:spAutoFit/>
          </a:bodyPr>
          <a:lstStyle/>
          <a:p>
            <a:pPr>
              <a:spcAft>
                <a:spcPts val="0"/>
              </a:spcAft>
            </a:pPr>
            <a:r>
              <a:rPr sz="805" b="1">
                <a:solidFill>
                  <a:srgbClr val="607069"/>
                </a:solidFill>
                <a:latin typeface="Aptos"/>
              </a:rPr>
              <a:t>STAFFING MOYEN PAR PERSONNE</a:t>
            </a:r>
          </a:p>
        </p:txBody>
      </p:sp>
      <p:sp>
        <p:nvSpPr>
          <p:cNvPr id="121" name="Rounded Rectangle 120"/>
          <p:cNvSpPr/>
          <p:nvPr/>
        </p:nvSpPr>
        <p:spPr>
          <a:xfrm>
            <a:off x="8129016" y="4967020"/>
            <a:ext cx="292608" cy="219456"/>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129016" y="4971592"/>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DS</a:t>
            </a:r>
          </a:p>
        </p:txBody>
      </p:sp>
      <p:sp>
        <p:nvSpPr>
          <p:cNvPr id="123" name="TextBox 122"/>
          <p:cNvSpPr txBox="1"/>
          <p:nvPr/>
        </p:nvSpPr>
        <p:spPr>
          <a:xfrm>
            <a:off x="8503920" y="4956048"/>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Scientist</a:t>
            </a:r>
          </a:p>
        </p:txBody>
      </p:sp>
      <p:sp>
        <p:nvSpPr>
          <p:cNvPr id="124" name="Rounded Rectangle 123"/>
          <p:cNvSpPr/>
          <p:nvPr/>
        </p:nvSpPr>
        <p:spPr>
          <a:xfrm>
            <a:off x="10049256" y="5038344"/>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10049256" y="5038344"/>
            <a:ext cx="157285" cy="64008"/>
          </a:xfrm>
          <a:prstGeom prst="roundRect">
            <a:avLst>
              <a:gd name="adj" fmla="val 12000"/>
            </a:avLst>
          </a:prstGeom>
          <a:solidFill>
            <a:srgbClr val="285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1036808" y="4956048"/>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17 %</a:t>
            </a:r>
          </a:p>
        </p:txBody>
      </p:sp>
      <p:sp>
        <p:nvSpPr>
          <p:cNvPr id="127" name="Rounded Rectangle 126"/>
          <p:cNvSpPr/>
          <p:nvPr/>
        </p:nvSpPr>
        <p:spPr>
          <a:xfrm>
            <a:off x="8129016" y="5191048"/>
            <a:ext cx="292608" cy="219456"/>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129016" y="5195620"/>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DE</a:t>
            </a:r>
          </a:p>
        </p:txBody>
      </p:sp>
      <p:sp>
        <p:nvSpPr>
          <p:cNvPr id="129" name="TextBox 128"/>
          <p:cNvSpPr txBox="1"/>
          <p:nvPr/>
        </p:nvSpPr>
        <p:spPr>
          <a:xfrm>
            <a:off x="8503920" y="5180076"/>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Data Engineer</a:t>
            </a:r>
          </a:p>
        </p:txBody>
      </p:sp>
      <p:sp>
        <p:nvSpPr>
          <p:cNvPr id="130" name="Rounded Rectangle 129"/>
          <p:cNvSpPr/>
          <p:nvPr/>
        </p:nvSpPr>
        <p:spPr>
          <a:xfrm>
            <a:off x="10049256" y="5262372"/>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ounded Rectangle 130"/>
          <p:cNvSpPr/>
          <p:nvPr/>
        </p:nvSpPr>
        <p:spPr>
          <a:xfrm>
            <a:off x="10049256" y="5262372"/>
            <a:ext cx="188366" cy="64008"/>
          </a:xfrm>
          <a:prstGeom prst="roundRect">
            <a:avLst>
              <a:gd name="adj" fmla="val 12000"/>
            </a:avLst>
          </a:prstGeom>
          <a:solidFill>
            <a:srgbClr val="446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1036808" y="5180076"/>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20 %</a:t>
            </a:r>
          </a:p>
        </p:txBody>
      </p:sp>
      <p:sp>
        <p:nvSpPr>
          <p:cNvPr id="133" name="Rounded Rectangle 132"/>
          <p:cNvSpPr/>
          <p:nvPr/>
        </p:nvSpPr>
        <p:spPr>
          <a:xfrm>
            <a:off x="8129016" y="5415076"/>
            <a:ext cx="292608" cy="219456"/>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129016" y="5419648"/>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TL</a:t>
            </a:r>
          </a:p>
        </p:txBody>
      </p:sp>
      <p:sp>
        <p:nvSpPr>
          <p:cNvPr id="135" name="TextBox 134"/>
          <p:cNvSpPr txBox="1"/>
          <p:nvPr/>
        </p:nvSpPr>
        <p:spPr>
          <a:xfrm>
            <a:off x="8503920" y="5404104"/>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Tech Lead Data</a:t>
            </a:r>
          </a:p>
        </p:txBody>
      </p:sp>
      <p:sp>
        <p:nvSpPr>
          <p:cNvPr id="136" name="Rounded Rectangle 135"/>
          <p:cNvSpPr/>
          <p:nvPr/>
        </p:nvSpPr>
        <p:spPr>
          <a:xfrm>
            <a:off x="10049256" y="5486400"/>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ounded Rectangle 136"/>
          <p:cNvSpPr/>
          <p:nvPr/>
        </p:nvSpPr>
        <p:spPr>
          <a:xfrm>
            <a:off x="10049256" y="5486400"/>
            <a:ext cx="188366" cy="64008"/>
          </a:xfrm>
          <a:prstGeom prst="roundRect">
            <a:avLst>
              <a:gd name="adj" fmla="val 12000"/>
            </a:avLst>
          </a:prstGeom>
          <a:solidFill>
            <a:srgbClr val="725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036808" y="5404104"/>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20 %</a:t>
            </a:r>
          </a:p>
        </p:txBody>
      </p:sp>
      <p:sp>
        <p:nvSpPr>
          <p:cNvPr id="139" name="Rounded Rectangle 138"/>
          <p:cNvSpPr/>
          <p:nvPr/>
        </p:nvSpPr>
        <p:spPr>
          <a:xfrm>
            <a:off x="8129016" y="5639104"/>
            <a:ext cx="292608" cy="219456"/>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129016" y="5643676"/>
            <a:ext cx="292608" cy="201168"/>
          </a:xfrm>
          <a:prstGeom prst="rect">
            <a:avLst/>
          </a:prstGeom>
          <a:noFill/>
        </p:spPr>
        <p:txBody>
          <a:bodyPr wrap="square" lIns="0" rIns="0" tIns="0" bIns="0" anchor="ctr">
            <a:spAutoFit/>
          </a:bodyPr>
          <a:lstStyle/>
          <a:p>
            <a:pPr algn="ctr">
              <a:spcAft>
                <a:spcPts val="0"/>
              </a:spcAft>
            </a:pPr>
            <a:r>
              <a:rPr sz="800" b="1">
                <a:solidFill>
                  <a:srgbClr val="FFFFFF"/>
                </a:solidFill>
                <a:latin typeface="Aptos"/>
              </a:rPr>
              <a:t>MO</a:t>
            </a:r>
          </a:p>
        </p:txBody>
      </p:sp>
      <p:sp>
        <p:nvSpPr>
          <p:cNvPr id="141" name="TextBox 140"/>
          <p:cNvSpPr txBox="1"/>
          <p:nvPr/>
        </p:nvSpPr>
        <p:spPr>
          <a:xfrm>
            <a:off x="8503920" y="5628132"/>
            <a:ext cx="1527048" cy="224028"/>
          </a:xfrm>
          <a:prstGeom prst="rect">
            <a:avLst/>
          </a:prstGeom>
          <a:noFill/>
        </p:spPr>
        <p:txBody>
          <a:bodyPr wrap="square" lIns="0" rIns="0" tIns="0" bIns="0" anchor="ctr">
            <a:spAutoFit/>
          </a:bodyPr>
          <a:lstStyle/>
          <a:p>
            <a:pPr>
              <a:spcAft>
                <a:spcPts val="0"/>
              </a:spcAft>
            </a:pPr>
            <a:r>
              <a:rPr sz="925" b="0">
                <a:solidFill>
                  <a:srgbClr val="17221F"/>
                </a:solidFill>
                <a:latin typeface="Aptos"/>
              </a:rPr>
              <a:t>MLOps Engineer</a:t>
            </a:r>
          </a:p>
        </p:txBody>
      </p:sp>
      <p:sp>
        <p:nvSpPr>
          <p:cNvPr id="142" name="Rounded Rectangle 141"/>
          <p:cNvSpPr/>
          <p:nvPr/>
        </p:nvSpPr>
        <p:spPr>
          <a:xfrm>
            <a:off x="10049256" y="5710428"/>
            <a:ext cx="941832" cy="64008"/>
          </a:xfrm>
          <a:prstGeom prst="roundRect">
            <a:avLst>
              <a:gd name="adj" fmla="val 12000"/>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ounded Rectangle 142"/>
          <p:cNvSpPr/>
          <p:nvPr/>
        </p:nvSpPr>
        <p:spPr>
          <a:xfrm>
            <a:off x="10049256" y="5710428"/>
            <a:ext cx="659282" cy="64008"/>
          </a:xfrm>
          <a:prstGeom prst="roundRect">
            <a:avLst>
              <a:gd name="adj" fmla="val 12000"/>
            </a:avLst>
          </a:prstGeom>
          <a:solidFill>
            <a:srgbClr val="A36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036808" y="5628132"/>
            <a:ext cx="429768" cy="219456"/>
          </a:xfrm>
          <a:prstGeom prst="rect">
            <a:avLst/>
          </a:prstGeom>
          <a:noFill/>
        </p:spPr>
        <p:txBody>
          <a:bodyPr wrap="square" lIns="0" rIns="0" tIns="0" bIns="0" anchor="ctr">
            <a:spAutoFit/>
          </a:bodyPr>
          <a:lstStyle/>
          <a:p>
            <a:pPr algn="r">
              <a:spcAft>
                <a:spcPts val="0"/>
              </a:spcAft>
            </a:pPr>
            <a:r>
              <a:rPr sz="944" b="1">
                <a:solidFill>
                  <a:srgbClr val="17221F"/>
                </a:solidFill>
                <a:latin typeface="Aptos"/>
              </a:rPr>
              <a:t>70 %</a:t>
            </a:r>
          </a:p>
        </p:txBody>
      </p:sp>
      <p:sp>
        <p:nvSpPr>
          <p:cNvPr id="145" name="Rounded Rectangle 144"/>
          <p:cNvSpPr/>
          <p:nvPr/>
        </p:nvSpPr>
        <p:spPr>
          <a:xfrm>
            <a:off x="630936" y="5934456"/>
            <a:ext cx="10936224" cy="310896"/>
          </a:xfrm>
          <a:prstGeom prst="roundRect">
            <a:avLst>
              <a:gd name="adj" fmla="val 12000"/>
            </a:avLst>
          </a:prstGeom>
          <a:solidFill>
            <a:srgbClr val="E7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49808" y="5971032"/>
            <a:ext cx="10652760" cy="219456"/>
          </a:xfrm>
          <a:prstGeom prst="rect">
            <a:avLst/>
          </a:prstGeom>
          <a:noFill/>
        </p:spPr>
        <p:txBody>
          <a:bodyPr wrap="square" lIns="0" rIns="0" tIns="0" bIns="0" anchor="ctr">
            <a:spAutoFit/>
          </a:bodyPr>
          <a:lstStyle/>
          <a:p>
            <a:pPr>
              <a:spcAft>
                <a:spcPts val="0"/>
              </a:spcAft>
            </a:pPr>
            <a:r>
              <a:rPr sz="915" b="1">
                <a:solidFill>
                  <a:srgbClr val="213D31"/>
                </a:solidFill>
                <a:latin typeface="Aptos"/>
              </a:rPr>
              <a:t>COPROJ hebdo : équipe Data + Product   ·   ATELIERS MÉTIER : S1, S3, S8, S13   ·   COPIL : S3, S8, S13, S17</a:t>
            </a:r>
          </a:p>
        </p:txBody>
      </p:sp>
      <p:sp>
        <p:nvSpPr>
          <p:cNvPr id="147" name="TextBox 146"/>
          <p:cNvSpPr txBox="1"/>
          <p:nvPr/>
        </p:nvSpPr>
        <p:spPr>
          <a:xfrm>
            <a:off x="658368" y="6263640"/>
            <a:ext cx="10927080" cy="155448"/>
          </a:xfrm>
          <a:prstGeom prst="rect">
            <a:avLst/>
          </a:prstGeom>
          <a:noFill/>
        </p:spPr>
        <p:txBody>
          <a:bodyPr wrap="square" lIns="0" rIns="0" tIns="0" bIns="0" anchor="ctr">
            <a:spAutoFit/>
          </a:bodyPr>
          <a:lstStyle/>
          <a:p>
            <a:pPr>
              <a:spcAft>
                <a:spcPts val="0"/>
              </a:spcAft>
            </a:pPr>
            <a:r>
              <a:rPr sz="815" b="0">
                <a:solidFill>
                  <a:srgbClr val="607069"/>
                </a:solidFill>
                <a:latin typeface="Aptos"/>
              </a:rPr>
              <a:t>Staffing = JH alloués / (effectif du profil × jours ouvrés de la phase). Taux moyens, à confirmer individuellement.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0" rIns="0" tIns="18288" bIns="0">
            <a:spAutoFit/>
          </a:bodyPr>
          <a:lstStyle/>
          <a:p>
            <a:pPr algn="l">
              <a:spcBef>
                <a:spcPts val="0"/>
              </a:spcBef>
              <a:spcAft>
                <a:spcPts val="0"/>
              </a:spcAft>
            </a:pPr>
            <a:r>
              <a:rPr sz="950" b="1" i="0">
                <a:solidFill>
                  <a:srgbClr val="607069"/>
                </a:solidFill>
                <a:latin typeface="Aptos"/>
              </a:rPr>
              <a:t>15   /   BUDGET ET CHARGE DATA / IA</a:t>
            </a:r>
          </a:p>
        </p:txBody>
      </p:sp>
      <p:sp>
        <p:nvSpPr>
          <p:cNvPr id="4" name="TextBox 3"/>
          <p:cNvSpPr txBox="1"/>
          <p:nvPr/>
        </p:nvSpPr>
        <p:spPr>
          <a:xfrm>
            <a:off x="603504" y="640080"/>
            <a:ext cx="10972800" cy="640080"/>
          </a:xfrm>
          <a:prstGeom prst="rect">
            <a:avLst/>
          </a:prstGeom>
          <a:noFill/>
        </p:spPr>
        <p:txBody>
          <a:bodyPr wrap="square" lIns="0" rIns="0" tIns="18288" bIns="0">
            <a:spAutoFit/>
          </a:bodyPr>
          <a:lstStyle/>
          <a:p>
            <a:pPr algn="l">
              <a:spcBef>
                <a:spcPts val="0"/>
              </a:spcBef>
              <a:spcAft>
                <a:spcPts val="0"/>
              </a:spcAft>
            </a:pPr>
            <a:r>
              <a:rPr sz="2700" b="1" i="0">
                <a:solidFill>
                  <a:srgbClr val="17221F"/>
                </a:solidFill>
                <a:latin typeface="Aptos"/>
              </a:rPr>
              <a:t>89 360 € de charge humaine sur 17 semaines</a:t>
            </a:r>
          </a:p>
        </p:txBody>
      </p:sp>
      <p:cxnSp>
        <p:nvCxnSpPr>
          <p:cNvPr id="5" name="Connector 4"/>
          <p:cNvCxnSpPr/>
          <p:nvPr/>
        </p:nvCxnSpPr>
        <p:spPr>
          <a:xfrm>
            <a:off x="594360" y="159105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719072"/>
            <a:ext cx="10927080" cy="384048"/>
          </a:xfrm>
          <a:prstGeom prst="rect">
            <a:avLst/>
          </a:prstGeom>
          <a:noFill/>
        </p:spPr>
        <p:txBody>
          <a:bodyPr wrap="square" lIns="0" rIns="0" tIns="18288" bIns="0">
            <a:spAutoFit/>
          </a:bodyPr>
          <a:lstStyle/>
          <a:p>
            <a:pPr algn="l">
              <a:spcBef>
                <a:spcPts val="0"/>
              </a:spcBef>
              <a:spcAft>
                <a:spcPts val="0"/>
              </a:spcAft>
            </a:pPr>
            <a:r>
              <a:rPr sz="1225" b="0" i="0">
                <a:solidFill>
                  <a:srgbClr val="607069"/>
                </a:solidFill>
                <a:latin typeface="Aptos"/>
              </a:rPr>
              <a:t>Effectifs internes : 3 Data Scientists, 2 Data Engineers, 1 Tech Lead et 1 MLOps.</a:t>
            </a:r>
          </a:p>
        </p:txBody>
      </p:sp>
      <p:cxnSp>
        <p:nvCxnSpPr>
          <p:cNvPr id="7" name="Connector 6"/>
          <p:cNvCxnSpPr/>
          <p:nvPr/>
        </p:nvCxnSpPr>
        <p:spPr>
          <a:xfrm>
            <a:off x="594360" y="643737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473952"/>
            <a:ext cx="10058400" cy="146304"/>
          </a:xfrm>
          <a:prstGeom prst="rect">
            <a:avLst/>
          </a:prstGeom>
          <a:noFill/>
        </p:spPr>
        <p:txBody>
          <a:bodyPr wrap="square" lIns="0" rIns="0" tIns="18288" bIns="0">
            <a:spAutoFit/>
          </a:bodyPr>
          <a:lstStyle/>
          <a:p>
            <a:pPr algn="l">
              <a:spcBef>
                <a:spcPts val="0"/>
              </a:spcBef>
              <a:spcAft>
                <a:spcPts val="0"/>
              </a:spcAft>
            </a:pPr>
            <a:r>
              <a:rPr sz="819" b="0" i="0">
                <a:solidFill>
                  <a:srgbClr val="607069"/>
                </a:solidFill>
                <a:latin typeface="Aptos"/>
              </a:rPr>
              <a:t>FASHION–INSTA  ·  CADRAGE DATA &amp; IA  /  HYPOTHÈSES À VALIDER</a:t>
            </a:r>
          </a:p>
        </p:txBody>
      </p:sp>
      <p:sp>
        <p:nvSpPr>
          <p:cNvPr id="9" name="TextBox 8"/>
          <p:cNvSpPr txBox="1"/>
          <p:nvPr/>
        </p:nvSpPr>
        <p:spPr>
          <a:xfrm>
            <a:off x="11100816" y="6469380"/>
            <a:ext cx="466344" cy="164592"/>
          </a:xfrm>
          <a:prstGeom prst="rect">
            <a:avLst/>
          </a:prstGeom>
          <a:noFill/>
        </p:spPr>
        <p:txBody>
          <a:bodyPr wrap="square" lIns="0" rIns="0" tIns="18288" bIns="0">
            <a:spAutoFit/>
          </a:bodyPr>
          <a:lstStyle/>
          <a:p>
            <a:r>
              <a:rPr sz="900">
                <a:solidFill>
                  <a:srgbClr val="607069"/>
                </a:solidFill>
                <a:latin typeface="Aptos"/>
              </a:rPr>
              <a:t>18</a:t>
            </a:r>
          </a:p>
        </p:txBody>
      </p:sp>
      <p:sp>
        <p:nvSpPr>
          <p:cNvPr id="10" name="Rounded Rectangle 9"/>
          <p:cNvSpPr/>
          <p:nvPr/>
        </p:nvSpPr>
        <p:spPr>
          <a:xfrm>
            <a:off x="612648" y="2212848"/>
            <a:ext cx="10972800" cy="585216"/>
          </a:xfrm>
          <a:prstGeom prst="roundRect">
            <a:avLst>
              <a:gd name="adj" fmla="val 11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276856"/>
            <a:ext cx="3337560"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PROFIL</a:t>
            </a:r>
          </a:p>
        </p:txBody>
      </p:sp>
      <p:sp>
        <p:nvSpPr>
          <p:cNvPr id="12" name="TextBox 11"/>
          <p:cNvSpPr txBox="1"/>
          <p:nvPr/>
        </p:nvSpPr>
        <p:spPr>
          <a:xfrm>
            <a:off x="4178808" y="2276856"/>
            <a:ext cx="621792"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PoC</a:t>
            </a:r>
          </a:p>
          <a:p>
            <a:pPr algn="l">
              <a:spcBef>
                <a:spcPts val="0"/>
              </a:spcBef>
              <a:spcAft>
                <a:spcPts val="0"/>
              </a:spcAft>
            </a:pPr>
            <a:r>
              <a:rPr sz="1100" b="1" i="0">
                <a:solidFill>
                  <a:srgbClr val="FFFFFF"/>
                </a:solidFill>
                <a:latin typeface="Aptos"/>
              </a:rPr>
              <a:t>JH</a:t>
            </a:r>
          </a:p>
        </p:txBody>
      </p:sp>
      <p:sp>
        <p:nvSpPr>
          <p:cNvPr id="13" name="TextBox 12"/>
          <p:cNvSpPr txBox="1"/>
          <p:nvPr/>
        </p:nvSpPr>
        <p:spPr>
          <a:xfrm>
            <a:off x="5010912" y="2276856"/>
            <a:ext cx="640080"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MVP</a:t>
            </a:r>
          </a:p>
          <a:p>
            <a:pPr algn="l">
              <a:spcBef>
                <a:spcPts val="0"/>
              </a:spcBef>
              <a:spcAft>
                <a:spcPts val="0"/>
              </a:spcAft>
            </a:pPr>
            <a:r>
              <a:rPr sz="1100" b="1" i="0">
                <a:solidFill>
                  <a:srgbClr val="FFFFFF"/>
                </a:solidFill>
                <a:latin typeface="Aptos"/>
              </a:rPr>
              <a:t>JH</a:t>
            </a:r>
          </a:p>
        </p:txBody>
      </p:sp>
      <p:sp>
        <p:nvSpPr>
          <p:cNvPr id="14" name="TextBox 13"/>
          <p:cNvSpPr txBox="1"/>
          <p:nvPr/>
        </p:nvSpPr>
        <p:spPr>
          <a:xfrm>
            <a:off x="5879592" y="2276856"/>
            <a:ext cx="667512"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RUN</a:t>
            </a:r>
          </a:p>
          <a:p>
            <a:pPr algn="l">
              <a:spcBef>
                <a:spcPts val="0"/>
              </a:spcBef>
              <a:spcAft>
                <a:spcPts val="0"/>
              </a:spcAft>
            </a:pPr>
            <a:r>
              <a:rPr sz="1100" b="1" i="0">
                <a:solidFill>
                  <a:srgbClr val="FFFFFF"/>
                </a:solidFill>
                <a:latin typeface="Aptos"/>
              </a:rPr>
              <a:t>JH</a:t>
            </a:r>
          </a:p>
        </p:txBody>
      </p:sp>
      <p:sp>
        <p:nvSpPr>
          <p:cNvPr id="15" name="TextBox 14"/>
          <p:cNvSpPr txBox="1"/>
          <p:nvPr/>
        </p:nvSpPr>
        <p:spPr>
          <a:xfrm>
            <a:off x="6922008" y="2276856"/>
            <a:ext cx="960120"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TOTAL</a:t>
            </a:r>
          </a:p>
          <a:p>
            <a:pPr algn="l">
              <a:spcBef>
                <a:spcPts val="0"/>
              </a:spcBef>
              <a:spcAft>
                <a:spcPts val="0"/>
              </a:spcAft>
            </a:pPr>
            <a:r>
              <a:rPr sz="1100" b="1" i="0">
                <a:solidFill>
                  <a:srgbClr val="FFFFFF"/>
                </a:solidFill>
                <a:latin typeface="Aptos"/>
              </a:rPr>
              <a:t>JH</a:t>
            </a:r>
          </a:p>
        </p:txBody>
      </p:sp>
      <p:sp>
        <p:nvSpPr>
          <p:cNvPr id="16" name="TextBox 15"/>
          <p:cNvSpPr txBox="1"/>
          <p:nvPr/>
        </p:nvSpPr>
        <p:spPr>
          <a:xfrm>
            <a:off x="8339327" y="2276856"/>
            <a:ext cx="3017520"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COÛT TOTAL</a:t>
            </a:r>
          </a:p>
        </p:txBody>
      </p:sp>
      <p:sp>
        <p:nvSpPr>
          <p:cNvPr id="17" name="Rounded Rectangle 16"/>
          <p:cNvSpPr/>
          <p:nvPr/>
        </p:nvSpPr>
        <p:spPr>
          <a:xfrm>
            <a:off x="612648" y="2889504"/>
            <a:ext cx="10972800" cy="420624"/>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962656"/>
            <a:ext cx="3319272" cy="292608"/>
          </a:xfrm>
          <a:prstGeom prst="rect">
            <a:avLst/>
          </a:prstGeom>
          <a:noFill/>
        </p:spPr>
        <p:txBody>
          <a:bodyPr wrap="square" lIns="0" rIns="0" tIns="18288" bIns="0">
            <a:spAutoFit/>
          </a:bodyPr>
          <a:lstStyle/>
          <a:p>
            <a:pPr algn="l">
              <a:spcBef>
                <a:spcPts val="0"/>
              </a:spcBef>
              <a:spcAft>
                <a:spcPts val="0"/>
              </a:spcAft>
            </a:pPr>
            <a:r>
              <a:rPr sz="1300" b="0" i="0">
                <a:solidFill>
                  <a:srgbClr val="17221F"/>
                </a:solidFill>
                <a:latin typeface="Aptos"/>
              </a:rPr>
              <a:t>Data Scientist</a:t>
            </a:r>
          </a:p>
        </p:txBody>
      </p:sp>
      <p:sp>
        <p:nvSpPr>
          <p:cNvPr id="19" name="TextBox 18"/>
          <p:cNvSpPr txBox="1"/>
          <p:nvPr/>
        </p:nvSpPr>
        <p:spPr>
          <a:xfrm>
            <a:off x="4251960" y="2962656"/>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16</a:t>
            </a:r>
          </a:p>
        </p:txBody>
      </p:sp>
      <p:sp>
        <p:nvSpPr>
          <p:cNvPr id="20" name="TextBox 19"/>
          <p:cNvSpPr txBox="1"/>
          <p:nvPr/>
        </p:nvSpPr>
        <p:spPr>
          <a:xfrm>
            <a:off x="5093208" y="2962656"/>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75</a:t>
            </a:r>
          </a:p>
        </p:txBody>
      </p:sp>
      <p:sp>
        <p:nvSpPr>
          <p:cNvPr id="21" name="TextBox 20"/>
          <p:cNvSpPr txBox="1"/>
          <p:nvPr/>
        </p:nvSpPr>
        <p:spPr>
          <a:xfrm>
            <a:off x="5971032" y="2962656"/>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10</a:t>
            </a:r>
          </a:p>
        </p:txBody>
      </p:sp>
      <p:sp>
        <p:nvSpPr>
          <p:cNvPr id="22" name="TextBox 21"/>
          <p:cNvSpPr txBox="1"/>
          <p:nvPr/>
        </p:nvSpPr>
        <p:spPr>
          <a:xfrm>
            <a:off x="6976872" y="2962656"/>
            <a:ext cx="658368"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101</a:t>
            </a:r>
          </a:p>
        </p:txBody>
      </p:sp>
      <p:sp>
        <p:nvSpPr>
          <p:cNvPr id="23" name="TextBox 22"/>
          <p:cNvSpPr txBox="1"/>
          <p:nvPr/>
        </p:nvSpPr>
        <p:spPr>
          <a:xfrm>
            <a:off x="8284464" y="2953512"/>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35 350 €</a:t>
            </a:r>
          </a:p>
        </p:txBody>
      </p:sp>
      <p:sp>
        <p:nvSpPr>
          <p:cNvPr id="24" name="Rounded Rectangle 23"/>
          <p:cNvSpPr/>
          <p:nvPr/>
        </p:nvSpPr>
        <p:spPr>
          <a:xfrm>
            <a:off x="612648" y="3355848"/>
            <a:ext cx="10972800" cy="420624"/>
          </a:xfrm>
          <a:prstGeom prst="roundRect">
            <a:avLst>
              <a:gd name="adj" fmla="val 11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 y="3429000"/>
            <a:ext cx="3319272" cy="292608"/>
          </a:xfrm>
          <a:prstGeom prst="rect">
            <a:avLst/>
          </a:prstGeom>
          <a:noFill/>
        </p:spPr>
        <p:txBody>
          <a:bodyPr wrap="square" lIns="0" rIns="0" tIns="18288" bIns="0">
            <a:spAutoFit/>
          </a:bodyPr>
          <a:lstStyle/>
          <a:p>
            <a:pPr algn="l">
              <a:spcBef>
                <a:spcPts val="0"/>
              </a:spcBef>
              <a:spcAft>
                <a:spcPts val="0"/>
              </a:spcAft>
            </a:pPr>
            <a:r>
              <a:rPr sz="1300" b="0" i="0">
                <a:solidFill>
                  <a:srgbClr val="17221F"/>
                </a:solidFill>
                <a:latin typeface="Aptos"/>
              </a:rPr>
              <a:t>Data Engineer</a:t>
            </a:r>
          </a:p>
        </p:txBody>
      </p:sp>
      <p:sp>
        <p:nvSpPr>
          <p:cNvPr id="26" name="TextBox 25"/>
          <p:cNvSpPr txBox="1"/>
          <p:nvPr/>
        </p:nvSpPr>
        <p:spPr>
          <a:xfrm>
            <a:off x="4251960" y="3429000"/>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6</a:t>
            </a:r>
          </a:p>
        </p:txBody>
      </p:sp>
      <p:sp>
        <p:nvSpPr>
          <p:cNvPr id="27" name="TextBox 26"/>
          <p:cNvSpPr txBox="1"/>
          <p:nvPr/>
        </p:nvSpPr>
        <p:spPr>
          <a:xfrm>
            <a:off x="5093208" y="3429000"/>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55</a:t>
            </a:r>
          </a:p>
        </p:txBody>
      </p:sp>
      <p:sp>
        <p:nvSpPr>
          <p:cNvPr id="28" name="TextBox 27"/>
          <p:cNvSpPr txBox="1"/>
          <p:nvPr/>
        </p:nvSpPr>
        <p:spPr>
          <a:xfrm>
            <a:off x="5971032" y="3429000"/>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8</a:t>
            </a:r>
          </a:p>
        </p:txBody>
      </p:sp>
      <p:sp>
        <p:nvSpPr>
          <p:cNvPr id="29" name="TextBox 28"/>
          <p:cNvSpPr txBox="1"/>
          <p:nvPr/>
        </p:nvSpPr>
        <p:spPr>
          <a:xfrm>
            <a:off x="6976872" y="3429000"/>
            <a:ext cx="658368"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69</a:t>
            </a:r>
          </a:p>
        </p:txBody>
      </p:sp>
      <p:sp>
        <p:nvSpPr>
          <p:cNvPr id="30" name="TextBox 29"/>
          <p:cNvSpPr txBox="1"/>
          <p:nvPr/>
        </p:nvSpPr>
        <p:spPr>
          <a:xfrm>
            <a:off x="8284464" y="3419856"/>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25 530 €</a:t>
            </a:r>
          </a:p>
        </p:txBody>
      </p:sp>
      <p:sp>
        <p:nvSpPr>
          <p:cNvPr id="31" name="Rounded Rectangle 30"/>
          <p:cNvSpPr/>
          <p:nvPr/>
        </p:nvSpPr>
        <p:spPr>
          <a:xfrm>
            <a:off x="612648" y="3822191"/>
            <a:ext cx="10972800" cy="420624"/>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2" y="3895344"/>
            <a:ext cx="3319272" cy="292608"/>
          </a:xfrm>
          <a:prstGeom prst="rect">
            <a:avLst/>
          </a:prstGeom>
          <a:noFill/>
        </p:spPr>
        <p:txBody>
          <a:bodyPr wrap="square" lIns="0" rIns="0" tIns="18288" bIns="0">
            <a:spAutoFit/>
          </a:bodyPr>
          <a:lstStyle/>
          <a:p>
            <a:pPr algn="l">
              <a:spcBef>
                <a:spcPts val="0"/>
              </a:spcBef>
              <a:spcAft>
                <a:spcPts val="0"/>
              </a:spcAft>
            </a:pPr>
            <a:r>
              <a:rPr sz="1300" b="0" i="0">
                <a:solidFill>
                  <a:srgbClr val="17221F"/>
                </a:solidFill>
                <a:latin typeface="Aptos"/>
              </a:rPr>
              <a:t>Tech Lead Data</a:t>
            </a:r>
          </a:p>
        </p:txBody>
      </p:sp>
      <p:sp>
        <p:nvSpPr>
          <p:cNvPr id="33" name="TextBox 32"/>
          <p:cNvSpPr txBox="1"/>
          <p:nvPr/>
        </p:nvSpPr>
        <p:spPr>
          <a:xfrm>
            <a:off x="4251960" y="3895344"/>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4</a:t>
            </a:r>
          </a:p>
        </p:txBody>
      </p:sp>
      <p:sp>
        <p:nvSpPr>
          <p:cNvPr id="34" name="TextBox 33"/>
          <p:cNvSpPr txBox="1"/>
          <p:nvPr/>
        </p:nvSpPr>
        <p:spPr>
          <a:xfrm>
            <a:off x="5093208" y="3895344"/>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20</a:t>
            </a:r>
          </a:p>
        </p:txBody>
      </p:sp>
      <p:sp>
        <p:nvSpPr>
          <p:cNvPr id="35" name="TextBox 34"/>
          <p:cNvSpPr txBox="1"/>
          <p:nvPr/>
        </p:nvSpPr>
        <p:spPr>
          <a:xfrm>
            <a:off x="5971032" y="3895344"/>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4</a:t>
            </a:r>
          </a:p>
        </p:txBody>
      </p:sp>
      <p:sp>
        <p:nvSpPr>
          <p:cNvPr id="36" name="TextBox 35"/>
          <p:cNvSpPr txBox="1"/>
          <p:nvPr/>
        </p:nvSpPr>
        <p:spPr>
          <a:xfrm>
            <a:off x="6976872" y="3895344"/>
            <a:ext cx="658368"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28</a:t>
            </a:r>
          </a:p>
        </p:txBody>
      </p:sp>
      <p:sp>
        <p:nvSpPr>
          <p:cNvPr id="37" name="TextBox 36"/>
          <p:cNvSpPr txBox="1"/>
          <p:nvPr/>
        </p:nvSpPr>
        <p:spPr>
          <a:xfrm>
            <a:off x="8284464" y="3886200"/>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11 200 €</a:t>
            </a:r>
          </a:p>
        </p:txBody>
      </p:sp>
      <p:sp>
        <p:nvSpPr>
          <p:cNvPr id="38" name="Rounded Rectangle 37"/>
          <p:cNvSpPr/>
          <p:nvPr/>
        </p:nvSpPr>
        <p:spPr>
          <a:xfrm>
            <a:off x="612648" y="4288536"/>
            <a:ext cx="10972800" cy="420624"/>
          </a:xfrm>
          <a:prstGeom prst="roundRect">
            <a:avLst>
              <a:gd name="adj" fmla="val 11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8952" y="4361688"/>
            <a:ext cx="3319272" cy="292608"/>
          </a:xfrm>
          <a:prstGeom prst="rect">
            <a:avLst/>
          </a:prstGeom>
          <a:noFill/>
        </p:spPr>
        <p:txBody>
          <a:bodyPr wrap="square" lIns="0" rIns="0" tIns="18288" bIns="0">
            <a:spAutoFit/>
          </a:bodyPr>
          <a:lstStyle/>
          <a:p>
            <a:pPr algn="l">
              <a:spcBef>
                <a:spcPts val="0"/>
              </a:spcBef>
              <a:spcAft>
                <a:spcPts val="0"/>
              </a:spcAft>
            </a:pPr>
            <a:r>
              <a:rPr sz="1300" b="0" i="0">
                <a:solidFill>
                  <a:srgbClr val="17221F"/>
                </a:solidFill>
                <a:latin typeface="Aptos"/>
              </a:rPr>
              <a:t>MLOps Engineer</a:t>
            </a:r>
          </a:p>
        </p:txBody>
      </p:sp>
      <p:sp>
        <p:nvSpPr>
          <p:cNvPr id="40" name="TextBox 39"/>
          <p:cNvSpPr txBox="1"/>
          <p:nvPr/>
        </p:nvSpPr>
        <p:spPr>
          <a:xfrm>
            <a:off x="4251960" y="4361688"/>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4</a:t>
            </a:r>
          </a:p>
        </p:txBody>
      </p:sp>
      <p:sp>
        <p:nvSpPr>
          <p:cNvPr id="41" name="TextBox 40"/>
          <p:cNvSpPr txBox="1"/>
          <p:nvPr/>
        </p:nvSpPr>
        <p:spPr>
          <a:xfrm>
            <a:off x="5093208" y="4361688"/>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30</a:t>
            </a:r>
          </a:p>
        </p:txBody>
      </p:sp>
      <p:sp>
        <p:nvSpPr>
          <p:cNvPr id="42" name="TextBox 41"/>
          <p:cNvSpPr txBox="1"/>
          <p:nvPr/>
        </p:nvSpPr>
        <p:spPr>
          <a:xfrm>
            <a:off x="5971032" y="4361688"/>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14</a:t>
            </a:r>
          </a:p>
        </p:txBody>
      </p:sp>
      <p:sp>
        <p:nvSpPr>
          <p:cNvPr id="43" name="TextBox 42"/>
          <p:cNvSpPr txBox="1"/>
          <p:nvPr/>
        </p:nvSpPr>
        <p:spPr>
          <a:xfrm>
            <a:off x="6976872" y="4361688"/>
            <a:ext cx="658368"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48</a:t>
            </a:r>
          </a:p>
        </p:txBody>
      </p:sp>
      <p:sp>
        <p:nvSpPr>
          <p:cNvPr id="44" name="TextBox 43"/>
          <p:cNvSpPr txBox="1"/>
          <p:nvPr/>
        </p:nvSpPr>
        <p:spPr>
          <a:xfrm>
            <a:off x="8284464" y="4352544"/>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17 280 €</a:t>
            </a:r>
          </a:p>
        </p:txBody>
      </p:sp>
      <p:sp>
        <p:nvSpPr>
          <p:cNvPr id="45" name="Rounded Rectangle 44"/>
          <p:cNvSpPr/>
          <p:nvPr/>
        </p:nvSpPr>
        <p:spPr>
          <a:xfrm>
            <a:off x="612648" y="4754880"/>
            <a:ext cx="10972800" cy="420624"/>
          </a:xfrm>
          <a:prstGeom prst="roundRect">
            <a:avLst>
              <a:gd name="adj" fmla="val 11000"/>
            </a:avLst>
          </a:prstGeom>
          <a:solidFill>
            <a:srgbClr val="EB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8952" y="4828032"/>
            <a:ext cx="3319272" cy="292608"/>
          </a:xfrm>
          <a:prstGeom prst="rect">
            <a:avLst/>
          </a:prstGeom>
          <a:noFill/>
        </p:spPr>
        <p:txBody>
          <a:bodyPr wrap="square" lIns="0" rIns="0" tIns="18288" bIns="0">
            <a:spAutoFit/>
          </a:bodyPr>
          <a:lstStyle/>
          <a:p>
            <a:pPr algn="l">
              <a:spcBef>
                <a:spcPts val="0"/>
              </a:spcBef>
              <a:spcAft>
                <a:spcPts val="0"/>
              </a:spcAft>
            </a:pPr>
            <a:r>
              <a:rPr sz="1300" b="1" i="0">
                <a:solidFill>
                  <a:srgbClr val="17221F"/>
                </a:solidFill>
                <a:latin typeface="Aptos"/>
              </a:rPr>
              <a:t>TOTAL</a:t>
            </a:r>
          </a:p>
        </p:txBody>
      </p:sp>
      <p:sp>
        <p:nvSpPr>
          <p:cNvPr id="47" name="TextBox 46"/>
          <p:cNvSpPr txBox="1"/>
          <p:nvPr/>
        </p:nvSpPr>
        <p:spPr>
          <a:xfrm>
            <a:off x="4251960" y="4828032"/>
            <a:ext cx="493776" cy="292608"/>
          </a:xfrm>
          <a:prstGeom prst="rect">
            <a:avLst/>
          </a:prstGeom>
          <a:noFill/>
        </p:spPr>
        <p:txBody>
          <a:bodyPr wrap="square" lIns="0" rIns="0" tIns="18288" bIns="0">
            <a:spAutoFit/>
          </a:bodyPr>
          <a:lstStyle/>
          <a:p>
            <a:pPr algn="ctr">
              <a:spcBef>
                <a:spcPts val="0"/>
              </a:spcBef>
              <a:spcAft>
                <a:spcPts val="0"/>
              </a:spcAft>
            </a:pPr>
            <a:r>
              <a:rPr sz="1300" b="1" i="0">
                <a:solidFill>
                  <a:srgbClr val="17221F"/>
                </a:solidFill>
                <a:latin typeface="Aptos"/>
              </a:rPr>
              <a:t>30</a:t>
            </a:r>
          </a:p>
        </p:txBody>
      </p:sp>
      <p:sp>
        <p:nvSpPr>
          <p:cNvPr id="48" name="TextBox 47"/>
          <p:cNvSpPr txBox="1"/>
          <p:nvPr/>
        </p:nvSpPr>
        <p:spPr>
          <a:xfrm>
            <a:off x="5093208" y="4828032"/>
            <a:ext cx="493776" cy="292608"/>
          </a:xfrm>
          <a:prstGeom prst="rect">
            <a:avLst/>
          </a:prstGeom>
          <a:noFill/>
        </p:spPr>
        <p:txBody>
          <a:bodyPr wrap="square" lIns="0" rIns="0" tIns="18288" bIns="0">
            <a:spAutoFit/>
          </a:bodyPr>
          <a:lstStyle/>
          <a:p>
            <a:pPr algn="ctr">
              <a:spcBef>
                <a:spcPts val="0"/>
              </a:spcBef>
              <a:spcAft>
                <a:spcPts val="0"/>
              </a:spcAft>
            </a:pPr>
            <a:r>
              <a:rPr sz="1300" b="1" i="0">
                <a:solidFill>
                  <a:srgbClr val="17221F"/>
                </a:solidFill>
                <a:latin typeface="Aptos"/>
              </a:rPr>
              <a:t>180</a:t>
            </a:r>
          </a:p>
        </p:txBody>
      </p:sp>
      <p:sp>
        <p:nvSpPr>
          <p:cNvPr id="49" name="TextBox 48"/>
          <p:cNvSpPr txBox="1"/>
          <p:nvPr/>
        </p:nvSpPr>
        <p:spPr>
          <a:xfrm>
            <a:off x="5971032" y="4828032"/>
            <a:ext cx="493776" cy="292608"/>
          </a:xfrm>
          <a:prstGeom prst="rect">
            <a:avLst/>
          </a:prstGeom>
          <a:noFill/>
        </p:spPr>
        <p:txBody>
          <a:bodyPr wrap="square" lIns="0" rIns="0" tIns="18288" bIns="0">
            <a:spAutoFit/>
          </a:bodyPr>
          <a:lstStyle/>
          <a:p>
            <a:pPr algn="ctr">
              <a:spcBef>
                <a:spcPts val="0"/>
              </a:spcBef>
              <a:spcAft>
                <a:spcPts val="0"/>
              </a:spcAft>
            </a:pPr>
            <a:r>
              <a:rPr sz="1300" b="1" i="0">
                <a:solidFill>
                  <a:srgbClr val="17221F"/>
                </a:solidFill>
                <a:latin typeface="Aptos"/>
              </a:rPr>
              <a:t>36</a:t>
            </a:r>
          </a:p>
        </p:txBody>
      </p:sp>
      <p:sp>
        <p:nvSpPr>
          <p:cNvPr id="50" name="TextBox 49"/>
          <p:cNvSpPr txBox="1"/>
          <p:nvPr/>
        </p:nvSpPr>
        <p:spPr>
          <a:xfrm>
            <a:off x="6976872" y="4828032"/>
            <a:ext cx="658368" cy="292608"/>
          </a:xfrm>
          <a:prstGeom prst="rect">
            <a:avLst/>
          </a:prstGeom>
          <a:noFill/>
        </p:spPr>
        <p:txBody>
          <a:bodyPr wrap="square" lIns="0" rIns="0" tIns="18288" bIns="0">
            <a:spAutoFit/>
          </a:bodyPr>
          <a:lstStyle/>
          <a:p>
            <a:pPr algn="ctr">
              <a:spcBef>
                <a:spcPts val="0"/>
              </a:spcBef>
              <a:spcAft>
                <a:spcPts val="0"/>
              </a:spcAft>
            </a:pPr>
            <a:r>
              <a:rPr sz="1300" b="1" i="0">
                <a:solidFill>
                  <a:srgbClr val="17221F"/>
                </a:solidFill>
                <a:latin typeface="Aptos"/>
              </a:rPr>
              <a:t>246</a:t>
            </a:r>
          </a:p>
        </p:txBody>
      </p:sp>
      <p:sp>
        <p:nvSpPr>
          <p:cNvPr id="51" name="TextBox 50"/>
          <p:cNvSpPr txBox="1"/>
          <p:nvPr/>
        </p:nvSpPr>
        <p:spPr>
          <a:xfrm>
            <a:off x="8284464" y="4818888"/>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89 360 €</a:t>
            </a:r>
          </a:p>
        </p:txBody>
      </p:sp>
      <p:sp>
        <p:nvSpPr>
          <p:cNvPr id="52" name="Rounded Rectangle 51"/>
          <p:cNvSpPr/>
          <p:nvPr/>
        </p:nvSpPr>
        <p:spPr>
          <a:xfrm>
            <a:off x="612648" y="5431536"/>
            <a:ext cx="10972800" cy="713232"/>
          </a:xfrm>
          <a:prstGeom prst="roundRect">
            <a:avLst>
              <a:gd name="adj" fmla="val 11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2104" y="5541264"/>
            <a:ext cx="2743200" cy="219456"/>
          </a:xfrm>
          <a:prstGeom prst="rect">
            <a:avLst/>
          </a:prstGeom>
          <a:noFill/>
        </p:spPr>
        <p:txBody>
          <a:bodyPr wrap="square" lIns="0" rIns="0" tIns="18288" bIns="0">
            <a:spAutoFit/>
          </a:bodyPr>
          <a:lstStyle/>
          <a:p>
            <a:pPr algn="l">
              <a:spcBef>
                <a:spcPts val="0"/>
              </a:spcBef>
              <a:spcAft>
                <a:spcPts val="0"/>
              </a:spcAft>
            </a:pPr>
            <a:r>
              <a:rPr sz="1200" b="1" i="0">
                <a:solidFill>
                  <a:srgbClr val="FFFFFF"/>
                </a:solidFill>
                <a:latin typeface="Aptos"/>
              </a:rPr>
              <a:t>Coût Azure de lancement</a:t>
            </a:r>
          </a:p>
        </p:txBody>
      </p:sp>
      <p:sp>
        <p:nvSpPr>
          <p:cNvPr id="54" name="TextBox 53"/>
          <p:cNvSpPr txBox="1"/>
          <p:nvPr/>
        </p:nvSpPr>
        <p:spPr>
          <a:xfrm>
            <a:off x="3529584" y="5504688"/>
            <a:ext cx="2011680" cy="292608"/>
          </a:xfrm>
          <a:prstGeom prst="rect">
            <a:avLst/>
          </a:prstGeom>
          <a:noFill/>
        </p:spPr>
        <p:txBody>
          <a:bodyPr wrap="square" lIns="0" rIns="0" tIns="18288" bIns="0">
            <a:spAutoFit/>
          </a:bodyPr>
          <a:lstStyle/>
          <a:p>
            <a:pPr algn="l">
              <a:spcBef>
                <a:spcPts val="0"/>
              </a:spcBef>
              <a:spcAft>
                <a:spcPts val="0"/>
              </a:spcAft>
            </a:pPr>
            <a:r>
              <a:rPr sz="1800" b="1" i="0">
                <a:solidFill>
                  <a:srgbClr val="D0EE94"/>
                </a:solidFill>
                <a:latin typeface="Aptos"/>
              </a:rPr>
              <a:t>3 600 €</a:t>
            </a:r>
          </a:p>
        </p:txBody>
      </p:sp>
      <p:sp>
        <p:nvSpPr>
          <p:cNvPr id="55" name="TextBox 54"/>
          <p:cNvSpPr txBox="1"/>
          <p:nvPr/>
        </p:nvSpPr>
        <p:spPr>
          <a:xfrm>
            <a:off x="5486400" y="5541264"/>
            <a:ext cx="2834640" cy="219456"/>
          </a:xfrm>
          <a:prstGeom prst="rect">
            <a:avLst/>
          </a:prstGeom>
          <a:noFill/>
        </p:spPr>
        <p:txBody>
          <a:bodyPr wrap="square" lIns="0" rIns="0" tIns="18288" bIns="0">
            <a:spAutoFit/>
          </a:bodyPr>
          <a:lstStyle/>
          <a:p>
            <a:pPr algn="l">
              <a:spcBef>
                <a:spcPts val="0"/>
              </a:spcBef>
              <a:spcAft>
                <a:spcPts val="0"/>
              </a:spcAft>
            </a:pPr>
            <a:r>
              <a:rPr sz="1200" b="1" i="0">
                <a:solidFill>
                  <a:srgbClr val="FFFFFF"/>
                </a:solidFill>
                <a:latin typeface="Aptos"/>
              </a:rPr>
              <a:t>Budget Data/IA total</a:t>
            </a:r>
          </a:p>
        </p:txBody>
      </p:sp>
      <p:sp>
        <p:nvSpPr>
          <p:cNvPr id="56" name="TextBox 55"/>
          <p:cNvSpPr txBox="1"/>
          <p:nvPr/>
        </p:nvSpPr>
        <p:spPr>
          <a:xfrm>
            <a:off x="8714232" y="5504688"/>
            <a:ext cx="2651760" cy="292608"/>
          </a:xfrm>
          <a:prstGeom prst="rect">
            <a:avLst/>
          </a:prstGeom>
          <a:noFill/>
        </p:spPr>
        <p:txBody>
          <a:bodyPr wrap="square" lIns="0" rIns="0" tIns="18288" bIns="0">
            <a:spAutoFit/>
          </a:bodyPr>
          <a:lstStyle/>
          <a:p>
            <a:pPr algn="r">
              <a:spcBef>
                <a:spcPts val="0"/>
              </a:spcBef>
              <a:spcAft>
                <a:spcPts val="0"/>
              </a:spcAft>
            </a:pPr>
            <a:r>
              <a:rPr sz="2000" b="1" i="0">
                <a:solidFill>
                  <a:srgbClr val="D0EE94"/>
                </a:solidFill>
                <a:latin typeface="Aptos"/>
              </a:rPr>
              <a:t>92 960 €</a:t>
            </a:r>
          </a:p>
        </p:txBody>
      </p:sp>
      <p:sp>
        <p:nvSpPr>
          <p:cNvPr id="57" name="TextBox 56"/>
          <p:cNvSpPr txBox="1"/>
          <p:nvPr/>
        </p:nvSpPr>
        <p:spPr>
          <a:xfrm>
            <a:off x="749808" y="6190488"/>
            <a:ext cx="10515600" cy="173736"/>
          </a:xfrm>
          <a:prstGeom prst="rect">
            <a:avLst/>
          </a:prstGeom>
          <a:noFill/>
        </p:spPr>
        <p:txBody>
          <a:bodyPr wrap="square" lIns="0" rIns="0" tIns="18288" bIns="0">
            <a:spAutoFit/>
          </a:bodyPr>
          <a:lstStyle/>
          <a:p>
            <a:pPr algn="l">
              <a:spcBef>
                <a:spcPts val="0"/>
              </a:spcBef>
              <a:spcAft>
                <a:spcPts val="0"/>
              </a:spcAft>
            </a:pPr>
            <a:r>
              <a:rPr sz="900" b="0" i="0">
                <a:solidFill>
                  <a:srgbClr val="607069"/>
                </a:solidFill>
                <a:latin typeface="Aptos"/>
              </a:rPr>
              <a:t>PoC 3 sem. · MVP 10 sem. · Run initial 4 sem. | Fonctions produit, métier et RGPD consultées, hors budget Data/IA.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0" rIns="0" tIns="18288" bIns="0">
            <a:spAutoFit/>
          </a:bodyPr>
          <a:lstStyle/>
          <a:p>
            <a:pPr algn="l">
              <a:spcBef>
                <a:spcPts val="0"/>
              </a:spcBef>
              <a:spcAft>
                <a:spcPts val="0"/>
              </a:spcAft>
            </a:pPr>
            <a:r>
              <a:rPr sz="950" b="1" i="0">
                <a:solidFill>
                  <a:srgbClr val="607069"/>
                </a:solidFill>
                <a:latin typeface="Aptos"/>
              </a:rPr>
              <a:t>16   /   COÛTS AZURE ET ARCHITECTURE HYBRIDE</a:t>
            </a:r>
          </a:p>
        </p:txBody>
      </p:sp>
      <p:sp>
        <p:nvSpPr>
          <p:cNvPr id="4" name="TextBox 3"/>
          <p:cNvSpPr txBox="1"/>
          <p:nvPr/>
        </p:nvSpPr>
        <p:spPr>
          <a:xfrm>
            <a:off x="603504" y="640080"/>
            <a:ext cx="10972800" cy="640080"/>
          </a:xfrm>
          <a:prstGeom prst="rect">
            <a:avLst/>
          </a:prstGeom>
          <a:noFill/>
        </p:spPr>
        <p:txBody>
          <a:bodyPr wrap="square" lIns="0" rIns="0" tIns="18288" bIns="0">
            <a:spAutoFit/>
          </a:bodyPr>
          <a:lstStyle/>
          <a:p>
            <a:pPr algn="l">
              <a:spcBef>
                <a:spcPts val="0"/>
              </a:spcBef>
              <a:spcAft>
                <a:spcPts val="0"/>
              </a:spcAft>
            </a:pPr>
            <a:r>
              <a:rPr sz="2700" b="1" i="0">
                <a:solidFill>
                  <a:srgbClr val="17221F"/>
                </a:solidFill>
                <a:latin typeface="Aptos"/>
              </a:rPr>
              <a:t>Le batch prépare. L’online recommande.</a:t>
            </a:r>
          </a:p>
        </p:txBody>
      </p:sp>
      <p:cxnSp>
        <p:nvCxnSpPr>
          <p:cNvPr id="5" name="Connector 4"/>
          <p:cNvCxnSpPr/>
          <p:nvPr/>
        </p:nvCxnSpPr>
        <p:spPr>
          <a:xfrm>
            <a:off x="594360" y="159105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719072"/>
            <a:ext cx="10927080" cy="384048"/>
          </a:xfrm>
          <a:prstGeom prst="rect">
            <a:avLst/>
          </a:prstGeom>
          <a:noFill/>
        </p:spPr>
        <p:txBody>
          <a:bodyPr wrap="square" lIns="0" rIns="0" tIns="18288" bIns="0">
            <a:spAutoFit/>
          </a:bodyPr>
          <a:lstStyle/>
          <a:p>
            <a:pPr algn="l">
              <a:spcBef>
                <a:spcPts val="0"/>
              </a:spcBef>
              <a:spcAft>
                <a:spcPts val="0"/>
              </a:spcAft>
            </a:pPr>
            <a:r>
              <a:rPr sz="1225" b="0" i="0">
                <a:solidFill>
                  <a:srgbClr val="607069"/>
                </a:solidFill>
                <a:latin typeface="Aptos"/>
              </a:rPr>
              <a:t>Le mode d’exécution dépend de la contrainte métier — pas d’un choix unique pour toute l’IA.</a:t>
            </a:r>
          </a:p>
        </p:txBody>
      </p:sp>
      <p:cxnSp>
        <p:nvCxnSpPr>
          <p:cNvPr id="7" name="Connector 6"/>
          <p:cNvCxnSpPr/>
          <p:nvPr/>
        </p:nvCxnSpPr>
        <p:spPr>
          <a:xfrm>
            <a:off x="594360" y="643737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473952"/>
            <a:ext cx="10058400" cy="146304"/>
          </a:xfrm>
          <a:prstGeom prst="rect">
            <a:avLst/>
          </a:prstGeom>
          <a:noFill/>
        </p:spPr>
        <p:txBody>
          <a:bodyPr wrap="square" lIns="0" rIns="0" tIns="18288" bIns="0">
            <a:spAutoFit/>
          </a:bodyPr>
          <a:lstStyle/>
          <a:p>
            <a:pPr algn="l">
              <a:spcBef>
                <a:spcPts val="0"/>
              </a:spcBef>
              <a:spcAft>
                <a:spcPts val="0"/>
              </a:spcAft>
            </a:pPr>
            <a:r>
              <a:rPr sz="819" b="0" i="0">
                <a:solidFill>
                  <a:srgbClr val="607069"/>
                </a:solidFill>
                <a:latin typeface="Aptos"/>
              </a:rPr>
              <a:t>FASHION–INSTA  ·  CADRAGE DATA &amp; IA  /  HYPOTHÈSES À VALIDER</a:t>
            </a:r>
          </a:p>
        </p:txBody>
      </p:sp>
      <p:sp>
        <p:nvSpPr>
          <p:cNvPr id="9" name="TextBox 8"/>
          <p:cNvSpPr txBox="1"/>
          <p:nvPr/>
        </p:nvSpPr>
        <p:spPr>
          <a:xfrm>
            <a:off x="11100816" y="6469380"/>
            <a:ext cx="466344" cy="164592"/>
          </a:xfrm>
          <a:prstGeom prst="rect">
            <a:avLst/>
          </a:prstGeom>
          <a:noFill/>
        </p:spPr>
        <p:txBody>
          <a:bodyPr wrap="square" lIns="0" rIns="0" tIns="18288" bIns="0">
            <a:spAutoFit/>
          </a:bodyPr>
          <a:lstStyle/>
          <a:p>
            <a:r>
              <a:rPr sz="900">
                <a:solidFill>
                  <a:srgbClr val="607069"/>
                </a:solidFill>
                <a:latin typeface="Aptos"/>
              </a:rPr>
              <a:t>19</a:t>
            </a:r>
          </a:p>
        </p:txBody>
      </p:sp>
      <p:sp>
        <p:nvSpPr>
          <p:cNvPr id="10" name="Rounded Rectangle 9"/>
          <p:cNvSpPr/>
          <p:nvPr/>
        </p:nvSpPr>
        <p:spPr>
          <a:xfrm>
            <a:off x="640080" y="2240280"/>
            <a:ext cx="5349240" cy="1993392"/>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240280"/>
            <a:ext cx="5349240" cy="73152"/>
          </a:xfrm>
          <a:prstGeom prst="rect">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441448"/>
            <a:ext cx="4983480" cy="219456"/>
          </a:xfrm>
          <a:prstGeom prst="rect">
            <a:avLst/>
          </a:prstGeom>
          <a:noFill/>
        </p:spPr>
        <p:txBody>
          <a:bodyPr wrap="square" lIns="0" rIns="0" tIns="18288" bIns="0">
            <a:spAutoFit/>
          </a:bodyPr>
          <a:lstStyle/>
          <a:p>
            <a:pPr algn="l">
              <a:spcBef>
                <a:spcPts val="0"/>
              </a:spcBef>
              <a:spcAft>
                <a:spcPts val="0"/>
              </a:spcAft>
            </a:pPr>
            <a:r>
              <a:rPr sz="1000" b="1" i="0">
                <a:solidFill>
                  <a:srgbClr val="4B795B"/>
                </a:solidFill>
                <a:latin typeface="Aptos"/>
              </a:rPr>
              <a:t>BATCH • CATALOGUE</a:t>
            </a:r>
          </a:p>
        </p:txBody>
      </p:sp>
      <p:sp>
        <p:nvSpPr>
          <p:cNvPr id="13" name="TextBox 12"/>
          <p:cNvSpPr txBox="1"/>
          <p:nvPr/>
        </p:nvSpPr>
        <p:spPr>
          <a:xfrm>
            <a:off x="822959" y="2743200"/>
            <a:ext cx="4983480" cy="320040"/>
          </a:xfrm>
          <a:prstGeom prst="rect">
            <a:avLst/>
          </a:prstGeom>
          <a:noFill/>
        </p:spPr>
        <p:txBody>
          <a:bodyPr wrap="square" lIns="0" rIns="0" tIns="18288" bIns="0">
            <a:spAutoFit/>
          </a:bodyPr>
          <a:lstStyle/>
          <a:p>
            <a:pPr algn="l">
              <a:spcBef>
                <a:spcPts val="0"/>
              </a:spcBef>
              <a:spcAft>
                <a:spcPts val="0"/>
              </a:spcAft>
            </a:pPr>
            <a:r>
              <a:rPr sz="1900" b="1" i="0">
                <a:solidFill>
                  <a:srgbClr val="17221F"/>
                </a:solidFill>
                <a:latin typeface="Aptos"/>
              </a:rPr>
              <a:t>Pré-calcul différable</a:t>
            </a:r>
          </a:p>
        </p:txBody>
      </p:sp>
      <p:sp>
        <p:nvSpPr>
          <p:cNvPr id="14" name="TextBox 13"/>
          <p:cNvSpPr txBox="1"/>
          <p:nvPr/>
        </p:nvSpPr>
        <p:spPr>
          <a:xfrm>
            <a:off x="822959" y="3099816"/>
            <a:ext cx="4983480" cy="704088"/>
          </a:xfrm>
          <a:prstGeom prst="rect">
            <a:avLst/>
          </a:prstGeom>
          <a:noFill/>
        </p:spPr>
        <p:txBody>
          <a:bodyPr wrap="square" lIns="0" rIns="0" tIns="18288" bIns="0">
            <a:spAutoFit/>
          </a:bodyPr>
          <a:lstStyle/>
          <a:p>
            <a:pPr algn="l">
              <a:spcBef>
                <a:spcPts val="0"/>
              </a:spcBef>
              <a:spcAft>
                <a:spcPts val="0"/>
              </a:spcAft>
            </a:pPr>
            <a:r>
              <a:rPr sz="1300" b="0" i="0">
                <a:solidFill>
                  <a:srgbClr val="607069"/>
                </a:solidFill>
                <a:latin typeface="Aptos"/>
              </a:rPr>
              <a:t>Ingestion + contrôle des images,</a:t>
            </a:r>
          </a:p>
          <a:p>
            <a:pPr algn="l">
              <a:spcBef>
                <a:spcPts val="0"/>
              </a:spcBef>
              <a:spcAft>
                <a:spcPts val="0"/>
              </a:spcAft>
            </a:pPr>
            <a:r>
              <a:rPr sz="1300" b="0" i="0">
                <a:solidFill>
                  <a:srgbClr val="607069"/>
                </a:solidFill>
                <a:latin typeface="Aptos"/>
              </a:rPr>
              <a:t>encodage des références et actualisation</a:t>
            </a:r>
          </a:p>
          <a:p>
            <a:pPr algn="l">
              <a:spcBef>
                <a:spcPts val="0"/>
              </a:spcBef>
              <a:spcAft>
                <a:spcPts val="0"/>
              </a:spcAft>
            </a:pPr>
            <a:r>
              <a:rPr sz="1300" b="0" i="0">
                <a:solidFill>
                  <a:srgbClr val="607069"/>
                </a:solidFill>
                <a:latin typeface="Aptos"/>
              </a:rPr>
              <a:t>des embeddings lors des changements.</a:t>
            </a:r>
          </a:p>
        </p:txBody>
      </p:sp>
      <p:sp>
        <p:nvSpPr>
          <p:cNvPr id="15" name="TextBox 14"/>
          <p:cNvSpPr txBox="1"/>
          <p:nvPr/>
        </p:nvSpPr>
        <p:spPr>
          <a:xfrm>
            <a:off x="822959" y="3895344"/>
            <a:ext cx="4983480" cy="201168"/>
          </a:xfrm>
          <a:prstGeom prst="rect">
            <a:avLst/>
          </a:prstGeom>
          <a:noFill/>
        </p:spPr>
        <p:txBody>
          <a:bodyPr wrap="square" lIns="0" rIns="0" tIns="18288" bIns="0">
            <a:spAutoFit/>
          </a:bodyPr>
          <a:lstStyle/>
          <a:p>
            <a:pPr algn="l">
              <a:spcBef>
                <a:spcPts val="0"/>
              </a:spcBef>
              <a:spcAft>
                <a:spcPts val="0"/>
              </a:spcAft>
            </a:pPr>
            <a:r>
              <a:rPr sz="1000" b="1" i="0">
                <a:solidFill>
                  <a:srgbClr val="40775E"/>
                </a:solidFill>
                <a:latin typeface="Aptos"/>
              </a:rPr>
              <a:t>Azure Data Factory + Azure ML batch</a:t>
            </a:r>
          </a:p>
        </p:txBody>
      </p:sp>
      <p:sp>
        <p:nvSpPr>
          <p:cNvPr id="16" name="Rounded Rectangle 15"/>
          <p:cNvSpPr/>
          <p:nvPr/>
        </p:nvSpPr>
        <p:spPr>
          <a:xfrm>
            <a:off x="6181344" y="2240280"/>
            <a:ext cx="5349240" cy="1993392"/>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2240280"/>
            <a:ext cx="5349240" cy="73152"/>
          </a:xfrm>
          <a:prstGeom prst="rect">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2441448"/>
            <a:ext cx="4983480" cy="219456"/>
          </a:xfrm>
          <a:prstGeom prst="rect">
            <a:avLst/>
          </a:prstGeom>
          <a:noFill/>
        </p:spPr>
        <p:txBody>
          <a:bodyPr wrap="square" lIns="0" rIns="0" tIns="18288" bIns="0">
            <a:spAutoFit/>
          </a:bodyPr>
          <a:lstStyle/>
          <a:p>
            <a:pPr algn="l">
              <a:spcBef>
                <a:spcPts val="0"/>
              </a:spcBef>
              <a:spcAft>
                <a:spcPts val="0"/>
              </a:spcAft>
            </a:pPr>
            <a:r>
              <a:rPr sz="1000" b="1" i="0">
                <a:solidFill>
                  <a:srgbClr val="4B795B"/>
                </a:solidFill>
                <a:latin typeface="Aptos"/>
              </a:rPr>
              <a:t>ONLINE • UTILISATEURS</a:t>
            </a:r>
          </a:p>
        </p:txBody>
      </p:sp>
      <p:sp>
        <p:nvSpPr>
          <p:cNvPr id="19" name="TextBox 18"/>
          <p:cNvSpPr txBox="1"/>
          <p:nvPr/>
        </p:nvSpPr>
        <p:spPr>
          <a:xfrm>
            <a:off x="6364224" y="2743200"/>
            <a:ext cx="4983480" cy="320040"/>
          </a:xfrm>
          <a:prstGeom prst="rect">
            <a:avLst/>
          </a:prstGeom>
          <a:noFill/>
        </p:spPr>
        <p:txBody>
          <a:bodyPr wrap="square" lIns="0" rIns="0" tIns="18288" bIns="0">
            <a:spAutoFit/>
          </a:bodyPr>
          <a:lstStyle/>
          <a:p>
            <a:pPr algn="l">
              <a:spcBef>
                <a:spcPts val="0"/>
              </a:spcBef>
              <a:spcAft>
                <a:spcPts val="0"/>
              </a:spcAft>
            </a:pPr>
            <a:r>
              <a:rPr sz="1900" b="1" i="0">
                <a:solidFill>
                  <a:srgbClr val="17221F"/>
                </a:solidFill>
                <a:latin typeface="Aptos"/>
              </a:rPr>
              <a:t>Réponse interactive</a:t>
            </a:r>
          </a:p>
        </p:txBody>
      </p:sp>
      <p:sp>
        <p:nvSpPr>
          <p:cNvPr id="20" name="TextBox 19"/>
          <p:cNvSpPr txBox="1"/>
          <p:nvPr/>
        </p:nvSpPr>
        <p:spPr>
          <a:xfrm>
            <a:off x="6364224" y="3099816"/>
            <a:ext cx="4983480" cy="704088"/>
          </a:xfrm>
          <a:prstGeom prst="rect">
            <a:avLst/>
          </a:prstGeom>
          <a:noFill/>
        </p:spPr>
        <p:txBody>
          <a:bodyPr wrap="square" lIns="0" rIns="0" tIns="18288" bIns="0">
            <a:spAutoFit/>
          </a:bodyPr>
          <a:lstStyle/>
          <a:p>
            <a:pPr algn="l">
              <a:spcBef>
                <a:spcPts val="0"/>
              </a:spcBef>
              <a:spcAft>
                <a:spcPts val="0"/>
              </a:spcAft>
            </a:pPr>
            <a:r>
              <a:rPr sz="1300" b="0" i="0">
                <a:solidFill>
                  <a:srgbClr val="607069"/>
                </a:solidFill>
                <a:latin typeface="Aptos"/>
              </a:rPr>
              <a:t>Photo reçue → embedding → recherche</a:t>
            </a:r>
          </a:p>
          <a:p>
            <a:pPr algn="l">
              <a:spcBef>
                <a:spcPts val="0"/>
              </a:spcBef>
              <a:spcAft>
                <a:spcPts val="0"/>
              </a:spcAft>
            </a:pPr>
            <a:r>
              <a:rPr sz="1300" b="0" i="0">
                <a:solidFill>
                  <a:srgbClr val="607069"/>
                </a:solidFill>
                <a:latin typeface="Aptos"/>
              </a:rPr>
              <a:t>Top 5, avec disponibilité et latence</a:t>
            </a:r>
          </a:p>
          <a:p>
            <a:pPr algn="l">
              <a:spcBef>
                <a:spcPts val="0"/>
              </a:spcBef>
              <a:spcAft>
                <a:spcPts val="0"/>
              </a:spcAft>
            </a:pPr>
            <a:r>
              <a:rPr sz="1300" b="0" i="0">
                <a:solidFill>
                  <a:srgbClr val="607069"/>
                </a:solidFill>
                <a:latin typeface="Aptos"/>
              </a:rPr>
              <a:t>compatibles avec l’application.</a:t>
            </a:r>
          </a:p>
        </p:txBody>
      </p:sp>
      <p:sp>
        <p:nvSpPr>
          <p:cNvPr id="21" name="TextBox 20"/>
          <p:cNvSpPr txBox="1"/>
          <p:nvPr/>
        </p:nvSpPr>
        <p:spPr>
          <a:xfrm>
            <a:off x="6364224" y="3895344"/>
            <a:ext cx="4983480" cy="201168"/>
          </a:xfrm>
          <a:prstGeom prst="rect">
            <a:avLst/>
          </a:prstGeom>
          <a:noFill/>
        </p:spPr>
        <p:txBody>
          <a:bodyPr wrap="square" lIns="0" rIns="0" tIns="18288" bIns="0">
            <a:spAutoFit/>
          </a:bodyPr>
          <a:lstStyle/>
          <a:p>
            <a:pPr algn="l">
              <a:spcBef>
                <a:spcPts val="0"/>
              </a:spcBef>
              <a:spcAft>
                <a:spcPts val="0"/>
              </a:spcAft>
            </a:pPr>
            <a:r>
              <a:rPr sz="1000" b="1" i="0">
                <a:solidFill>
                  <a:srgbClr val="40775E"/>
                </a:solidFill>
                <a:latin typeface="Aptos"/>
              </a:rPr>
              <a:t>Azure ML online + recherche vectorielle</a:t>
            </a:r>
          </a:p>
        </p:txBody>
      </p:sp>
      <p:sp>
        <p:nvSpPr>
          <p:cNvPr id="22" name="Rounded Rectangle 21"/>
          <p:cNvSpPr/>
          <p:nvPr/>
        </p:nvSpPr>
        <p:spPr>
          <a:xfrm>
            <a:off x="640080" y="4416552"/>
            <a:ext cx="10890504" cy="521207"/>
          </a:xfrm>
          <a:prstGeom prst="roundRect">
            <a:avLst>
              <a:gd name="adj" fmla="val 11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517136"/>
            <a:ext cx="10469880" cy="292608"/>
          </a:xfrm>
          <a:prstGeom prst="rect">
            <a:avLst/>
          </a:prstGeom>
          <a:noFill/>
        </p:spPr>
        <p:txBody>
          <a:bodyPr wrap="square" lIns="0" rIns="0" tIns="18288" bIns="0">
            <a:spAutoFit/>
          </a:bodyPr>
          <a:lstStyle/>
          <a:p>
            <a:pPr algn="l">
              <a:spcBef>
                <a:spcPts val="0"/>
              </a:spcBef>
              <a:spcAft>
                <a:spcPts val="0"/>
              </a:spcAft>
            </a:pPr>
            <a:r>
              <a:rPr sz="1160" b="1" i="0">
                <a:solidFill>
                  <a:srgbClr val="FFFFFF"/>
                </a:solidFill>
                <a:latin typeface="Aptos"/>
              </a:rPr>
              <a:t>Exemple pédagogique pour le SEUL calcul catalogue : 16 h batch × 2 €/h = 32 €   vs   730 h × 2 €/h = 1 460 €</a:t>
            </a:r>
          </a:p>
        </p:txBody>
      </p:sp>
      <p:sp>
        <p:nvSpPr>
          <p:cNvPr id="24" name="TextBox 23"/>
          <p:cNvSpPr txBox="1"/>
          <p:nvPr/>
        </p:nvSpPr>
        <p:spPr>
          <a:xfrm>
            <a:off x="731520" y="4983480"/>
            <a:ext cx="10698480" cy="274320"/>
          </a:xfrm>
          <a:prstGeom prst="rect">
            <a:avLst/>
          </a:prstGeom>
          <a:noFill/>
        </p:spPr>
        <p:txBody>
          <a:bodyPr wrap="square" lIns="0" rIns="0" tIns="18288" bIns="0">
            <a:spAutoFit/>
          </a:bodyPr>
          <a:lstStyle/>
          <a:p>
            <a:pPr algn="l">
              <a:spcBef>
                <a:spcPts val="0"/>
              </a:spcBef>
              <a:spcAft>
                <a:spcPts val="0"/>
              </a:spcAft>
            </a:pPr>
            <a:r>
              <a:rPr sz="1100" b="0" i="0">
                <a:solidFill>
                  <a:srgbClr val="607069"/>
                </a:solidFill>
                <a:latin typeface="Aptos"/>
              </a:rPr>
              <a:t>Comparaison fictive, non déduite du budget Azure : les instances online restent nécessaires pour servir les clients.</a:t>
            </a:r>
          </a:p>
        </p:txBody>
      </p:sp>
      <p:sp>
        <p:nvSpPr>
          <p:cNvPr id="25" name="Rounded Rectangle 24"/>
          <p:cNvSpPr/>
          <p:nvPr/>
        </p:nvSpPr>
        <p:spPr>
          <a:xfrm>
            <a:off x="649224" y="5321808"/>
            <a:ext cx="3502152" cy="84124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5413248"/>
            <a:ext cx="3209544" cy="201168"/>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AZURE LANCEMENT</a:t>
            </a:r>
          </a:p>
        </p:txBody>
      </p:sp>
      <p:sp>
        <p:nvSpPr>
          <p:cNvPr id="27" name="TextBox 26"/>
          <p:cNvSpPr txBox="1"/>
          <p:nvPr/>
        </p:nvSpPr>
        <p:spPr>
          <a:xfrm>
            <a:off x="795528" y="5733288"/>
            <a:ext cx="3209544" cy="384048"/>
          </a:xfrm>
          <a:prstGeom prst="rect">
            <a:avLst/>
          </a:prstGeom>
          <a:noFill/>
        </p:spPr>
        <p:txBody>
          <a:bodyPr wrap="square" lIns="0" rIns="0" tIns="18288" bIns="0">
            <a:spAutoFit/>
          </a:bodyPr>
          <a:lstStyle/>
          <a:p>
            <a:pPr algn="l">
              <a:spcBef>
                <a:spcPts val="0"/>
              </a:spcBef>
              <a:spcAft>
                <a:spcPts val="0"/>
              </a:spcAft>
            </a:pPr>
            <a:r>
              <a:rPr sz="2300" b="1" i="0">
                <a:solidFill>
                  <a:srgbClr val="4B795B"/>
                </a:solidFill>
                <a:latin typeface="Aptos"/>
              </a:rPr>
              <a:t>3 600 €</a:t>
            </a:r>
          </a:p>
        </p:txBody>
      </p:sp>
      <p:sp>
        <p:nvSpPr>
          <p:cNvPr id="28" name="Rounded Rectangle 27"/>
          <p:cNvSpPr/>
          <p:nvPr/>
        </p:nvSpPr>
        <p:spPr>
          <a:xfrm>
            <a:off x="4352544" y="5321808"/>
            <a:ext cx="3502152" cy="84124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98848" y="5413248"/>
            <a:ext cx="3209544" cy="201168"/>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AZURE / MOIS STABILISÉ</a:t>
            </a:r>
          </a:p>
        </p:txBody>
      </p:sp>
      <p:sp>
        <p:nvSpPr>
          <p:cNvPr id="30" name="TextBox 29"/>
          <p:cNvSpPr txBox="1"/>
          <p:nvPr/>
        </p:nvSpPr>
        <p:spPr>
          <a:xfrm>
            <a:off x="4498848" y="5733288"/>
            <a:ext cx="3209544" cy="384048"/>
          </a:xfrm>
          <a:prstGeom prst="rect">
            <a:avLst/>
          </a:prstGeom>
          <a:noFill/>
        </p:spPr>
        <p:txBody>
          <a:bodyPr wrap="square" lIns="0" rIns="0" tIns="18288" bIns="0">
            <a:spAutoFit/>
          </a:bodyPr>
          <a:lstStyle/>
          <a:p>
            <a:pPr algn="l">
              <a:spcBef>
                <a:spcPts val="0"/>
              </a:spcBef>
              <a:spcAft>
                <a:spcPts val="0"/>
              </a:spcAft>
            </a:pPr>
            <a:r>
              <a:rPr sz="2300" b="1" i="0">
                <a:solidFill>
                  <a:srgbClr val="4B795B"/>
                </a:solidFill>
                <a:latin typeface="Aptos"/>
              </a:rPr>
              <a:t>1 800 €</a:t>
            </a:r>
          </a:p>
        </p:txBody>
      </p:sp>
      <p:sp>
        <p:nvSpPr>
          <p:cNvPr id="31" name="Rounded Rectangle 30"/>
          <p:cNvSpPr/>
          <p:nvPr/>
        </p:nvSpPr>
        <p:spPr>
          <a:xfrm>
            <a:off x="8055864" y="5321808"/>
            <a:ext cx="3502152" cy="84124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02168" y="5413248"/>
            <a:ext cx="3209544" cy="201168"/>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DATA + IA / MOIS STABILISÉ</a:t>
            </a:r>
          </a:p>
        </p:txBody>
      </p:sp>
      <p:sp>
        <p:nvSpPr>
          <p:cNvPr id="33" name="TextBox 32"/>
          <p:cNvSpPr txBox="1"/>
          <p:nvPr/>
        </p:nvSpPr>
        <p:spPr>
          <a:xfrm>
            <a:off x="8202168" y="5733288"/>
            <a:ext cx="3209544" cy="384048"/>
          </a:xfrm>
          <a:prstGeom prst="rect">
            <a:avLst/>
          </a:prstGeom>
          <a:noFill/>
        </p:spPr>
        <p:txBody>
          <a:bodyPr wrap="square" lIns="0" rIns="0" tIns="18288" bIns="0">
            <a:spAutoFit/>
          </a:bodyPr>
          <a:lstStyle/>
          <a:p>
            <a:pPr algn="l">
              <a:spcBef>
                <a:spcPts val="0"/>
              </a:spcBef>
              <a:spcAft>
                <a:spcPts val="0"/>
              </a:spcAft>
            </a:pPr>
            <a:r>
              <a:rPr sz="2300" b="1" i="0">
                <a:solidFill>
                  <a:srgbClr val="4B795B"/>
                </a:solidFill>
                <a:latin typeface="Aptos"/>
              </a:rPr>
              <a:t>8 360 €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0" rIns="0" tIns="18288" bIns="0">
            <a:spAutoFit/>
          </a:bodyPr>
          <a:lstStyle/>
          <a:p>
            <a:pPr algn="l">
              <a:spcBef>
                <a:spcPts val="0"/>
              </a:spcBef>
              <a:spcAft>
                <a:spcPts val="0"/>
              </a:spcAft>
            </a:pPr>
            <a:r>
              <a:rPr sz="950" b="1" i="0">
                <a:solidFill>
                  <a:srgbClr val="607069"/>
                </a:solidFill>
                <a:latin typeface="Aptos"/>
              </a:rPr>
              <a:t>17   /   PROJECTION ÉCONOMIQUE DATA / IA</a:t>
            </a:r>
          </a:p>
        </p:txBody>
      </p:sp>
      <p:sp>
        <p:nvSpPr>
          <p:cNvPr id="4" name="TextBox 3"/>
          <p:cNvSpPr txBox="1"/>
          <p:nvPr/>
        </p:nvSpPr>
        <p:spPr>
          <a:xfrm>
            <a:off x="603504" y="640080"/>
            <a:ext cx="10972800" cy="640080"/>
          </a:xfrm>
          <a:prstGeom prst="rect">
            <a:avLst/>
          </a:prstGeom>
          <a:noFill/>
        </p:spPr>
        <p:txBody>
          <a:bodyPr wrap="square" lIns="0" rIns="0" tIns="18288" bIns="0">
            <a:spAutoFit/>
          </a:bodyPr>
          <a:lstStyle/>
          <a:p>
            <a:pPr algn="l">
              <a:spcBef>
                <a:spcPts val="0"/>
              </a:spcBef>
              <a:spcAft>
                <a:spcPts val="0"/>
              </a:spcAft>
            </a:pPr>
            <a:r>
              <a:rPr sz="2700" b="1" i="0">
                <a:solidFill>
                  <a:srgbClr val="17221F"/>
                </a:solidFill>
                <a:latin typeface="Aptos"/>
              </a:rPr>
              <a:t>La rentabilité projetée apparaît en A2</a:t>
            </a:r>
          </a:p>
        </p:txBody>
      </p:sp>
      <p:cxnSp>
        <p:nvCxnSpPr>
          <p:cNvPr id="5" name="Connector 4"/>
          <p:cNvCxnSpPr/>
          <p:nvPr/>
        </p:nvCxnSpPr>
        <p:spPr>
          <a:xfrm>
            <a:off x="594360" y="159105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719072"/>
            <a:ext cx="10927080" cy="384048"/>
          </a:xfrm>
          <a:prstGeom prst="rect">
            <a:avLst/>
          </a:prstGeom>
          <a:noFill/>
        </p:spPr>
        <p:txBody>
          <a:bodyPr wrap="square" lIns="0" rIns="0" tIns="18288" bIns="0">
            <a:spAutoFit/>
          </a:bodyPr>
          <a:lstStyle/>
          <a:p>
            <a:pPr algn="l">
              <a:spcBef>
                <a:spcPts val="0"/>
              </a:spcBef>
              <a:spcAft>
                <a:spcPts val="0"/>
              </a:spcAft>
            </a:pPr>
            <a:r>
              <a:rPr sz="1225" b="0" i="0">
                <a:solidFill>
                  <a:srgbClr val="607069"/>
                </a:solidFill>
                <a:latin typeface="Aptos"/>
              </a:rPr>
              <a:t>Évaluation des coûts Data/IA seulement : ne pas confondre ROI du moteur IA et ROI de toute l’application.</a:t>
            </a:r>
          </a:p>
        </p:txBody>
      </p:sp>
      <p:cxnSp>
        <p:nvCxnSpPr>
          <p:cNvPr id="7" name="Connector 6"/>
          <p:cNvCxnSpPr/>
          <p:nvPr/>
        </p:nvCxnSpPr>
        <p:spPr>
          <a:xfrm>
            <a:off x="594360" y="643737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473952"/>
            <a:ext cx="10058400" cy="146304"/>
          </a:xfrm>
          <a:prstGeom prst="rect">
            <a:avLst/>
          </a:prstGeom>
          <a:noFill/>
        </p:spPr>
        <p:txBody>
          <a:bodyPr wrap="square" lIns="0" rIns="0" tIns="18288" bIns="0">
            <a:spAutoFit/>
          </a:bodyPr>
          <a:lstStyle/>
          <a:p>
            <a:pPr algn="l">
              <a:spcBef>
                <a:spcPts val="0"/>
              </a:spcBef>
              <a:spcAft>
                <a:spcPts val="0"/>
              </a:spcAft>
            </a:pPr>
            <a:r>
              <a:rPr sz="819" b="0" i="0">
                <a:solidFill>
                  <a:srgbClr val="607069"/>
                </a:solidFill>
                <a:latin typeface="Aptos"/>
              </a:rPr>
              <a:t>FASHION–INSTA  ·  CADRAGE DATA &amp; IA  /  HYPOTHÈSES À VALIDER</a:t>
            </a:r>
          </a:p>
        </p:txBody>
      </p:sp>
      <p:sp>
        <p:nvSpPr>
          <p:cNvPr id="9" name="TextBox 8"/>
          <p:cNvSpPr txBox="1"/>
          <p:nvPr/>
        </p:nvSpPr>
        <p:spPr>
          <a:xfrm>
            <a:off x="11100816" y="6469380"/>
            <a:ext cx="466344" cy="164592"/>
          </a:xfrm>
          <a:prstGeom prst="rect">
            <a:avLst/>
          </a:prstGeom>
          <a:noFill/>
        </p:spPr>
        <p:txBody>
          <a:bodyPr wrap="square" lIns="0" rIns="0" tIns="18288" bIns="0">
            <a:spAutoFit/>
          </a:bodyPr>
          <a:lstStyle/>
          <a:p>
            <a:r>
              <a:rPr sz="900">
                <a:solidFill>
                  <a:srgbClr val="607069"/>
                </a:solidFill>
                <a:latin typeface="Aptos"/>
              </a:rPr>
              <a:t>20</a:t>
            </a:r>
          </a:p>
        </p:txBody>
      </p:sp>
      <p:cxnSp>
        <p:nvCxnSpPr>
          <p:cNvPr id="10" name="Connector 9"/>
          <p:cNvCxnSpPr/>
          <p:nvPr/>
        </p:nvCxnSpPr>
        <p:spPr>
          <a:xfrm>
            <a:off x="1280160" y="5870448"/>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04088" y="5760720"/>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0</a:t>
            </a:r>
          </a:p>
        </p:txBody>
      </p:sp>
      <p:cxnSp>
        <p:nvCxnSpPr>
          <p:cNvPr id="12" name="Connector 11"/>
          <p:cNvCxnSpPr/>
          <p:nvPr/>
        </p:nvCxnSpPr>
        <p:spPr>
          <a:xfrm>
            <a:off x="1280160" y="5049774"/>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04088" y="4940046"/>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300k</a:t>
            </a:r>
          </a:p>
        </p:txBody>
      </p:sp>
      <p:cxnSp>
        <p:nvCxnSpPr>
          <p:cNvPr id="14" name="Connector 13"/>
          <p:cNvCxnSpPr/>
          <p:nvPr/>
        </p:nvCxnSpPr>
        <p:spPr>
          <a:xfrm>
            <a:off x="1280160" y="4229100"/>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04088" y="4119372"/>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600k</a:t>
            </a:r>
          </a:p>
        </p:txBody>
      </p:sp>
      <p:cxnSp>
        <p:nvCxnSpPr>
          <p:cNvPr id="16" name="Connector 15"/>
          <p:cNvCxnSpPr/>
          <p:nvPr/>
        </p:nvCxnSpPr>
        <p:spPr>
          <a:xfrm>
            <a:off x="1280160" y="3408426"/>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4088" y="3298698"/>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900k</a:t>
            </a:r>
          </a:p>
        </p:txBody>
      </p:sp>
      <p:cxnSp>
        <p:nvCxnSpPr>
          <p:cNvPr id="18" name="Connector 17"/>
          <p:cNvCxnSpPr/>
          <p:nvPr/>
        </p:nvCxnSpPr>
        <p:spPr>
          <a:xfrm>
            <a:off x="1280160" y="2587752"/>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04088" y="2478024"/>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1200k</a:t>
            </a:r>
          </a:p>
        </p:txBody>
      </p:sp>
      <p:sp>
        <p:nvSpPr>
          <p:cNvPr id="20" name="TextBox 19"/>
          <p:cNvSpPr txBox="1"/>
          <p:nvPr/>
        </p:nvSpPr>
        <p:spPr>
          <a:xfrm>
            <a:off x="112471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A1</a:t>
            </a:r>
          </a:p>
        </p:txBody>
      </p:sp>
      <p:sp>
        <p:nvSpPr>
          <p:cNvPr id="21" name="TextBox 20"/>
          <p:cNvSpPr txBox="1"/>
          <p:nvPr/>
        </p:nvSpPr>
        <p:spPr>
          <a:xfrm>
            <a:off x="2736341"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A2</a:t>
            </a:r>
          </a:p>
        </p:txBody>
      </p:sp>
      <p:sp>
        <p:nvSpPr>
          <p:cNvPr id="22" name="TextBox 21"/>
          <p:cNvSpPr txBox="1"/>
          <p:nvPr/>
        </p:nvSpPr>
        <p:spPr>
          <a:xfrm>
            <a:off x="434797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A3</a:t>
            </a:r>
          </a:p>
        </p:txBody>
      </p:sp>
      <p:sp>
        <p:nvSpPr>
          <p:cNvPr id="23" name="TextBox 22"/>
          <p:cNvSpPr txBox="1"/>
          <p:nvPr/>
        </p:nvSpPr>
        <p:spPr>
          <a:xfrm>
            <a:off x="595960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A4</a:t>
            </a:r>
          </a:p>
        </p:txBody>
      </p:sp>
      <p:sp>
        <p:nvSpPr>
          <p:cNvPr id="24" name="TextBox 23"/>
          <p:cNvSpPr txBox="1"/>
          <p:nvPr/>
        </p:nvSpPr>
        <p:spPr>
          <a:xfrm>
            <a:off x="7571231"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A5</a:t>
            </a:r>
          </a:p>
        </p:txBody>
      </p:sp>
      <p:cxnSp>
        <p:nvCxnSpPr>
          <p:cNvPr id="25" name="Connector 24"/>
          <p:cNvCxnSpPr/>
          <p:nvPr/>
        </p:nvCxnSpPr>
        <p:spPr>
          <a:xfrm flipV="1">
            <a:off x="1280160" y="5102297"/>
            <a:ext cx="1611629" cy="576113"/>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91789" y="4334146"/>
            <a:ext cx="1611631"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503420" y="3565995"/>
            <a:ext cx="1611630"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115050" y="2797844"/>
            <a:ext cx="1611629"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218895" y="5617145"/>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830525" y="5041032"/>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42155" y="4272881"/>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053785" y="3504730"/>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65415" y="2736579"/>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V="1">
            <a:off x="1280160" y="5157000"/>
            <a:ext cx="1611629"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891789" y="4882566"/>
            <a:ext cx="1611631" cy="274434"/>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503420" y="4608133"/>
            <a:ext cx="1611630"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115050" y="4333700"/>
            <a:ext cx="1611629"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1218895" y="5370168"/>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830525" y="5095735"/>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442155" y="4821302"/>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053785" y="4546868"/>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665415" y="4272435"/>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2891789" y="2542032"/>
            <a:ext cx="0" cy="3346704"/>
          </a:xfrm>
          <a:prstGeom prst="line">
            <a:avLst/>
          </a:prstGeom>
          <a:ln w="16510">
            <a:solidFill>
              <a:srgbClr val="D0EE94"/>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344168" y="2249424"/>
            <a:ext cx="219456" cy="82296"/>
          </a:xfrm>
          <a:prstGeom prst="rect">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645920" y="2148840"/>
            <a:ext cx="1956816" cy="274320"/>
          </a:xfrm>
          <a:prstGeom prst="rect">
            <a:avLst/>
          </a:prstGeom>
          <a:noFill/>
        </p:spPr>
        <p:txBody>
          <a:bodyPr wrap="square" lIns="0" rIns="0" tIns="18288" bIns="0">
            <a:spAutoFit/>
          </a:bodyPr>
          <a:lstStyle/>
          <a:p>
            <a:pPr algn="l">
              <a:spcBef>
                <a:spcPts val="0"/>
              </a:spcBef>
              <a:spcAft>
                <a:spcPts val="0"/>
              </a:spcAft>
            </a:pPr>
            <a:r>
              <a:rPr sz="1100" b="1" i="0">
                <a:solidFill>
                  <a:srgbClr val="4B795B"/>
                </a:solidFill>
                <a:latin typeface="Aptos"/>
              </a:rPr>
              <a:t>Marge cumulée</a:t>
            </a:r>
          </a:p>
        </p:txBody>
      </p:sp>
      <p:sp>
        <p:nvSpPr>
          <p:cNvPr id="46" name="Rectangle 45"/>
          <p:cNvSpPr/>
          <p:nvPr/>
        </p:nvSpPr>
        <p:spPr>
          <a:xfrm>
            <a:off x="3685032" y="2249424"/>
            <a:ext cx="219456" cy="82296"/>
          </a:xfrm>
          <a:prstGeom prst="rect">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68496" y="2148840"/>
            <a:ext cx="2240280" cy="274320"/>
          </a:xfrm>
          <a:prstGeom prst="rect">
            <a:avLst/>
          </a:prstGeom>
          <a:noFill/>
        </p:spPr>
        <p:txBody>
          <a:bodyPr wrap="square" lIns="0" rIns="0" tIns="18288" bIns="0">
            <a:spAutoFit/>
          </a:bodyPr>
          <a:lstStyle/>
          <a:p>
            <a:pPr algn="l">
              <a:spcBef>
                <a:spcPts val="0"/>
              </a:spcBef>
              <a:spcAft>
                <a:spcPts val="0"/>
              </a:spcAft>
            </a:pPr>
            <a:r>
              <a:rPr sz="1100" b="1" i="0">
                <a:solidFill>
                  <a:srgbClr val="607069"/>
                </a:solidFill>
                <a:latin typeface="Aptos"/>
              </a:rPr>
              <a:t>Coûts cumulés Data/IA</a:t>
            </a:r>
          </a:p>
        </p:txBody>
      </p:sp>
      <p:sp>
        <p:nvSpPr>
          <p:cNvPr id="48" name="Rounded Rectangle 47"/>
          <p:cNvSpPr/>
          <p:nvPr/>
        </p:nvSpPr>
        <p:spPr>
          <a:xfrm>
            <a:off x="8165592" y="2313432"/>
            <a:ext cx="3401568" cy="363016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75904" y="2532888"/>
            <a:ext cx="2980944" cy="228600"/>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SCÉNARIO CENTRAL</a:t>
            </a:r>
          </a:p>
        </p:txBody>
      </p:sp>
      <p:sp>
        <p:nvSpPr>
          <p:cNvPr id="50" name="TextBox 49"/>
          <p:cNvSpPr txBox="1"/>
          <p:nvPr/>
        </p:nvSpPr>
        <p:spPr>
          <a:xfrm>
            <a:off x="8357616" y="2898648"/>
            <a:ext cx="2926080" cy="457200"/>
          </a:xfrm>
          <a:prstGeom prst="rect">
            <a:avLst/>
          </a:prstGeom>
          <a:noFill/>
        </p:spPr>
        <p:txBody>
          <a:bodyPr wrap="square" lIns="0" rIns="0" tIns="18288" bIns="0">
            <a:spAutoFit/>
          </a:bodyPr>
          <a:lstStyle/>
          <a:p>
            <a:pPr algn="l">
              <a:spcBef>
                <a:spcPts val="0"/>
              </a:spcBef>
              <a:spcAft>
                <a:spcPts val="0"/>
              </a:spcAft>
            </a:pPr>
            <a:r>
              <a:rPr sz="2500" b="1" i="0">
                <a:solidFill>
                  <a:srgbClr val="40775E"/>
                </a:solidFill>
                <a:latin typeface="Aptos"/>
              </a:rPr>
              <a:t>+19 997 €</a:t>
            </a:r>
          </a:p>
        </p:txBody>
      </p:sp>
      <p:sp>
        <p:nvSpPr>
          <p:cNvPr id="51" name="TextBox 50"/>
          <p:cNvSpPr txBox="1"/>
          <p:nvPr/>
        </p:nvSpPr>
        <p:spPr>
          <a:xfrm>
            <a:off x="8375904" y="3392424"/>
            <a:ext cx="2926080" cy="329184"/>
          </a:xfrm>
          <a:prstGeom prst="rect">
            <a:avLst/>
          </a:prstGeom>
          <a:noFill/>
        </p:spPr>
        <p:txBody>
          <a:bodyPr wrap="square" lIns="0" rIns="0" tIns="18288" bIns="0">
            <a:spAutoFit/>
          </a:bodyPr>
          <a:lstStyle/>
          <a:p>
            <a:pPr algn="l">
              <a:spcBef>
                <a:spcPts val="0"/>
              </a:spcBef>
              <a:spcAft>
                <a:spcPts val="0"/>
              </a:spcAft>
            </a:pPr>
            <a:r>
              <a:rPr sz="1200" b="0" i="0">
                <a:solidFill>
                  <a:srgbClr val="607069"/>
                </a:solidFill>
                <a:latin typeface="Aptos"/>
              </a:rPr>
              <a:t>Solde cumulé fin A2</a:t>
            </a:r>
          </a:p>
        </p:txBody>
      </p:sp>
      <p:cxnSp>
        <p:nvCxnSpPr>
          <p:cNvPr id="52" name="Connector 51"/>
          <p:cNvCxnSpPr/>
          <p:nvPr/>
        </p:nvCxnSpPr>
        <p:spPr>
          <a:xfrm>
            <a:off x="8394192" y="3858768"/>
            <a:ext cx="2926080"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375904" y="4005072"/>
            <a:ext cx="2834640" cy="219456"/>
          </a:xfrm>
          <a:prstGeom prst="rect">
            <a:avLst/>
          </a:prstGeom>
          <a:noFill/>
        </p:spPr>
        <p:txBody>
          <a:bodyPr wrap="square" lIns="0" rIns="0" tIns="18288" bIns="0">
            <a:spAutoFit/>
          </a:bodyPr>
          <a:lstStyle/>
          <a:p>
            <a:pPr algn="l">
              <a:spcBef>
                <a:spcPts val="0"/>
              </a:spcBef>
              <a:spcAft>
                <a:spcPts val="0"/>
              </a:spcAft>
            </a:pPr>
            <a:r>
              <a:rPr sz="1700" b="1" i="0">
                <a:solidFill>
                  <a:srgbClr val="17221F"/>
                </a:solidFill>
                <a:latin typeface="Aptos"/>
              </a:rPr>
              <a:t>+936 000 € / an</a:t>
            </a:r>
          </a:p>
        </p:txBody>
      </p:sp>
      <p:sp>
        <p:nvSpPr>
          <p:cNvPr id="54" name="TextBox 53"/>
          <p:cNvSpPr txBox="1"/>
          <p:nvPr/>
        </p:nvSpPr>
        <p:spPr>
          <a:xfrm>
            <a:off x="8375904" y="4352544"/>
            <a:ext cx="2862072" cy="420624"/>
          </a:xfrm>
          <a:prstGeom prst="rect">
            <a:avLst/>
          </a:prstGeom>
          <a:noFill/>
        </p:spPr>
        <p:txBody>
          <a:bodyPr wrap="square" lIns="0" rIns="0" tIns="18288" bIns="0">
            <a:spAutoFit/>
          </a:bodyPr>
          <a:lstStyle/>
          <a:p>
            <a:pPr algn="l">
              <a:spcBef>
                <a:spcPts val="0"/>
              </a:spcBef>
              <a:spcAft>
                <a:spcPts val="0"/>
              </a:spcAft>
            </a:pPr>
            <a:r>
              <a:rPr sz="1060" b="0" i="0">
                <a:solidFill>
                  <a:srgbClr val="607069"/>
                </a:solidFill>
                <a:latin typeface="Aptos"/>
              </a:rPr>
              <a:t>CA additionnel annualisé</a:t>
            </a:r>
          </a:p>
          <a:p>
            <a:pPr algn="l">
              <a:spcBef>
                <a:spcPts val="0"/>
              </a:spcBef>
              <a:spcAft>
                <a:spcPts val="0"/>
              </a:spcAft>
            </a:pPr>
            <a:r>
              <a:rPr sz="1060" b="0" i="0">
                <a:solidFill>
                  <a:srgbClr val="607069"/>
                </a:solidFill>
                <a:latin typeface="Aptos"/>
              </a:rPr>
              <a:t>visé à 24 mois</a:t>
            </a:r>
          </a:p>
        </p:txBody>
      </p:sp>
      <p:cxnSp>
        <p:nvCxnSpPr>
          <p:cNvPr id="55" name="Connector 54"/>
          <p:cNvCxnSpPr/>
          <p:nvPr/>
        </p:nvCxnSpPr>
        <p:spPr>
          <a:xfrm>
            <a:off x="8394192" y="4910328"/>
            <a:ext cx="2926080"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375904" y="5038344"/>
            <a:ext cx="2834640" cy="237744"/>
          </a:xfrm>
          <a:prstGeom prst="rect">
            <a:avLst/>
          </a:prstGeom>
          <a:noFill/>
        </p:spPr>
        <p:txBody>
          <a:bodyPr wrap="square" lIns="0" rIns="0" tIns="18288" bIns="0">
            <a:spAutoFit/>
          </a:bodyPr>
          <a:lstStyle/>
          <a:p>
            <a:pPr algn="l">
              <a:spcBef>
                <a:spcPts val="0"/>
              </a:spcBef>
              <a:spcAft>
                <a:spcPts val="0"/>
              </a:spcAft>
            </a:pPr>
            <a:r>
              <a:rPr sz="1100" b="1" i="0">
                <a:solidFill>
                  <a:srgbClr val="4B795B"/>
                </a:solidFill>
                <a:latin typeface="Aptos"/>
              </a:rPr>
              <a:t>Hypothèses à valider</a:t>
            </a:r>
          </a:p>
        </p:txBody>
      </p:sp>
      <p:sp>
        <p:nvSpPr>
          <p:cNvPr id="57" name="TextBox 56"/>
          <p:cNvSpPr txBox="1"/>
          <p:nvPr/>
        </p:nvSpPr>
        <p:spPr>
          <a:xfrm>
            <a:off x="8375904" y="5321808"/>
            <a:ext cx="2907792" cy="438912"/>
          </a:xfrm>
          <a:prstGeom prst="rect">
            <a:avLst/>
          </a:prstGeom>
          <a:noFill/>
        </p:spPr>
        <p:txBody>
          <a:bodyPr wrap="square" lIns="0" rIns="0" tIns="18288" bIns="0">
            <a:spAutoFit/>
          </a:bodyPr>
          <a:lstStyle/>
          <a:p>
            <a:pPr algn="l">
              <a:spcBef>
                <a:spcPts val="0"/>
              </a:spcBef>
              <a:spcAft>
                <a:spcPts val="0"/>
              </a:spcAft>
            </a:pPr>
            <a:r>
              <a:rPr sz="1040" b="0" i="0">
                <a:solidFill>
                  <a:srgbClr val="607069"/>
                </a:solidFill>
                <a:latin typeface="Aptos"/>
              </a:rPr>
              <a:t>30 % de marge · montée en</a:t>
            </a:r>
          </a:p>
          <a:p>
            <a:pPr algn="l">
              <a:spcBef>
                <a:spcPts val="0"/>
              </a:spcBef>
              <a:spcAft>
                <a:spcPts val="0"/>
              </a:spcAft>
            </a:pPr>
            <a:r>
              <a:rPr sz="1040" b="0" i="0">
                <a:solidFill>
                  <a:srgbClr val="607069"/>
                </a:solidFill>
                <a:latin typeface="Aptos"/>
              </a:rPr>
              <a:t>charge 25 % / 75 % / 100 %</a:t>
            </a:r>
          </a:p>
        </p:txBody>
      </p:sp>
      <p:sp>
        <p:nvSpPr>
          <p:cNvPr id="58" name="TextBox 57"/>
          <p:cNvSpPr txBox="1"/>
          <p:nvPr/>
        </p:nvSpPr>
        <p:spPr>
          <a:xfrm>
            <a:off x="1243584" y="6190488"/>
            <a:ext cx="10241280" cy="173736"/>
          </a:xfrm>
          <a:prstGeom prst="rect">
            <a:avLst/>
          </a:prstGeom>
          <a:noFill/>
        </p:spPr>
        <p:txBody>
          <a:bodyPr wrap="square" lIns="0" rIns="0" tIns="18288" bIns="0">
            <a:spAutoFit/>
          </a:bodyPr>
          <a:lstStyle/>
          <a:p>
            <a:pPr algn="l">
              <a:spcBef>
                <a:spcPts val="0"/>
              </a:spcBef>
              <a:spcAft>
                <a:spcPts val="0"/>
              </a:spcAft>
            </a:pPr>
            <a:r>
              <a:rPr sz="900" b="0" i="0">
                <a:solidFill>
                  <a:srgbClr val="607069"/>
                </a:solidFill>
                <a:latin typeface="Aptos"/>
              </a:rPr>
              <a:t>Croisement entre fin A1 et fin A2. Azure : provisions de simulation non vérifiées ; coûts de l’application mobile exclus.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19456"/>
          </a:xfrm>
          <a:prstGeom prst="rect">
            <a:avLst/>
          </a:prstGeom>
          <a:noFill/>
        </p:spPr>
        <p:txBody>
          <a:bodyPr wrap="square" lIns="0" rIns="0" tIns="0" bIns="0" anchor="t">
            <a:spAutoFit/>
          </a:bodyPr>
          <a:lstStyle/>
          <a:p>
            <a:pPr>
              <a:lnSpc>
                <a:spcPct val="109000"/>
              </a:lnSpc>
              <a:spcBef>
                <a:spcPts val="0"/>
              </a:spcBef>
              <a:spcAft>
                <a:spcPts val="0"/>
              </a:spcAft>
            </a:pPr>
            <a:r>
              <a:rPr sz="950" b="0">
                <a:solidFill>
                  <a:srgbClr val="607069"/>
                </a:solidFill>
                <a:latin typeface="Aptos"/>
              </a:rPr>
              <a:t>18   /   SCALABILITÉ &amp; FIABILITÉ</a:t>
            </a:r>
          </a:p>
        </p:txBody>
      </p:sp>
      <p:sp>
        <p:nvSpPr>
          <p:cNvPr id="4" name="TextBox 3"/>
          <p:cNvSpPr txBox="1"/>
          <p:nvPr/>
        </p:nvSpPr>
        <p:spPr>
          <a:xfrm>
            <a:off x="603504" y="658368"/>
            <a:ext cx="10972800" cy="539496"/>
          </a:xfrm>
          <a:prstGeom prst="rect">
            <a:avLst/>
          </a:prstGeom>
          <a:noFill/>
        </p:spPr>
        <p:txBody>
          <a:bodyPr wrap="square" lIns="0" rIns="0" tIns="0" bIns="0" anchor="t">
            <a:spAutoFit/>
          </a:bodyPr>
          <a:lstStyle/>
          <a:p>
            <a:pPr>
              <a:lnSpc>
                <a:spcPct val="109000"/>
              </a:lnSpc>
              <a:spcBef>
                <a:spcPts val="0"/>
              </a:spcBef>
              <a:spcAft>
                <a:spcPts val="0"/>
              </a:spcAft>
            </a:pPr>
            <a:r>
              <a:rPr sz="2700" b="1">
                <a:solidFill>
                  <a:srgbClr val="17221F"/>
                </a:solidFill>
                <a:latin typeface="Aptos"/>
              </a:rPr>
              <a:t>Une architecture dimensionnée par l’usage</a:t>
            </a:r>
          </a:p>
        </p:txBody>
      </p:sp>
      <p:sp>
        <p:nvSpPr>
          <p:cNvPr id="5" name="Rectangle 4"/>
          <p:cNvSpPr/>
          <p:nvPr/>
        </p:nvSpPr>
        <p:spPr>
          <a:xfrm>
            <a:off x="594360" y="1591056"/>
            <a:ext cx="10991088" cy="11887"/>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746504"/>
            <a:ext cx="10936224" cy="374904"/>
          </a:xfrm>
          <a:prstGeom prst="rect">
            <a:avLst/>
          </a:prstGeom>
          <a:noFill/>
        </p:spPr>
        <p:txBody>
          <a:bodyPr wrap="square" lIns="0" rIns="0" tIns="0" bIns="0" anchor="t">
            <a:spAutoFit/>
          </a:bodyPr>
          <a:lstStyle/>
          <a:p>
            <a:pPr>
              <a:lnSpc>
                <a:spcPct val="109000"/>
              </a:lnSpc>
              <a:spcBef>
                <a:spcPts val="0"/>
              </a:spcBef>
              <a:spcAft>
                <a:spcPts val="0"/>
              </a:spcAft>
            </a:pPr>
            <a:r>
              <a:rPr sz="1225" b="0">
                <a:solidFill>
                  <a:srgbClr val="607069"/>
                </a:solidFill>
                <a:latin typeface="Aptos"/>
              </a:rPr>
              <a:t>400 000 utilisateurs annuels ne signifient pas 400 000 connexions simultanées. La capacité dépend des pointes et du SLA.</a:t>
            </a:r>
          </a:p>
        </p:txBody>
      </p:sp>
      <p:sp>
        <p:nvSpPr>
          <p:cNvPr id="7" name="Rectangle 6"/>
          <p:cNvSpPr/>
          <p:nvPr/>
        </p:nvSpPr>
        <p:spPr>
          <a:xfrm>
            <a:off x="594360" y="6437376"/>
            <a:ext cx="10991088" cy="10972"/>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83096"/>
            <a:ext cx="10058400" cy="155448"/>
          </a:xfrm>
          <a:prstGeom prst="rect">
            <a:avLst/>
          </a:prstGeom>
          <a:noFill/>
        </p:spPr>
        <p:txBody>
          <a:bodyPr wrap="square" lIns="0" rIns="0" tIns="0" bIns="0" anchor="t">
            <a:spAutoFit/>
          </a:bodyPr>
          <a:lstStyle/>
          <a:p>
            <a:pPr>
              <a:lnSpc>
                <a:spcPct val="109000"/>
              </a:lnSpc>
              <a:spcBef>
                <a:spcPts val="0"/>
              </a:spcBef>
              <a:spcAft>
                <a:spcPts val="0"/>
              </a:spcAft>
            </a:pPr>
            <a:r>
              <a:rPr sz="819" b="0">
                <a:solidFill>
                  <a:srgbClr val="607069"/>
                </a:solidFill>
                <a:latin typeface="Aptos"/>
              </a:rPr>
              <a:t>FASHION–INSTA  ·  CADRAGE DATA &amp; IA  /  HYPOTHÈSES À VALIDER</a:t>
            </a:r>
          </a:p>
        </p:txBody>
      </p:sp>
      <p:sp>
        <p:nvSpPr>
          <p:cNvPr id="9" name="TextBox 8"/>
          <p:cNvSpPr txBox="1"/>
          <p:nvPr/>
        </p:nvSpPr>
        <p:spPr>
          <a:xfrm>
            <a:off x="11100816" y="6464808"/>
            <a:ext cx="457200" cy="164592"/>
          </a:xfrm>
          <a:prstGeom prst="rect">
            <a:avLst/>
          </a:prstGeom>
          <a:noFill/>
        </p:spPr>
        <p:txBody>
          <a:bodyPr wrap="square" lIns="0" rIns="0" tIns="0" bIns="0" anchor="t">
            <a:spAutoFit/>
          </a:bodyPr>
          <a:lstStyle/>
          <a:p>
            <a:r>
              <a:rPr sz="900">
                <a:solidFill>
                  <a:srgbClr val="607069"/>
                </a:solidFill>
                <a:latin typeface="Aptos"/>
              </a:rPr>
              <a:t>21</a:t>
            </a:r>
          </a:p>
        </p:txBody>
      </p:sp>
      <p:sp>
        <p:nvSpPr>
          <p:cNvPr id="10" name="Rounded Rectangle 9"/>
          <p:cNvSpPr/>
          <p:nvPr/>
        </p:nvSpPr>
        <p:spPr>
          <a:xfrm>
            <a:off x="658368" y="2258568"/>
            <a:ext cx="3355848" cy="102412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3" y="2377440"/>
            <a:ext cx="2962656" cy="402336"/>
          </a:xfrm>
          <a:prstGeom prst="rect">
            <a:avLst/>
          </a:prstGeom>
          <a:noFill/>
        </p:spPr>
        <p:txBody>
          <a:bodyPr wrap="square" lIns="0" rIns="0" tIns="0" bIns="0" anchor="t">
            <a:spAutoFit/>
          </a:bodyPr>
          <a:lstStyle/>
          <a:p>
            <a:pPr>
              <a:lnSpc>
                <a:spcPct val="109000"/>
              </a:lnSpc>
              <a:spcBef>
                <a:spcPts val="0"/>
              </a:spcBef>
              <a:spcAft>
                <a:spcPts val="0"/>
              </a:spcAft>
            </a:pPr>
            <a:r>
              <a:rPr sz="2500" b="1">
                <a:solidFill>
                  <a:srgbClr val="1D342C"/>
                </a:solidFill>
                <a:latin typeface="Aptos"/>
              </a:rPr>
              <a:t>400 000</a:t>
            </a:r>
          </a:p>
        </p:txBody>
      </p:sp>
      <p:sp>
        <p:nvSpPr>
          <p:cNvPr id="12" name="TextBox 11"/>
          <p:cNvSpPr txBox="1"/>
          <p:nvPr/>
        </p:nvSpPr>
        <p:spPr>
          <a:xfrm>
            <a:off x="832103" y="2816352"/>
            <a:ext cx="2962656" cy="19202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4B795B"/>
                </a:solidFill>
                <a:latin typeface="Aptos"/>
              </a:rPr>
              <a:t>Utilisateurs / an</a:t>
            </a:r>
          </a:p>
        </p:txBody>
      </p:sp>
      <p:sp>
        <p:nvSpPr>
          <p:cNvPr id="13" name="TextBox 12"/>
          <p:cNvSpPr txBox="1"/>
          <p:nvPr/>
        </p:nvSpPr>
        <p:spPr>
          <a:xfrm>
            <a:off x="832103" y="3054096"/>
            <a:ext cx="2962656" cy="146304"/>
          </a:xfrm>
          <a:prstGeom prst="rect">
            <a:avLst/>
          </a:prstGeom>
          <a:noFill/>
        </p:spPr>
        <p:txBody>
          <a:bodyPr wrap="square" lIns="0" rIns="0" tIns="0" bIns="0" anchor="t">
            <a:spAutoFit/>
          </a:bodyPr>
          <a:lstStyle/>
          <a:p>
            <a:pPr>
              <a:lnSpc>
                <a:spcPct val="109000"/>
              </a:lnSpc>
              <a:spcBef>
                <a:spcPts val="0"/>
              </a:spcBef>
              <a:spcAft>
                <a:spcPts val="0"/>
              </a:spcAft>
            </a:pPr>
            <a:r>
              <a:rPr sz="840" b="0">
                <a:solidFill>
                  <a:srgbClr val="607069"/>
                </a:solidFill>
                <a:latin typeface="Aptos"/>
              </a:rPr>
              <a:t>Projection Marketing</a:t>
            </a:r>
          </a:p>
        </p:txBody>
      </p:sp>
      <p:sp>
        <p:nvSpPr>
          <p:cNvPr id="14" name="Rounded Rectangle 13"/>
          <p:cNvSpPr/>
          <p:nvPr/>
        </p:nvSpPr>
        <p:spPr>
          <a:xfrm>
            <a:off x="4453128" y="2258568"/>
            <a:ext cx="3355848" cy="102412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26864" y="2377440"/>
            <a:ext cx="2962656" cy="402336"/>
          </a:xfrm>
          <a:prstGeom prst="rect">
            <a:avLst/>
          </a:prstGeom>
          <a:noFill/>
        </p:spPr>
        <p:txBody>
          <a:bodyPr wrap="square" lIns="0" rIns="0" tIns="0" bIns="0" anchor="t">
            <a:spAutoFit/>
          </a:bodyPr>
          <a:lstStyle/>
          <a:p>
            <a:pPr>
              <a:lnSpc>
                <a:spcPct val="109000"/>
              </a:lnSpc>
              <a:spcBef>
                <a:spcPts val="0"/>
              </a:spcBef>
              <a:spcAft>
                <a:spcPts val="0"/>
              </a:spcAft>
            </a:pPr>
            <a:r>
              <a:rPr sz="2500" b="1">
                <a:solidFill>
                  <a:srgbClr val="1D342C"/>
                </a:solidFill>
                <a:latin typeface="Aptos"/>
              </a:rPr>
              <a:t>2 M</a:t>
            </a:r>
          </a:p>
        </p:txBody>
      </p:sp>
      <p:sp>
        <p:nvSpPr>
          <p:cNvPr id="16" name="TextBox 15"/>
          <p:cNvSpPr txBox="1"/>
          <p:nvPr/>
        </p:nvSpPr>
        <p:spPr>
          <a:xfrm>
            <a:off x="4626864" y="2816352"/>
            <a:ext cx="2962656" cy="19202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4B795B"/>
                </a:solidFill>
                <a:latin typeface="Aptos"/>
              </a:rPr>
              <a:t>Requêtes / an</a:t>
            </a:r>
          </a:p>
        </p:txBody>
      </p:sp>
      <p:sp>
        <p:nvSpPr>
          <p:cNvPr id="17" name="TextBox 16"/>
          <p:cNvSpPr txBox="1"/>
          <p:nvPr/>
        </p:nvSpPr>
        <p:spPr>
          <a:xfrm>
            <a:off x="4626864" y="3054096"/>
            <a:ext cx="2962656" cy="146304"/>
          </a:xfrm>
          <a:prstGeom prst="rect">
            <a:avLst/>
          </a:prstGeom>
          <a:noFill/>
        </p:spPr>
        <p:txBody>
          <a:bodyPr wrap="square" lIns="0" rIns="0" tIns="0" bIns="0" anchor="t">
            <a:spAutoFit/>
          </a:bodyPr>
          <a:lstStyle/>
          <a:p>
            <a:pPr>
              <a:lnSpc>
                <a:spcPct val="109000"/>
              </a:lnSpc>
              <a:spcBef>
                <a:spcPts val="0"/>
              </a:spcBef>
              <a:spcAft>
                <a:spcPts val="0"/>
              </a:spcAft>
            </a:pPr>
            <a:r>
              <a:rPr sz="840" b="0">
                <a:solidFill>
                  <a:srgbClr val="607069"/>
                </a:solidFill>
                <a:latin typeface="Aptos"/>
              </a:rPr>
              <a:t>5 recommandations par client, hypothèse</a:t>
            </a:r>
          </a:p>
        </p:txBody>
      </p:sp>
      <p:sp>
        <p:nvSpPr>
          <p:cNvPr id="18" name="Rounded Rectangle 17"/>
          <p:cNvSpPr/>
          <p:nvPr/>
        </p:nvSpPr>
        <p:spPr>
          <a:xfrm>
            <a:off x="8238744" y="2258568"/>
            <a:ext cx="3355848" cy="102412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377440"/>
            <a:ext cx="2962656" cy="402336"/>
          </a:xfrm>
          <a:prstGeom prst="rect">
            <a:avLst/>
          </a:prstGeom>
          <a:noFill/>
        </p:spPr>
        <p:txBody>
          <a:bodyPr wrap="square" lIns="0" rIns="0" tIns="0" bIns="0" anchor="t">
            <a:spAutoFit/>
          </a:bodyPr>
          <a:lstStyle/>
          <a:p>
            <a:pPr>
              <a:lnSpc>
                <a:spcPct val="109000"/>
              </a:lnSpc>
              <a:spcBef>
                <a:spcPts val="0"/>
              </a:spcBef>
              <a:spcAft>
                <a:spcPts val="0"/>
              </a:spcAft>
            </a:pPr>
            <a:r>
              <a:rPr sz="2500" b="1">
                <a:solidFill>
                  <a:srgbClr val="1D342C"/>
                </a:solidFill>
                <a:latin typeface="Aptos"/>
              </a:rPr>
              <a:t>≈ 1,27/s</a:t>
            </a:r>
          </a:p>
        </p:txBody>
      </p:sp>
      <p:sp>
        <p:nvSpPr>
          <p:cNvPr id="20" name="TextBox 19"/>
          <p:cNvSpPr txBox="1"/>
          <p:nvPr/>
        </p:nvSpPr>
        <p:spPr>
          <a:xfrm>
            <a:off x="8412480" y="2816352"/>
            <a:ext cx="2962656" cy="19202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4B795B"/>
                </a:solidFill>
                <a:latin typeface="Aptos"/>
              </a:rPr>
              <a:t>Pointe testée</a:t>
            </a:r>
          </a:p>
        </p:txBody>
      </p:sp>
      <p:sp>
        <p:nvSpPr>
          <p:cNvPr id="21" name="TextBox 20"/>
          <p:cNvSpPr txBox="1"/>
          <p:nvPr/>
        </p:nvSpPr>
        <p:spPr>
          <a:xfrm>
            <a:off x="8412480" y="3054096"/>
            <a:ext cx="2962656" cy="146304"/>
          </a:xfrm>
          <a:prstGeom prst="rect">
            <a:avLst/>
          </a:prstGeom>
          <a:noFill/>
        </p:spPr>
        <p:txBody>
          <a:bodyPr wrap="square" lIns="0" rIns="0" tIns="0" bIns="0" anchor="t">
            <a:spAutoFit/>
          </a:bodyPr>
          <a:lstStyle/>
          <a:p>
            <a:pPr>
              <a:lnSpc>
                <a:spcPct val="109000"/>
              </a:lnSpc>
              <a:spcBef>
                <a:spcPts val="0"/>
              </a:spcBef>
              <a:spcAft>
                <a:spcPts val="0"/>
              </a:spcAft>
            </a:pPr>
            <a:r>
              <a:rPr sz="840" b="0">
                <a:solidFill>
                  <a:srgbClr val="607069"/>
                </a:solidFill>
                <a:latin typeface="Aptos"/>
              </a:rPr>
              <a:t>×20 vs débit moyen 24h/24</a:t>
            </a:r>
          </a:p>
        </p:txBody>
      </p:sp>
      <p:sp>
        <p:nvSpPr>
          <p:cNvPr id="22" name="Rounded Rectangle 21"/>
          <p:cNvSpPr/>
          <p:nvPr/>
        </p:nvSpPr>
        <p:spPr>
          <a:xfrm>
            <a:off x="658368" y="3584448"/>
            <a:ext cx="3355848" cy="170992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2959" y="3776472"/>
            <a:ext cx="429768" cy="384048"/>
          </a:xfrm>
          <a:prstGeom prst="roundRect">
            <a:avLst>
              <a:gd name="adj" fmla="val 10000"/>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 y="3877056"/>
            <a:ext cx="256032" cy="173736"/>
          </a:xfrm>
          <a:prstGeom prst="rect">
            <a:avLst/>
          </a:prstGeom>
          <a:noFill/>
        </p:spPr>
        <p:txBody>
          <a:bodyPr wrap="square" lIns="0" rIns="0" tIns="0" bIns="0" anchor="t">
            <a:spAutoFit/>
          </a:bodyPr>
          <a:lstStyle/>
          <a:p>
            <a:pPr>
              <a:lnSpc>
                <a:spcPct val="109000"/>
              </a:lnSpc>
              <a:spcBef>
                <a:spcPts val="0"/>
              </a:spcBef>
              <a:spcAft>
                <a:spcPts val="0"/>
              </a:spcAft>
            </a:pPr>
            <a:r>
              <a:rPr sz="900" b="1">
                <a:solidFill>
                  <a:srgbClr val="17221F"/>
                </a:solidFill>
                <a:latin typeface="Aptos"/>
              </a:rPr>
              <a:t>01</a:t>
            </a:r>
          </a:p>
        </p:txBody>
      </p:sp>
      <p:sp>
        <p:nvSpPr>
          <p:cNvPr id="25" name="TextBox 24"/>
          <p:cNvSpPr txBox="1"/>
          <p:nvPr/>
        </p:nvSpPr>
        <p:spPr>
          <a:xfrm>
            <a:off x="1362456" y="3758184"/>
            <a:ext cx="2514600" cy="347472"/>
          </a:xfrm>
          <a:prstGeom prst="rect">
            <a:avLst/>
          </a:prstGeom>
          <a:noFill/>
        </p:spPr>
        <p:txBody>
          <a:bodyPr wrap="square" lIns="0" rIns="0" tIns="0" bIns="0" anchor="t">
            <a:spAutoFit/>
          </a:bodyPr>
          <a:lstStyle/>
          <a:p>
            <a:pPr>
              <a:lnSpc>
                <a:spcPct val="109000"/>
              </a:lnSpc>
              <a:spcBef>
                <a:spcPts val="0"/>
              </a:spcBef>
              <a:spcAft>
                <a:spcPts val="0"/>
              </a:spcAft>
            </a:pPr>
            <a:r>
              <a:rPr sz="1200" b="1">
                <a:solidFill>
                  <a:srgbClr val="17221F"/>
                </a:solidFill>
                <a:latin typeface="Aptos"/>
              </a:rPr>
              <a:t>CAPACITÉ ONLINE</a:t>
            </a:r>
          </a:p>
        </p:txBody>
      </p:sp>
      <p:sp>
        <p:nvSpPr>
          <p:cNvPr id="26" name="TextBox 25"/>
          <p:cNvSpPr txBox="1"/>
          <p:nvPr/>
        </p:nvSpPr>
        <p:spPr>
          <a:xfrm>
            <a:off x="841247" y="4233672"/>
            <a:ext cx="3017520" cy="868680"/>
          </a:xfrm>
          <a:prstGeom prst="rect">
            <a:avLst/>
          </a:prstGeom>
          <a:noFill/>
        </p:spPr>
        <p:txBody>
          <a:bodyPr wrap="square" lIns="0" rIns="0" tIns="0" bIns="0" anchor="t">
            <a:spAutoFit/>
          </a:bodyPr>
          <a:lstStyle/>
          <a:p>
            <a:pPr>
              <a:lnSpc>
                <a:spcPct val="109000"/>
              </a:lnSpc>
              <a:spcBef>
                <a:spcPts val="0"/>
              </a:spcBef>
              <a:spcAft>
                <a:spcPts val="0"/>
              </a:spcAft>
            </a:pPr>
            <a:r>
              <a:rPr sz="1050" b="0">
                <a:solidFill>
                  <a:srgbClr val="607069"/>
                </a:solidFill>
                <a:latin typeface="Aptos"/>
              </a:rPr>
              <a:t>Instances minimales + autoscaling selon requêtes, CPU/GPU et p95 ; tester la capacité avant lancement.</a:t>
            </a:r>
          </a:p>
        </p:txBody>
      </p:sp>
      <p:sp>
        <p:nvSpPr>
          <p:cNvPr id="27" name="Rounded Rectangle 26"/>
          <p:cNvSpPr/>
          <p:nvPr/>
        </p:nvSpPr>
        <p:spPr>
          <a:xfrm>
            <a:off x="4453128" y="3584448"/>
            <a:ext cx="3355848" cy="170992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617720" y="3776472"/>
            <a:ext cx="429768" cy="384048"/>
          </a:xfrm>
          <a:prstGeom prst="roundRect">
            <a:avLst>
              <a:gd name="adj" fmla="val 10000"/>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95444" y="3877056"/>
            <a:ext cx="256032" cy="173736"/>
          </a:xfrm>
          <a:prstGeom prst="rect">
            <a:avLst/>
          </a:prstGeom>
          <a:noFill/>
        </p:spPr>
        <p:txBody>
          <a:bodyPr wrap="square" lIns="0" rIns="0" tIns="0" bIns="0" anchor="t">
            <a:spAutoFit/>
          </a:bodyPr>
          <a:lstStyle/>
          <a:p>
            <a:pPr>
              <a:lnSpc>
                <a:spcPct val="109000"/>
              </a:lnSpc>
              <a:spcBef>
                <a:spcPts val="0"/>
              </a:spcBef>
              <a:spcAft>
                <a:spcPts val="0"/>
              </a:spcAft>
            </a:pPr>
            <a:r>
              <a:rPr sz="900" b="1">
                <a:solidFill>
                  <a:srgbClr val="17221F"/>
                </a:solidFill>
                <a:latin typeface="Aptos"/>
              </a:rPr>
              <a:t>02</a:t>
            </a:r>
          </a:p>
        </p:txBody>
      </p:sp>
      <p:sp>
        <p:nvSpPr>
          <p:cNvPr id="30" name="TextBox 29"/>
          <p:cNvSpPr txBox="1"/>
          <p:nvPr/>
        </p:nvSpPr>
        <p:spPr>
          <a:xfrm>
            <a:off x="5157216" y="3758184"/>
            <a:ext cx="2514600" cy="347472"/>
          </a:xfrm>
          <a:prstGeom prst="rect">
            <a:avLst/>
          </a:prstGeom>
          <a:noFill/>
        </p:spPr>
        <p:txBody>
          <a:bodyPr wrap="square" lIns="0" rIns="0" tIns="0" bIns="0" anchor="t">
            <a:spAutoFit/>
          </a:bodyPr>
          <a:lstStyle/>
          <a:p>
            <a:pPr>
              <a:lnSpc>
                <a:spcPct val="109000"/>
              </a:lnSpc>
              <a:spcBef>
                <a:spcPts val="0"/>
              </a:spcBef>
              <a:spcAft>
                <a:spcPts val="0"/>
              </a:spcAft>
            </a:pPr>
            <a:r>
              <a:rPr sz="1200" b="1">
                <a:solidFill>
                  <a:srgbClr val="17221F"/>
                </a:solidFill>
                <a:latin typeface="Aptos"/>
              </a:rPr>
              <a:t>ROBUSTESSE DES DONNÉES</a:t>
            </a:r>
          </a:p>
        </p:txBody>
      </p:sp>
      <p:sp>
        <p:nvSpPr>
          <p:cNvPr id="31" name="TextBox 30"/>
          <p:cNvSpPr txBox="1"/>
          <p:nvPr/>
        </p:nvSpPr>
        <p:spPr>
          <a:xfrm>
            <a:off x="4636008" y="4233672"/>
            <a:ext cx="3017520" cy="868680"/>
          </a:xfrm>
          <a:prstGeom prst="rect">
            <a:avLst/>
          </a:prstGeom>
          <a:noFill/>
        </p:spPr>
        <p:txBody>
          <a:bodyPr wrap="square" lIns="0" rIns="0" tIns="0" bIns="0" anchor="t">
            <a:spAutoFit/>
          </a:bodyPr>
          <a:lstStyle/>
          <a:p>
            <a:pPr>
              <a:lnSpc>
                <a:spcPct val="109000"/>
              </a:lnSpc>
              <a:spcBef>
                <a:spcPts val="0"/>
              </a:spcBef>
              <a:spcAft>
                <a:spcPts val="0"/>
              </a:spcAft>
            </a:pPr>
            <a:r>
              <a:rPr sz="1050" b="0">
                <a:solidFill>
                  <a:srgbClr val="607069"/>
                </a:solidFill>
                <a:latin typeface="Aptos"/>
              </a:rPr>
              <a:t>Index catalogue versionné, synchronisation incrémentale, filtres de stock et retour au dernier index valide.</a:t>
            </a:r>
          </a:p>
        </p:txBody>
      </p:sp>
      <p:sp>
        <p:nvSpPr>
          <p:cNvPr id="32" name="Rounded Rectangle 31"/>
          <p:cNvSpPr/>
          <p:nvPr/>
        </p:nvSpPr>
        <p:spPr>
          <a:xfrm>
            <a:off x="8247888" y="3584448"/>
            <a:ext cx="3355848" cy="170992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412480" y="3776472"/>
            <a:ext cx="429768" cy="384048"/>
          </a:xfrm>
          <a:prstGeom prst="roundRect">
            <a:avLst>
              <a:gd name="adj" fmla="val 10000"/>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90204" y="3877056"/>
            <a:ext cx="256032" cy="173736"/>
          </a:xfrm>
          <a:prstGeom prst="rect">
            <a:avLst/>
          </a:prstGeom>
          <a:noFill/>
        </p:spPr>
        <p:txBody>
          <a:bodyPr wrap="square" lIns="0" rIns="0" tIns="0" bIns="0" anchor="t">
            <a:spAutoFit/>
          </a:bodyPr>
          <a:lstStyle/>
          <a:p>
            <a:pPr>
              <a:lnSpc>
                <a:spcPct val="109000"/>
              </a:lnSpc>
              <a:spcBef>
                <a:spcPts val="0"/>
              </a:spcBef>
              <a:spcAft>
                <a:spcPts val="0"/>
              </a:spcAft>
            </a:pPr>
            <a:r>
              <a:rPr sz="900" b="1">
                <a:solidFill>
                  <a:srgbClr val="17221F"/>
                </a:solidFill>
                <a:latin typeface="Aptos"/>
              </a:rPr>
              <a:t>03</a:t>
            </a:r>
          </a:p>
        </p:txBody>
      </p:sp>
      <p:sp>
        <p:nvSpPr>
          <p:cNvPr id="35" name="TextBox 34"/>
          <p:cNvSpPr txBox="1"/>
          <p:nvPr/>
        </p:nvSpPr>
        <p:spPr>
          <a:xfrm>
            <a:off x="8951976" y="3758184"/>
            <a:ext cx="2514600" cy="347472"/>
          </a:xfrm>
          <a:prstGeom prst="rect">
            <a:avLst/>
          </a:prstGeom>
          <a:noFill/>
        </p:spPr>
        <p:txBody>
          <a:bodyPr wrap="square" lIns="0" rIns="0" tIns="0" bIns="0" anchor="t">
            <a:spAutoFit/>
          </a:bodyPr>
          <a:lstStyle/>
          <a:p>
            <a:pPr>
              <a:lnSpc>
                <a:spcPct val="109000"/>
              </a:lnSpc>
              <a:spcBef>
                <a:spcPts val="0"/>
              </a:spcBef>
              <a:spcAft>
                <a:spcPts val="0"/>
              </a:spcAft>
            </a:pPr>
            <a:r>
              <a:rPr sz="1200" b="1">
                <a:solidFill>
                  <a:srgbClr val="17221F"/>
                </a:solidFill>
                <a:latin typeface="Aptos"/>
              </a:rPr>
              <a:t>SÉCURITÉ &amp; FINOPS</a:t>
            </a:r>
          </a:p>
        </p:txBody>
      </p:sp>
      <p:sp>
        <p:nvSpPr>
          <p:cNvPr id="36" name="TextBox 35"/>
          <p:cNvSpPr txBox="1"/>
          <p:nvPr/>
        </p:nvSpPr>
        <p:spPr>
          <a:xfrm>
            <a:off x="8430768" y="4233672"/>
            <a:ext cx="3017520" cy="868680"/>
          </a:xfrm>
          <a:prstGeom prst="rect">
            <a:avLst/>
          </a:prstGeom>
          <a:noFill/>
        </p:spPr>
        <p:txBody>
          <a:bodyPr wrap="square" lIns="0" rIns="0" tIns="0" bIns="0" anchor="t">
            <a:spAutoFit/>
          </a:bodyPr>
          <a:lstStyle/>
          <a:p>
            <a:pPr>
              <a:lnSpc>
                <a:spcPct val="109000"/>
              </a:lnSpc>
              <a:spcBef>
                <a:spcPts val="0"/>
              </a:spcBef>
              <a:spcAft>
                <a:spcPts val="0"/>
              </a:spcAft>
            </a:pPr>
            <a:r>
              <a:rPr sz="1050" b="0">
                <a:solidFill>
                  <a:srgbClr val="607069"/>
                </a:solidFill>
                <a:latin typeface="Aptos"/>
              </a:rPr>
              <a:t>Limites de requêtes, minimisation des photos, alertes de coûts, suivi erreurs, rollback et purge RGPD.</a:t>
            </a:r>
          </a:p>
        </p:txBody>
      </p:sp>
      <p:sp>
        <p:nvSpPr>
          <p:cNvPr id="37" name="Rounded Rectangle 36"/>
          <p:cNvSpPr/>
          <p:nvPr/>
        </p:nvSpPr>
        <p:spPr>
          <a:xfrm>
            <a:off x="658368" y="5532120"/>
            <a:ext cx="10936224" cy="640080"/>
          </a:xfrm>
          <a:prstGeom prst="roundRect">
            <a:avLst>
              <a:gd name="adj" fmla="val 10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5660136"/>
            <a:ext cx="10469880" cy="374904"/>
          </a:xfrm>
          <a:prstGeom prst="rect">
            <a:avLst/>
          </a:prstGeom>
          <a:noFill/>
        </p:spPr>
        <p:txBody>
          <a:bodyPr wrap="square" lIns="0" rIns="0" tIns="0" bIns="0" anchor="t">
            <a:spAutoFit/>
          </a:bodyPr>
          <a:lstStyle/>
          <a:p>
            <a:pPr>
              <a:lnSpc>
                <a:spcPct val="109000"/>
              </a:lnSpc>
              <a:spcBef>
                <a:spcPts val="0"/>
              </a:spcBef>
              <a:spcAft>
                <a:spcPts val="0"/>
              </a:spcAft>
            </a:pPr>
            <a:r>
              <a:rPr sz="1080" b="1">
                <a:solidFill>
                  <a:srgbClr val="FFFFFF"/>
                </a:solidFill>
                <a:latin typeface="Aptos"/>
              </a:rPr>
              <a:t>À VALIDER AU MVP  •  latence p95 et disponibilité cibles  •  tests de charge &amp; de reprise  •  dimensionnement Azure chiffré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19456"/>
          </a:xfrm>
          <a:prstGeom prst="rect">
            <a:avLst/>
          </a:prstGeom>
          <a:noFill/>
        </p:spPr>
        <p:txBody>
          <a:bodyPr wrap="square" lIns="0" rIns="0" tIns="0" bIns="0" anchor="t">
            <a:spAutoFit/>
          </a:bodyPr>
          <a:lstStyle/>
          <a:p>
            <a:pPr>
              <a:lnSpc>
                <a:spcPct val="109000"/>
              </a:lnSpc>
              <a:spcBef>
                <a:spcPts val="0"/>
              </a:spcBef>
              <a:spcAft>
                <a:spcPts val="0"/>
              </a:spcAft>
            </a:pPr>
            <a:r>
              <a:rPr sz="950" b="0">
                <a:solidFill>
                  <a:srgbClr val="607069"/>
                </a:solidFill>
                <a:latin typeface="Aptos"/>
              </a:rPr>
              <a:t>19   /   RISQUES FINANCIERS &amp; SENSIBILITÉ</a:t>
            </a:r>
          </a:p>
        </p:txBody>
      </p:sp>
      <p:sp>
        <p:nvSpPr>
          <p:cNvPr id="4" name="TextBox 3"/>
          <p:cNvSpPr txBox="1"/>
          <p:nvPr/>
        </p:nvSpPr>
        <p:spPr>
          <a:xfrm>
            <a:off x="603504" y="658368"/>
            <a:ext cx="10972800" cy="539496"/>
          </a:xfrm>
          <a:prstGeom prst="rect">
            <a:avLst/>
          </a:prstGeom>
          <a:noFill/>
        </p:spPr>
        <p:txBody>
          <a:bodyPr wrap="square" lIns="0" rIns="0" tIns="0" bIns="0" anchor="t">
            <a:spAutoFit/>
          </a:bodyPr>
          <a:lstStyle/>
          <a:p>
            <a:pPr>
              <a:lnSpc>
                <a:spcPct val="109000"/>
              </a:lnSpc>
              <a:spcBef>
                <a:spcPts val="0"/>
              </a:spcBef>
              <a:spcAft>
                <a:spcPts val="0"/>
              </a:spcAft>
            </a:pPr>
            <a:r>
              <a:rPr sz="2700" b="1">
                <a:solidFill>
                  <a:srgbClr val="17221F"/>
                </a:solidFill>
                <a:latin typeface="Aptos"/>
              </a:rPr>
              <a:t>Le point mort dépend des hypothèses</a:t>
            </a:r>
          </a:p>
        </p:txBody>
      </p:sp>
      <p:sp>
        <p:nvSpPr>
          <p:cNvPr id="5" name="Rectangle 4"/>
          <p:cNvSpPr/>
          <p:nvPr/>
        </p:nvSpPr>
        <p:spPr>
          <a:xfrm>
            <a:off x="594360" y="1591056"/>
            <a:ext cx="10991088" cy="11887"/>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746504"/>
            <a:ext cx="10936224" cy="374904"/>
          </a:xfrm>
          <a:prstGeom prst="rect">
            <a:avLst/>
          </a:prstGeom>
          <a:noFill/>
        </p:spPr>
        <p:txBody>
          <a:bodyPr wrap="square" lIns="0" rIns="0" tIns="0" bIns="0" anchor="t">
            <a:spAutoFit/>
          </a:bodyPr>
          <a:lstStyle/>
          <a:p>
            <a:pPr>
              <a:lnSpc>
                <a:spcPct val="109000"/>
              </a:lnSpc>
              <a:spcBef>
                <a:spcPts val="0"/>
              </a:spcBef>
              <a:spcAft>
                <a:spcPts val="0"/>
              </a:spcAft>
            </a:pPr>
            <a:r>
              <a:rPr sz="1225" b="0">
                <a:solidFill>
                  <a:srgbClr val="607069"/>
                </a:solidFill>
                <a:latin typeface="Aptos"/>
              </a:rPr>
              <a:t>Rentabilité estimée du périmètre Data/IA uniquement ; gains et coûts à confirmer avec Finance et Marketing.</a:t>
            </a:r>
          </a:p>
        </p:txBody>
      </p:sp>
      <p:sp>
        <p:nvSpPr>
          <p:cNvPr id="7" name="Rectangle 6"/>
          <p:cNvSpPr/>
          <p:nvPr/>
        </p:nvSpPr>
        <p:spPr>
          <a:xfrm>
            <a:off x="594360" y="6437376"/>
            <a:ext cx="10991088" cy="10972"/>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83096"/>
            <a:ext cx="10058400" cy="155448"/>
          </a:xfrm>
          <a:prstGeom prst="rect">
            <a:avLst/>
          </a:prstGeom>
          <a:noFill/>
        </p:spPr>
        <p:txBody>
          <a:bodyPr wrap="square" lIns="0" rIns="0" tIns="0" bIns="0" anchor="t">
            <a:spAutoFit/>
          </a:bodyPr>
          <a:lstStyle/>
          <a:p>
            <a:pPr>
              <a:lnSpc>
                <a:spcPct val="109000"/>
              </a:lnSpc>
              <a:spcBef>
                <a:spcPts val="0"/>
              </a:spcBef>
              <a:spcAft>
                <a:spcPts val="0"/>
              </a:spcAft>
            </a:pPr>
            <a:r>
              <a:rPr sz="819" b="0">
                <a:solidFill>
                  <a:srgbClr val="607069"/>
                </a:solidFill>
                <a:latin typeface="Aptos"/>
              </a:rPr>
              <a:t>FASHION–INSTA  ·  CADRAGE DATA &amp; IA  /  HYPOTHÈSES À VALIDER</a:t>
            </a:r>
          </a:p>
        </p:txBody>
      </p:sp>
      <p:sp>
        <p:nvSpPr>
          <p:cNvPr id="9" name="TextBox 8"/>
          <p:cNvSpPr txBox="1"/>
          <p:nvPr/>
        </p:nvSpPr>
        <p:spPr>
          <a:xfrm>
            <a:off x="11100816" y="6464808"/>
            <a:ext cx="457200" cy="164592"/>
          </a:xfrm>
          <a:prstGeom prst="rect">
            <a:avLst/>
          </a:prstGeom>
          <a:noFill/>
        </p:spPr>
        <p:txBody>
          <a:bodyPr wrap="square" lIns="0" rIns="0" tIns="0" bIns="0" anchor="t">
            <a:spAutoFit/>
          </a:bodyPr>
          <a:lstStyle/>
          <a:p>
            <a:r>
              <a:rPr sz="900">
                <a:solidFill>
                  <a:srgbClr val="607069"/>
                </a:solidFill>
                <a:latin typeface="Aptos"/>
              </a:rPr>
              <a:t>22</a:t>
            </a:r>
          </a:p>
        </p:txBody>
      </p:sp>
      <p:sp>
        <p:nvSpPr>
          <p:cNvPr id="10" name="TextBox 9"/>
          <p:cNvSpPr txBox="1"/>
          <p:nvPr/>
        </p:nvSpPr>
        <p:spPr>
          <a:xfrm>
            <a:off x="685800" y="2185416"/>
            <a:ext cx="10515600" cy="274320"/>
          </a:xfrm>
          <a:prstGeom prst="rect">
            <a:avLst/>
          </a:prstGeom>
          <a:noFill/>
        </p:spPr>
        <p:txBody>
          <a:bodyPr wrap="square" lIns="0" rIns="0" tIns="0" bIns="0" anchor="t">
            <a:spAutoFit/>
          </a:bodyPr>
          <a:lstStyle/>
          <a:p>
            <a:pPr>
              <a:lnSpc>
                <a:spcPct val="109000"/>
              </a:lnSpc>
              <a:spcBef>
                <a:spcPts val="0"/>
              </a:spcBef>
              <a:spcAft>
                <a:spcPts val="0"/>
              </a:spcAft>
            </a:pPr>
            <a:r>
              <a:rPr sz="1030" b="1">
                <a:solidFill>
                  <a:srgbClr val="4B795B"/>
                </a:solidFill>
                <a:latin typeface="Aptos"/>
              </a:rPr>
              <a:t>SOLDE CUMULÉ EN FIN D’ANNÉE 2  ·  EN FONCTION DE LA MARGE CONTRIBUTIVE</a:t>
            </a:r>
          </a:p>
        </p:txBody>
      </p:sp>
      <p:sp>
        <p:nvSpPr>
          <p:cNvPr id="11" name="Rounded Rectangle 10"/>
          <p:cNvSpPr/>
          <p:nvPr/>
        </p:nvSpPr>
        <p:spPr>
          <a:xfrm>
            <a:off x="685800" y="2578608"/>
            <a:ext cx="3337560" cy="134416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697480"/>
            <a:ext cx="2944368" cy="228600"/>
          </a:xfrm>
          <a:prstGeom prst="rect">
            <a:avLst/>
          </a:prstGeom>
          <a:noFill/>
        </p:spPr>
        <p:txBody>
          <a:bodyPr wrap="square" lIns="0" rIns="0" tIns="0" bIns="0" anchor="t">
            <a:spAutoFit/>
          </a:bodyPr>
          <a:lstStyle/>
          <a:p>
            <a:pPr>
              <a:lnSpc>
                <a:spcPct val="109000"/>
              </a:lnSpc>
              <a:spcBef>
                <a:spcPts val="0"/>
              </a:spcBef>
              <a:spcAft>
                <a:spcPts val="0"/>
              </a:spcAft>
            </a:pPr>
            <a:r>
              <a:rPr sz="1050" b="1">
                <a:solidFill>
                  <a:srgbClr val="607069"/>
                </a:solidFill>
                <a:latin typeface="Aptos"/>
              </a:rPr>
              <a:t>MARGE  20 %</a:t>
            </a:r>
          </a:p>
        </p:txBody>
      </p:sp>
      <p:sp>
        <p:nvSpPr>
          <p:cNvPr id="13" name="TextBox 12"/>
          <p:cNvSpPr txBox="1"/>
          <p:nvPr/>
        </p:nvSpPr>
        <p:spPr>
          <a:xfrm>
            <a:off x="850392" y="2990088"/>
            <a:ext cx="2926080" cy="402336"/>
          </a:xfrm>
          <a:prstGeom prst="rect">
            <a:avLst/>
          </a:prstGeom>
          <a:noFill/>
        </p:spPr>
        <p:txBody>
          <a:bodyPr wrap="square" lIns="0" rIns="0" tIns="0" bIns="0" anchor="t">
            <a:spAutoFit/>
          </a:bodyPr>
          <a:lstStyle/>
          <a:p>
            <a:pPr>
              <a:lnSpc>
                <a:spcPct val="109000"/>
              </a:lnSpc>
              <a:spcBef>
                <a:spcPts val="0"/>
              </a:spcBef>
              <a:spcAft>
                <a:spcPts val="0"/>
              </a:spcAft>
            </a:pPr>
            <a:r>
              <a:rPr sz="2300" b="1">
                <a:solidFill>
                  <a:srgbClr val="BB753F"/>
                </a:solidFill>
                <a:latin typeface="Aptos"/>
              </a:rPr>
              <a:t>−73 603 €</a:t>
            </a:r>
          </a:p>
        </p:txBody>
      </p:sp>
      <p:sp>
        <p:nvSpPr>
          <p:cNvPr id="14" name="TextBox 13"/>
          <p:cNvSpPr txBox="1"/>
          <p:nvPr/>
        </p:nvSpPr>
        <p:spPr>
          <a:xfrm>
            <a:off x="850392" y="3502152"/>
            <a:ext cx="2926080" cy="192024"/>
          </a:xfrm>
          <a:prstGeom prst="rect">
            <a:avLst/>
          </a:prstGeom>
          <a:noFill/>
        </p:spPr>
        <p:txBody>
          <a:bodyPr wrap="square" lIns="0" rIns="0" tIns="0" bIns="0" anchor="t">
            <a:spAutoFit/>
          </a:bodyPr>
          <a:lstStyle/>
          <a:p>
            <a:pPr>
              <a:lnSpc>
                <a:spcPct val="109000"/>
              </a:lnSpc>
              <a:spcBef>
                <a:spcPts val="0"/>
              </a:spcBef>
              <a:spcAft>
                <a:spcPts val="0"/>
              </a:spcAft>
            </a:pPr>
            <a:r>
              <a:rPr sz="1000" b="0">
                <a:solidFill>
                  <a:srgbClr val="607069"/>
                </a:solidFill>
                <a:latin typeface="Aptos"/>
              </a:rPr>
              <a:t>Rentabilité vers A3</a:t>
            </a:r>
          </a:p>
        </p:txBody>
      </p:sp>
      <p:sp>
        <p:nvSpPr>
          <p:cNvPr id="15" name="Rounded Rectangle 14"/>
          <p:cNvSpPr/>
          <p:nvPr/>
        </p:nvSpPr>
        <p:spPr>
          <a:xfrm>
            <a:off x="4453128" y="2578608"/>
            <a:ext cx="3337560" cy="134416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2697480"/>
            <a:ext cx="2944368" cy="228600"/>
          </a:xfrm>
          <a:prstGeom prst="rect">
            <a:avLst/>
          </a:prstGeom>
          <a:noFill/>
        </p:spPr>
        <p:txBody>
          <a:bodyPr wrap="square" lIns="0" rIns="0" tIns="0" bIns="0" anchor="t">
            <a:spAutoFit/>
          </a:bodyPr>
          <a:lstStyle/>
          <a:p>
            <a:pPr>
              <a:lnSpc>
                <a:spcPct val="109000"/>
              </a:lnSpc>
              <a:spcBef>
                <a:spcPts val="0"/>
              </a:spcBef>
              <a:spcAft>
                <a:spcPts val="0"/>
              </a:spcAft>
            </a:pPr>
            <a:r>
              <a:rPr sz="1050" b="1">
                <a:solidFill>
                  <a:srgbClr val="607069"/>
                </a:solidFill>
                <a:latin typeface="Aptos"/>
              </a:rPr>
              <a:t>MARGE  30 %</a:t>
            </a:r>
          </a:p>
        </p:txBody>
      </p:sp>
      <p:sp>
        <p:nvSpPr>
          <p:cNvPr id="17" name="TextBox 16"/>
          <p:cNvSpPr txBox="1"/>
          <p:nvPr/>
        </p:nvSpPr>
        <p:spPr>
          <a:xfrm>
            <a:off x="4617720" y="2990088"/>
            <a:ext cx="2926080" cy="402336"/>
          </a:xfrm>
          <a:prstGeom prst="rect">
            <a:avLst/>
          </a:prstGeom>
          <a:noFill/>
        </p:spPr>
        <p:txBody>
          <a:bodyPr wrap="square" lIns="0" rIns="0" tIns="0" bIns="0" anchor="t">
            <a:spAutoFit/>
          </a:bodyPr>
          <a:lstStyle/>
          <a:p>
            <a:pPr>
              <a:lnSpc>
                <a:spcPct val="109000"/>
              </a:lnSpc>
              <a:spcBef>
                <a:spcPts val="0"/>
              </a:spcBef>
              <a:spcAft>
                <a:spcPts val="0"/>
              </a:spcAft>
            </a:pPr>
            <a:r>
              <a:rPr sz="2300" b="1">
                <a:solidFill>
                  <a:srgbClr val="1D342C"/>
                </a:solidFill>
                <a:latin typeface="Aptos"/>
              </a:rPr>
              <a:t>+19 997 €</a:t>
            </a:r>
          </a:p>
        </p:txBody>
      </p:sp>
      <p:sp>
        <p:nvSpPr>
          <p:cNvPr id="18" name="TextBox 17"/>
          <p:cNvSpPr txBox="1"/>
          <p:nvPr/>
        </p:nvSpPr>
        <p:spPr>
          <a:xfrm>
            <a:off x="4617720" y="3502152"/>
            <a:ext cx="2926080" cy="192024"/>
          </a:xfrm>
          <a:prstGeom prst="rect">
            <a:avLst/>
          </a:prstGeom>
          <a:noFill/>
        </p:spPr>
        <p:txBody>
          <a:bodyPr wrap="square" lIns="0" rIns="0" tIns="0" bIns="0" anchor="t">
            <a:spAutoFit/>
          </a:bodyPr>
          <a:lstStyle/>
          <a:p>
            <a:pPr>
              <a:lnSpc>
                <a:spcPct val="109000"/>
              </a:lnSpc>
              <a:spcBef>
                <a:spcPts val="0"/>
              </a:spcBef>
              <a:spcAft>
                <a:spcPts val="0"/>
              </a:spcAft>
            </a:pPr>
            <a:r>
              <a:rPr sz="1000" b="0">
                <a:solidFill>
                  <a:srgbClr val="607069"/>
                </a:solidFill>
                <a:latin typeface="Aptos"/>
              </a:rPr>
              <a:t>Rentabilité vers A2</a:t>
            </a:r>
          </a:p>
        </p:txBody>
      </p:sp>
      <p:sp>
        <p:nvSpPr>
          <p:cNvPr id="19" name="Rounded Rectangle 18"/>
          <p:cNvSpPr/>
          <p:nvPr/>
        </p:nvSpPr>
        <p:spPr>
          <a:xfrm>
            <a:off x="8229600" y="2578608"/>
            <a:ext cx="3337560" cy="134416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2697480"/>
            <a:ext cx="2944368" cy="228600"/>
          </a:xfrm>
          <a:prstGeom prst="rect">
            <a:avLst/>
          </a:prstGeom>
          <a:noFill/>
        </p:spPr>
        <p:txBody>
          <a:bodyPr wrap="square" lIns="0" rIns="0" tIns="0" bIns="0" anchor="t">
            <a:spAutoFit/>
          </a:bodyPr>
          <a:lstStyle/>
          <a:p>
            <a:pPr>
              <a:lnSpc>
                <a:spcPct val="109000"/>
              </a:lnSpc>
              <a:spcBef>
                <a:spcPts val="0"/>
              </a:spcBef>
              <a:spcAft>
                <a:spcPts val="0"/>
              </a:spcAft>
            </a:pPr>
            <a:r>
              <a:rPr sz="1050" b="1">
                <a:solidFill>
                  <a:srgbClr val="607069"/>
                </a:solidFill>
                <a:latin typeface="Aptos"/>
              </a:rPr>
              <a:t>MARGE  40 %</a:t>
            </a:r>
          </a:p>
        </p:txBody>
      </p:sp>
      <p:sp>
        <p:nvSpPr>
          <p:cNvPr id="21" name="TextBox 20"/>
          <p:cNvSpPr txBox="1"/>
          <p:nvPr/>
        </p:nvSpPr>
        <p:spPr>
          <a:xfrm>
            <a:off x="8394192" y="2990088"/>
            <a:ext cx="2926080" cy="402336"/>
          </a:xfrm>
          <a:prstGeom prst="rect">
            <a:avLst/>
          </a:prstGeom>
          <a:noFill/>
        </p:spPr>
        <p:txBody>
          <a:bodyPr wrap="square" lIns="0" rIns="0" tIns="0" bIns="0" anchor="t">
            <a:spAutoFit/>
          </a:bodyPr>
          <a:lstStyle/>
          <a:p>
            <a:pPr>
              <a:lnSpc>
                <a:spcPct val="109000"/>
              </a:lnSpc>
              <a:spcBef>
                <a:spcPts val="0"/>
              </a:spcBef>
              <a:spcAft>
                <a:spcPts val="0"/>
              </a:spcAft>
            </a:pPr>
            <a:r>
              <a:rPr sz="2300" b="1">
                <a:solidFill>
                  <a:srgbClr val="1D342C"/>
                </a:solidFill>
                <a:latin typeface="Aptos"/>
              </a:rPr>
              <a:t>+113 597 €</a:t>
            </a:r>
          </a:p>
        </p:txBody>
      </p:sp>
      <p:sp>
        <p:nvSpPr>
          <p:cNvPr id="22" name="TextBox 21"/>
          <p:cNvSpPr txBox="1"/>
          <p:nvPr/>
        </p:nvSpPr>
        <p:spPr>
          <a:xfrm>
            <a:off x="8394192" y="3502152"/>
            <a:ext cx="2926080" cy="192024"/>
          </a:xfrm>
          <a:prstGeom prst="rect">
            <a:avLst/>
          </a:prstGeom>
          <a:noFill/>
        </p:spPr>
        <p:txBody>
          <a:bodyPr wrap="square" lIns="0" rIns="0" tIns="0" bIns="0" anchor="t">
            <a:spAutoFit/>
          </a:bodyPr>
          <a:lstStyle/>
          <a:p>
            <a:pPr>
              <a:lnSpc>
                <a:spcPct val="109000"/>
              </a:lnSpc>
              <a:spcBef>
                <a:spcPts val="0"/>
              </a:spcBef>
              <a:spcAft>
                <a:spcPts val="0"/>
              </a:spcAft>
            </a:pPr>
            <a:r>
              <a:rPr sz="1000" b="0">
                <a:solidFill>
                  <a:srgbClr val="607069"/>
                </a:solidFill>
                <a:latin typeface="Aptos"/>
              </a:rPr>
              <a:t>Rentabilité vers A2</a:t>
            </a:r>
          </a:p>
        </p:txBody>
      </p:sp>
      <p:sp>
        <p:nvSpPr>
          <p:cNvPr id="23" name="Rounded Rectangle 22"/>
          <p:cNvSpPr/>
          <p:nvPr/>
        </p:nvSpPr>
        <p:spPr>
          <a:xfrm>
            <a:off x="685800" y="4160520"/>
            <a:ext cx="5257800" cy="143560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389120"/>
            <a:ext cx="4773168" cy="301752"/>
          </a:xfrm>
          <a:prstGeom prst="rect">
            <a:avLst/>
          </a:prstGeom>
          <a:noFill/>
        </p:spPr>
        <p:txBody>
          <a:bodyPr wrap="square" lIns="0" rIns="0" tIns="0" bIns="0" anchor="t">
            <a:spAutoFit/>
          </a:bodyPr>
          <a:lstStyle/>
          <a:p>
            <a:pPr>
              <a:lnSpc>
                <a:spcPct val="109000"/>
              </a:lnSpc>
              <a:spcBef>
                <a:spcPts val="0"/>
              </a:spcBef>
              <a:spcAft>
                <a:spcPts val="0"/>
              </a:spcAft>
            </a:pPr>
            <a:r>
              <a:rPr sz="1130" b="1">
                <a:solidFill>
                  <a:srgbClr val="1D342C"/>
                </a:solidFill>
                <a:latin typeface="Aptos"/>
              </a:rPr>
              <a:t>EFFET D’UNE INFRASTRUCTURE PLUS CHÈRE</a:t>
            </a:r>
          </a:p>
        </p:txBody>
      </p:sp>
      <p:sp>
        <p:nvSpPr>
          <p:cNvPr id="25" name="TextBox 24"/>
          <p:cNvSpPr txBox="1"/>
          <p:nvPr/>
        </p:nvSpPr>
        <p:spPr>
          <a:xfrm>
            <a:off x="896112" y="4782312"/>
            <a:ext cx="4791456" cy="658368"/>
          </a:xfrm>
          <a:prstGeom prst="rect">
            <a:avLst/>
          </a:prstGeom>
          <a:noFill/>
        </p:spPr>
        <p:txBody>
          <a:bodyPr wrap="square" lIns="0" rIns="0" tIns="0" bIns="0" anchor="t">
            <a:spAutoFit/>
          </a:bodyPr>
          <a:lstStyle/>
          <a:p>
            <a:pPr>
              <a:lnSpc>
                <a:spcPct val="109000"/>
              </a:lnSpc>
              <a:spcBef>
                <a:spcPts val="0"/>
              </a:spcBef>
              <a:spcAft>
                <a:spcPts val="0"/>
              </a:spcAft>
            </a:pPr>
            <a:r>
              <a:rPr sz="1080" b="0">
                <a:solidFill>
                  <a:srgbClr val="607069"/>
                </a:solidFill>
                <a:latin typeface="Aptos"/>
              </a:rPr>
              <a:t>Avec 4 000 €/mois d’Azure au lieu de 1 800 €, et sans gains supplémentaires, le solde A2 devient négatif ; rentabilité repoussée vers A3.</a:t>
            </a:r>
          </a:p>
        </p:txBody>
      </p:sp>
      <p:sp>
        <p:nvSpPr>
          <p:cNvPr id="26" name="Rounded Rectangle 25"/>
          <p:cNvSpPr/>
          <p:nvPr/>
        </p:nvSpPr>
        <p:spPr>
          <a:xfrm>
            <a:off x="6172200" y="4160520"/>
            <a:ext cx="5422392" cy="143560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1656" y="4389120"/>
            <a:ext cx="4846320" cy="301752"/>
          </a:xfrm>
          <a:prstGeom prst="rect">
            <a:avLst/>
          </a:prstGeom>
          <a:noFill/>
        </p:spPr>
        <p:txBody>
          <a:bodyPr wrap="square" lIns="0" rIns="0" tIns="0" bIns="0" anchor="t">
            <a:spAutoFit/>
          </a:bodyPr>
          <a:lstStyle/>
          <a:p>
            <a:pPr>
              <a:lnSpc>
                <a:spcPct val="109000"/>
              </a:lnSpc>
              <a:spcBef>
                <a:spcPts val="0"/>
              </a:spcBef>
              <a:spcAft>
                <a:spcPts val="0"/>
              </a:spcAft>
            </a:pPr>
            <a:r>
              <a:rPr sz="1130" b="1">
                <a:solidFill>
                  <a:srgbClr val="1D342C"/>
                </a:solidFill>
                <a:latin typeface="Aptos"/>
              </a:rPr>
              <a:t>POINTS DE VALIDATION</a:t>
            </a:r>
          </a:p>
        </p:txBody>
      </p:sp>
      <p:sp>
        <p:nvSpPr>
          <p:cNvPr id="28" name="TextBox 27"/>
          <p:cNvSpPr txBox="1"/>
          <p:nvPr/>
        </p:nvSpPr>
        <p:spPr>
          <a:xfrm>
            <a:off x="6391656" y="4782312"/>
            <a:ext cx="4846320" cy="640080"/>
          </a:xfrm>
          <a:prstGeom prst="rect">
            <a:avLst/>
          </a:prstGeom>
          <a:noFill/>
        </p:spPr>
        <p:txBody>
          <a:bodyPr wrap="square" lIns="0" rIns="0" tIns="0" bIns="0" anchor="t">
            <a:spAutoFit/>
          </a:bodyPr>
          <a:lstStyle/>
          <a:p>
            <a:pPr>
              <a:lnSpc>
                <a:spcPct val="109000"/>
              </a:lnSpc>
              <a:spcBef>
                <a:spcPts val="0"/>
              </a:spcBef>
              <a:spcAft>
                <a:spcPts val="0"/>
              </a:spcAft>
            </a:pPr>
            <a:r>
              <a:rPr sz="1080" b="0">
                <a:solidFill>
                  <a:srgbClr val="607069"/>
                </a:solidFill>
                <a:latin typeface="Aptos"/>
              </a:rPr>
              <a:t>Marge contributive, attribution des ventes, progression de l’adoption, prix région/SKU Azure et capacité réelle lors des pics.</a:t>
            </a:r>
          </a:p>
        </p:txBody>
      </p:sp>
      <p:sp>
        <p:nvSpPr>
          <p:cNvPr id="29" name="Rounded Rectangle 28"/>
          <p:cNvSpPr/>
          <p:nvPr/>
        </p:nvSpPr>
        <p:spPr>
          <a:xfrm>
            <a:off x="685800" y="5806440"/>
            <a:ext cx="10908792" cy="338328"/>
          </a:xfrm>
          <a:prstGeom prst="roundRect">
            <a:avLst>
              <a:gd name="adj" fmla="val 10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968" y="5852160"/>
            <a:ext cx="10506456" cy="23774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FFFFFF"/>
                </a:solidFill>
                <a:latin typeface="Aptos"/>
              </a:rPr>
              <a:t>Une projection conditionnelle n’est ni un devis Azure, ni la rentabilité de l’application complète.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ANNEXE  /  TRAÇABILITÉ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Annexe — sources et limites du chiffrage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r>
              <a:rPr sz="900">
                <a:solidFill>
                  <a:srgbClr val="607069"/>
                </a:solidFill>
                <a:latin typeface="Aptos"/>
              </a:rPr>
              <a:t>23</a:t>
            </a:r>
          </a:p>
        </p:txBody>
      </p:sp>
      <p:sp>
        <p:nvSpPr>
          <p:cNvPr id="8" name="Text 6"/>
          <p:cNvSpPr/>
          <p:nvPr/>
        </p:nvSpPr>
        <p:spPr>
          <a:xfrm>
            <a:off x="621792" y="1892808"/>
            <a:ext cx="5193792" cy="365760"/>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Données métier communiquées</a:t>
            </a:r>
            <a:endParaRPr lang="en-US" sz="1900" dirty="0"/>
          </a:p>
        </p:txBody>
      </p:sp>
      <p:sp>
        <p:nvSpPr>
          <p:cNvPr id="9" name="Shape 7"/>
          <p:cNvSpPr/>
          <p:nvPr/>
        </p:nvSpPr>
        <p:spPr>
          <a:xfrm>
            <a:off x="676656" y="2542032"/>
            <a:ext cx="109728" cy="109728"/>
          </a:xfrm>
          <a:prstGeom prst="ellipse">
            <a:avLst/>
          </a:prstGeom>
          <a:solidFill>
            <a:srgbClr val="82AE99"/>
          </a:solidFill>
          <a:ln w="12700">
            <a:solidFill>
              <a:srgbClr val="82AE99">
                <a:alpha val="0"/>
              </a:srgbClr>
            </a:solidFill>
            <a:prstDash val="solid"/>
          </a:ln>
        </p:spPr>
        <p:txBody>
          <a:bodyPr/>
          <a:p/>
        </p:txBody>
      </p:sp>
      <p:sp>
        <p:nvSpPr>
          <p:cNvPr id="10" name="Text 8"/>
          <p:cNvSpPr/>
          <p:nvPr/>
        </p:nvSpPr>
        <p:spPr>
          <a:xfrm>
            <a:off x="905256" y="2478024"/>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Expression des besoins Fashion-Insta (Alicia) : chiffres 2024, besoins, données disponibles, 3 j-h d’extraction.</a:t>
            </a:r>
            <a:endParaRPr lang="en-US" sz="1160" dirty="0"/>
          </a:p>
        </p:txBody>
      </p:sp>
      <p:sp>
        <p:nvSpPr>
          <p:cNvPr id="11" name="Shape 9"/>
          <p:cNvSpPr/>
          <p:nvPr/>
        </p:nvSpPr>
        <p:spPr>
          <a:xfrm>
            <a:off x="676656" y="3054096"/>
            <a:ext cx="109728" cy="109728"/>
          </a:xfrm>
          <a:prstGeom prst="ellipse">
            <a:avLst/>
          </a:prstGeom>
          <a:solidFill>
            <a:srgbClr val="82AE99"/>
          </a:solidFill>
          <a:ln w="12700">
            <a:solidFill>
              <a:srgbClr val="82AE99">
                <a:alpha val="0"/>
              </a:srgbClr>
            </a:solidFill>
            <a:prstDash val="solid"/>
          </a:ln>
        </p:spPr>
        <p:txBody>
          <a:bodyPr/>
          <a:p/>
        </p:txBody>
      </p:sp>
      <p:sp>
        <p:nvSpPr>
          <p:cNvPr id="12" name="Text 10"/>
          <p:cNvSpPr/>
          <p:nvPr/>
        </p:nvSpPr>
        <p:spPr>
          <a:xfrm>
            <a:off x="905256" y="2990088"/>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docs/01_analyse_besoins_metier.md + 02_perimetre_poc.md</a:t>
            </a:r>
            <a:endParaRPr lang="en-US" sz="1160" dirty="0"/>
          </a:p>
        </p:txBody>
      </p:sp>
      <p:sp>
        <p:nvSpPr>
          <p:cNvPr id="13" name="Shape 11"/>
          <p:cNvSpPr/>
          <p:nvPr/>
        </p:nvSpPr>
        <p:spPr>
          <a:xfrm>
            <a:off x="676656" y="3566160"/>
            <a:ext cx="109728" cy="109728"/>
          </a:xfrm>
          <a:prstGeom prst="ellipse">
            <a:avLst/>
          </a:prstGeom>
          <a:solidFill>
            <a:srgbClr val="82AE99"/>
          </a:solidFill>
          <a:ln w="12700">
            <a:solidFill>
              <a:srgbClr val="82AE99">
                <a:alpha val="0"/>
              </a:srgbClr>
            </a:solidFill>
            <a:prstDash val="solid"/>
          </a:ln>
        </p:spPr>
        <p:txBody>
          <a:bodyPr/>
          <a:p/>
        </p:txBody>
      </p:sp>
      <p:sp>
        <p:nvSpPr>
          <p:cNvPr id="14" name="Text 12"/>
          <p:cNvSpPr/>
          <p:nvPr/>
        </p:nvSpPr>
        <p:spPr>
          <a:xfrm>
            <a:off x="905256" y="3502152"/>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docs/03_approches_techniques_poc.md</a:t>
            </a:r>
            <a:endParaRPr lang="en-US" sz="1160" dirty="0"/>
          </a:p>
        </p:txBody>
      </p:sp>
      <p:sp>
        <p:nvSpPr>
          <p:cNvPr id="15" name="Shape 13"/>
          <p:cNvSpPr/>
          <p:nvPr/>
        </p:nvSpPr>
        <p:spPr>
          <a:xfrm>
            <a:off x="676656" y="4078224"/>
            <a:ext cx="109728" cy="109728"/>
          </a:xfrm>
          <a:prstGeom prst="ellipse">
            <a:avLst/>
          </a:prstGeom>
          <a:solidFill>
            <a:srgbClr val="82AE99"/>
          </a:solidFill>
          <a:ln w="12700">
            <a:solidFill>
              <a:srgbClr val="82AE99">
                <a:alpha val="0"/>
              </a:srgbClr>
            </a:solidFill>
            <a:prstDash val="solid"/>
          </a:ln>
        </p:spPr>
        <p:txBody>
          <a:bodyPr/>
          <a:p/>
        </p:txBody>
      </p:sp>
      <p:sp>
        <p:nvSpPr>
          <p:cNvPr id="16" name="Text 14"/>
          <p:cNvSpPr/>
          <p:nvPr/>
        </p:nvSpPr>
        <p:spPr>
          <a:xfrm>
            <a:off x="905256" y="4014216"/>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docs/05_chiffrage_ressources_humaines_partie2.md</a:t>
            </a:r>
            <a:endParaRPr lang="en-US" sz="1160" dirty="0"/>
          </a:p>
        </p:txBody>
      </p:sp>
      <p:sp>
        <p:nvSpPr>
          <p:cNvPr id="17" name="Shape 15"/>
          <p:cNvSpPr/>
          <p:nvPr/>
        </p:nvSpPr>
        <p:spPr>
          <a:xfrm>
            <a:off x="676656" y="4590288"/>
            <a:ext cx="109728" cy="109728"/>
          </a:xfrm>
          <a:prstGeom prst="ellipse">
            <a:avLst/>
          </a:prstGeom>
          <a:solidFill>
            <a:srgbClr val="82AE99"/>
          </a:solidFill>
          <a:ln w="12700">
            <a:solidFill>
              <a:srgbClr val="82AE99">
                <a:alpha val="0"/>
              </a:srgbClr>
            </a:solidFill>
            <a:prstDash val="solid"/>
          </a:ln>
        </p:spPr>
        <p:txBody>
          <a:bodyPr/>
          <a:p/>
        </p:txBody>
      </p:sp>
      <p:sp>
        <p:nvSpPr>
          <p:cNvPr id="18" name="Text 16"/>
          <p:cNvSpPr/>
          <p:nvPr/>
        </p:nvSpPr>
        <p:spPr>
          <a:xfrm>
            <a:off x="905256" y="4526280"/>
            <a:ext cx="10287000" cy="411480"/>
          </a:xfrm>
          <a:prstGeom prst="rect">
            <a:avLst/>
          </a:prstGeom>
          <a:noFill/>
          <a:ln/>
        </p:spPr>
        <p:txBody>
          <a:bodyPr wrap="square" lIns="0" tIns="0" rIns="0" bIns="0" rtlCol="0" anchor="ctr">
            <a:normAutofit/>
          </a:bodyPr>
          <a:lstStyle/>
          <a:p>
            <a:pPr algn="l" indent="0" marL="0">
              <a:buNone/>
            </a:pPr>
            <a:r>
              <a:rPr lang="en-US" sz="1500" dirty="0">
                <a:solidFill>
                  <a:srgbClr val="17221F"/>
                </a:solidFill>
                <a:latin typeface="Inter" pitchFamily="34" charset="0"/>
                <a:ea typeface="Inter" pitchFamily="34" charset="-122"/>
                <a:cs typeface="Inter" pitchFamily="34" charset="-120"/>
              </a:rPr>
              <a:t>P11 / docs/06_dimensionnement_couts_azure_partie2.md + 07_analyse_roi_rentabilite_partie2.md</a:t>
            </a:r>
            <a:endParaRPr lang="en-US" sz="1160" dirty="0"/>
          </a:p>
        </p:txBody>
      </p:sp>
      <p:sp>
        <p:nvSpPr>
          <p:cNvPr id="19" name="Text 17"/>
          <p:cNvSpPr/>
          <p:nvPr/>
        </p:nvSpPr>
        <p:spPr>
          <a:xfrm>
            <a:off x="621792" y="5148072"/>
            <a:ext cx="7525512" cy="32004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Références techniques Microsoft</a:t>
            </a:r>
            <a:endParaRPr lang="en-US" sz="1600" dirty="0"/>
          </a:p>
        </p:txBody>
      </p:sp>
      <p:sp>
        <p:nvSpPr>
          <p:cNvPr id="20" name="Text 18"/>
          <p:cNvSpPr/>
          <p:nvPr/>
        </p:nvSpPr>
        <p:spPr>
          <a:xfrm>
            <a:off x="667512" y="5550408"/>
            <a:ext cx="1092708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Machine Learning : https://learn.microsoft.com/azure/machine-learning/how-to-deploy-online-endpoints</a:t>
            </a:r>
            <a:endParaRPr lang="en-US" sz="970" dirty="0"/>
          </a:p>
        </p:txBody>
      </p:sp>
      <p:sp>
        <p:nvSpPr>
          <p:cNvPr id="21" name="Text 19"/>
          <p:cNvSpPr/>
          <p:nvPr/>
        </p:nvSpPr>
        <p:spPr>
          <a:xfrm>
            <a:off x="667512" y="5833872"/>
            <a:ext cx="1083564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AI Search : https://learn.microsoft.com/fr-fr/azure/search/vector-search-how-to-query</a:t>
            </a:r>
            <a:endParaRPr lang="en-US" sz="97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201168"/>
          </a:xfrm>
          <a:prstGeom prst="rect">
            <a:avLst/>
          </a:prstGeom>
          <a:noFill/>
        </p:spPr>
        <p:txBody>
          <a:bodyPr wrap="square" lIns="0" rIns="0" tIns="0" bIns="0" anchor="ctr">
            <a:spAutoFit/>
          </a:bodyPr>
          <a:lstStyle/>
          <a:p>
            <a:pPr>
              <a:spcAft>
                <a:spcPts val="0"/>
              </a:spcAft>
            </a:pPr>
            <a:r>
              <a:rPr sz="930" b="1">
                <a:solidFill>
                  <a:srgbClr val="607069"/>
                </a:solidFill>
                <a:latin typeface="Aptos"/>
              </a:rPr>
              <a:t>15  /  JUSTIFICATION DE LA CAPACITÉ &amp; DU DÉPLOIEMENT</a:t>
            </a:r>
          </a:p>
        </p:txBody>
      </p:sp>
      <p:sp>
        <p:nvSpPr>
          <p:cNvPr id="4" name="TextBox 3"/>
          <p:cNvSpPr txBox="1"/>
          <p:nvPr/>
        </p:nvSpPr>
        <p:spPr>
          <a:xfrm>
            <a:off x="594360" y="594360"/>
            <a:ext cx="10972800" cy="566928"/>
          </a:xfrm>
          <a:prstGeom prst="rect">
            <a:avLst/>
          </a:prstGeom>
          <a:noFill/>
        </p:spPr>
        <p:txBody>
          <a:bodyPr wrap="square" lIns="0" rIns="0" tIns="0" bIns="0" anchor="ctr">
            <a:spAutoFit/>
          </a:bodyPr>
          <a:lstStyle/>
          <a:p>
            <a:pPr>
              <a:spcAft>
                <a:spcPts val="0"/>
              </a:spcAft>
            </a:pPr>
            <a:r>
              <a:rPr sz="2560" b="1">
                <a:solidFill>
                  <a:srgbClr val="17221F"/>
                </a:solidFill>
                <a:latin typeface="Aptos Display"/>
              </a:rPr>
              <a:t>Pourquoi ces taux de staffing ?</a:t>
            </a:r>
          </a:p>
        </p:txBody>
      </p:sp>
      <p:sp>
        <p:nvSpPr>
          <p:cNvPr id="5" name="TextBox 4"/>
          <p:cNvSpPr txBox="1"/>
          <p:nvPr/>
        </p:nvSpPr>
        <p:spPr>
          <a:xfrm>
            <a:off x="630936" y="1234440"/>
            <a:ext cx="10972800" cy="320040"/>
          </a:xfrm>
          <a:prstGeom prst="rect">
            <a:avLst/>
          </a:prstGeom>
          <a:noFill/>
        </p:spPr>
        <p:txBody>
          <a:bodyPr wrap="square" lIns="0" rIns="0" tIns="0" bIns="0" anchor="ctr">
            <a:spAutoFit/>
          </a:bodyPr>
          <a:lstStyle/>
          <a:p>
            <a:pPr>
              <a:spcAft>
                <a:spcPts val="0"/>
              </a:spcAft>
            </a:pPr>
            <a:r>
              <a:rPr sz="1075" b="0">
                <a:solidFill>
                  <a:srgbClr val="607069"/>
                </a:solidFill>
                <a:latin typeface="Aptos"/>
              </a:rPr>
              <a:t>Allocation prévisionnelle des 246 JH ; les effectifs disponibles ne sont pas nécessairement mobilisés à temps plein.</a:t>
            </a:r>
          </a:p>
        </p:txBody>
      </p:sp>
      <p:sp>
        <p:nvSpPr>
          <p:cNvPr id="6" name="Rectangle 5"/>
          <p:cNvSpPr/>
          <p:nvPr/>
        </p:nvSpPr>
        <p:spPr>
          <a:xfrm>
            <a:off x="594360" y="1664208"/>
            <a:ext cx="1100023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6437376"/>
            <a:ext cx="11000232" cy="10972"/>
          </a:xfrm>
          <a:prstGeom prst="rect">
            <a:avLst/>
          </a:prstGeom>
          <a:solidFill>
            <a:srgbClr val="DC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73952"/>
            <a:ext cx="10149840" cy="155448"/>
          </a:xfrm>
          <a:prstGeom prst="rect">
            <a:avLst/>
          </a:prstGeom>
          <a:noFill/>
        </p:spPr>
        <p:txBody>
          <a:bodyPr wrap="square" lIns="0" rIns="0" tIns="0" bIns="0" anchor="ctr">
            <a:spAutoFit/>
          </a:bodyPr>
          <a:lstStyle/>
          <a:p>
            <a:pPr>
              <a:spcAft>
                <a:spcPts val="0"/>
              </a:spcAft>
            </a:pPr>
            <a:r>
              <a:rPr sz="800" b="0">
                <a:solidFill>
                  <a:srgbClr val="607069"/>
                </a:solidFill>
                <a:latin typeface="Aptos"/>
              </a:rPr>
              <a:t>FASHION–INSTA  ·  TIMELINE DATA &amp; IA  /  HYPOTHÈSES DE PLANIFICATION</a:t>
            </a:r>
          </a:p>
        </p:txBody>
      </p:sp>
      <p:sp>
        <p:nvSpPr>
          <p:cNvPr id="9" name="TextBox 8"/>
          <p:cNvSpPr txBox="1"/>
          <p:nvPr/>
        </p:nvSpPr>
        <p:spPr>
          <a:xfrm>
            <a:off x="11109960" y="6455664"/>
            <a:ext cx="457200" cy="182880"/>
          </a:xfrm>
          <a:prstGeom prst="rect">
            <a:avLst/>
          </a:prstGeom>
          <a:noFill/>
        </p:spPr>
        <p:txBody>
          <a:bodyPr wrap="square" lIns="0" rIns="0" tIns="0" bIns="0" anchor="ctr">
            <a:spAutoFit/>
          </a:bodyPr>
          <a:lstStyle/>
          <a:p>
            <a:pPr algn="r">
              <a:spcAft>
                <a:spcPts val="0"/>
              </a:spcAft>
            </a:pPr>
            <a:r>
              <a:rPr sz="900" b="0">
                <a:solidFill>
                  <a:srgbClr val="607069"/>
                </a:solidFill>
                <a:latin typeface="Aptos"/>
              </a:rPr>
              <a:t>17</a:t>
            </a:r>
          </a:p>
        </p:txBody>
      </p:sp>
      <p:sp>
        <p:nvSpPr>
          <p:cNvPr id="10" name="Rounded Rectangle 9"/>
          <p:cNvSpPr/>
          <p:nvPr/>
        </p:nvSpPr>
        <p:spPr>
          <a:xfrm>
            <a:off x="640080" y="1856231"/>
            <a:ext cx="10908792" cy="438912"/>
          </a:xfrm>
          <a:prstGeom prst="roundRect">
            <a:avLst>
              <a:gd name="adj" fmla="val 12000"/>
            </a:avLst>
          </a:prstGeom>
          <a:solidFill>
            <a:srgbClr val="213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965960"/>
            <a:ext cx="192024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PROFIL (EFFECTIF)</a:t>
            </a:r>
          </a:p>
        </p:txBody>
      </p:sp>
      <p:sp>
        <p:nvSpPr>
          <p:cNvPr id="12" name="TextBox 11"/>
          <p:cNvSpPr txBox="1"/>
          <p:nvPr/>
        </p:nvSpPr>
        <p:spPr>
          <a:xfrm>
            <a:off x="2761488" y="1965960"/>
            <a:ext cx="164592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POC · 15 J</a:t>
            </a:r>
          </a:p>
        </p:txBody>
      </p:sp>
      <p:sp>
        <p:nvSpPr>
          <p:cNvPr id="13" name="TextBox 12"/>
          <p:cNvSpPr txBox="1"/>
          <p:nvPr/>
        </p:nvSpPr>
        <p:spPr>
          <a:xfrm>
            <a:off x="4453128" y="1965960"/>
            <a:ext cx="164592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MVP · 50 J</a:t>
            </a:r>
          </a:p>
        </p:txBody>
      </p:sp>
      <p:sp>
        <p:nvSpPr>
          <p:cNvPr id="14" name="TextBox 13"/>
          <p:cNvSpPr txBox="1"/>
          <p:nvPr/>
        </p:nvSpPr>
        <p:spPr>
          <a:xfrm>
            <a:off x="6144768" y="1965960"/>
            <a:ext cx="164592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RUN · 20 J</a:t>
            </a:r>
          </a:p>
        </p:txBody>
      </p:sp>
      <p:sp>
        <p:nvSpPr>
          <p:cNvPr id="15" name="TextBox 14"/>
          <p:cNvSpPr txBox="1"/>
          <p:nvPr/>
        </p:nvSpPr>
        <p:spPr>
          <a:xfrm>
            <a:off x="7845552" y="1965960"/>
            <a:ext cx="3474720" cy="210312"/>
          </a:xfrm>
          <a:prstGeom prst="rect">
            <a:avLst/>
          </a:prstGeom>
          <a:noFill/>
        </p:spPr>
        <p:txBody>
          <a:bodyPr wrap="square" lIns="0" rIns="0" tIns="0" bIns="0" anchor="ctr">
            <a:spAutoFit/>
          </a:bodyPr>
          <a:lstStyle/>
          <a:p>
            <a:pPr>
              <a:spcAft>
                <a:spcPts val="0"/>
              </a:spcAft>
            </a:pPr>
            <a:r>
              <a:rPr sz="940" b="1">
                <a:solidFill>
                  <a:srgbClr val="FFFFFF"/>
                </a:solidFill>
                <a:latin typeface="Aptos"/>
              </a:rPr>
              <a:t>ARBITRAGE DE CHARGE</a:t>
            </a:r>
          </a:p>
        </p:txBody>
      </p:sp>
      <p:sp>
        <p:nvSpPr>
          <p:cNvPr id="16" name="Rectangle 15"/>
          <p:cNvSpPr/>
          <p:nvPr/>
        </p:nvSpPr>
        <p:spPr>
          <a:xfrm>
            <a:off x="640080" y="2304288"/>
            <a:ext cx="10908792" cy="566928"/>
          </a:xfrm>
          <a:prstGeom prst="rect">
            <a:avLst/>
          </a:prstGeom>
          <a:solidFill>
            <a:srgbClr val="F6F8F4"/>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2414016"/>
            <a:ext cx="1920240" cy="338328"/>
          </a:xfrm>
          <a:prstGeom prst="rect">
            <a:avLst/>
          </a:prstGeom>
          <a:noFill/>
        </p:spPr>
        <p:txBody>
          <a:bodyPr wrap="square" lIns="0" rIns="0" tIns="0" bIns="0" anchor="ctr">
            <a:spAutoFit/>
          </a:bodyPr>
          <a:lstStyle/>
          <a:p>
            <a:pPr>
              <a:spcAft>
                <a:spcPts val="0"/>
              </a:spcAft>
            </a:pPr>
            <a:r>
              <a:rPr sz="1005" b="1">
                <a:solidFill>
                  <a:srgbClr val="17221F"/>
                </a:solidFill>
                <a:latin typeface="Aptos"/>
              </a:rPr>
              <a:t>DS ×3</a:t>
            </a:r>
          </a:p>
        </p:txBody>
      </p:sp>
      <p:sp>
        <p:nvSpPr>
          <p:cNvPr id="18" name="TextBox 17"/>
          <p:cNvSpPr txBox="1"/>
          <p:nvPr/>
        </p:nvSpPr>
        <p:spPr>
          <a:xfrm>
            <a:off x="2761488" y="2414016"/>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16 JH · 36 %</a:t>
            </a:r>
          </a:p>
        </p:txBody>
      </p:sp>
      <p:sp>
        <p:nvSpPr>
          <p:cNvPr id="19" name="TextBox 18"/>
          <p:cNvSpPr txBox="1"/>
          <p:nvPr/>
        </p:nvSpPr>
        <p:spPr>
          <a:xfrm>
            <a:off x="4453128" y="2414016"/>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75 JH · 50 %</a:t>
            </a:r>
          </a:p>
        </p:txBody>
      </p:sp>
      <p:sp>
        <p:nvSpPr>
          <p:cNvPr id="20" name="TextBox 19"/>
          <p:cNvSpPr txBox="1"/>
          <p:nvPr/>
        </p:nvSpPr>
        <p:spPr>
          <a:xfrm>
            <a:off x="6144768" y="2414016"/>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10 JH · 17 %</a:t>
            </a:r>
          </a:p>
        </p:txBody>
      </p:sp>
      <p:sp>
        <p:nvSpPr>
          <p:cNvPr id="21" name="TextBox 20"/>
          <p:cNvSpPr txBox="1"/>
          <p:nvPr/>
        </p:nvSpPr>
        <p:spPr>
          <a:xfrm>
            <a:off x="7845552" y="2414016"/>
            <a:ext cx="34747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MVP : classement, préférences et évaluations.</a:t>
            </a:r>
          </a:p>
        </p:txBody>
      </p:sp>
      <p:sp>
        <p:nvSpPr>
          <p:cNvPr id="22" name="Rectangle 21"/>
          <p:cNvSpPr/>
          <p:nvPr/>
        </p:nvSpPr>
        <p:spPr>
          <a:xfrm>
            <a:off x="640080" y="2880360"/>
            <a:ext cx="10908792" cy="566928"/>
          </a:xfrm>
          <a:prstGeom prst="rect">
            <a:avLst/>
          </a:prstGeom>
          <a:solidFill>
            <a:srgbClr val="FFFFFF"/>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2990088"/>
            <a:ext cx="1920240" cy="338328"/>
          </a:xfrm>
          <a:prstGeom prst="rect">
            <a:avLst/>
          </a:prstGeom>
          <a:noFill/>
        </p:spPr>
        <p:txBody>
          <a:bodyPr wrap="square" lIns="0" rIns="0" tIns="0" bIns="0" anchor="ctr">
            <a:spAutoFit/>
          </a:bodyPr>
          <a:lstStyle/>
          <a:p>
            <a:pPr>
              <a:spcAft>
                <a:spcPts val="0"/>
              </a:spcAft>
            </a:pPr>
            <a:r>
              <a:rPr sz="1005" b="1">
                <a:solidFill>
                  <a:srgbClr val="17221F"/>
                </a:solidFill>
                <a:latin typeface="Aptos"/>
              </a:rPr>
              <a:t>DE ×2</a:t>
            </a:r>
          </a:p>
        </p:txBody>
      </p:sp>
      <p:sp>
        <p:nvSpPr>
          <p:cNvPr id="24" name="TextBox 23"/>
          <p:cNvSpPr txBox="1"/>
          <p:nvPr/>
        </p:nvSpPr>
        <p:spPr>
          <a:xfrm>
            <a:off x="2761488" y="2990088"/>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6 JH · 20 %</a:t>
            </a:r>
          </a:p>
        </p:txBody>
      </p:sp>
      <p:sp>
        <p:nvSpPr>
          <p:cNvPr id="25" name="TextBox 24"/>
          <p:cNvSpPr txBox="1"/>
          <p:nvPr/>
        </p:nvSpPr>
        <p:spPr>
          <a:xfrm>
            <a:off x="4453128" y="2990088"/>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55 JH · 55 %</a:t>
            </a:r>
          </a:p>
        </p:txBody>
      </p:sp>
      <p:sp>
        <p:nvSpPr>
          <p:cNvPr id="26" name="TextBox 25"/>
          <p:cNvSpPr txBox="1"/>
          <p:nvPr/>
        </p:nvSpPr>
        <p:spPr>
          <a:xfrm>
            <a:off x="6144768" y="2990088"/>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8 JH · 20 %</a:t>
            </a:r>
          </a:p>
        </p:txBody>
      </p:sp>
      <p:sp>
        <p:nvSpPr>
          <p:cNvPr id="27" name="TextBox 26"/>
          <p:cNvSpPr txBox="1"/>
          <p:nvPr/>
        </p:nvSpPr>
        <p:spPr>
          <a:xfrm>
            <a:off x="7845552" y="2990088"/>
            <a:ext cx="34747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MVP : pipelines, fiabilité et données RGPD.</a:t>
            </a:r>
          </a:p>
        </p:txBody>
      </p:sp>
      <p:sp>
        <p:nvSpPr>
          <p:cNvPr id="28" name="Rectangle 27"/>
          <p:cNvSpPr/>
          <p:nvPr/>
        </p:nvSpPr>
        <p:spPr>
          <a:xfrm>
            <a:off x="640080" y="3456432"/>
            <a:ext cx="10908792" cy="566928"/>
          </a:xfrm>
          <a:prstGeom prst="rect">
            <a:avLst/>
          </a:prstGeom>
          <a:solidFill>
            <a:srgbClr val="F6F8F4"/>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3566160"/>
            <a:ext cx="1920240" cy="338328"/>
          </a:xfrm>
          <a:prstGeom prst="rect">
            <a:avLst/>
          </a:prstGeom>
          <a:noFill/>
        </p:spPr>
        <p:txBody>
          <a:bodyPr wrap="square" lIns="0" rIns="0" tIns="0" bIns="0" anchor="ctr">
            <a:spAutoFit/>
          </a:bodyPr>
          <a:lstStyle/>
          <a:p>
            <a:pPr>
              <a:spcAft>
                <a:spcPts val="0"/>
              </a:spcAft>
            </a:pPr>
            <a:r>
              <a:rPr sz="1005" b="1">
                <a:solidFill>
                  <a:srgbClr val="17221F"/>
                </a:solidFill>
                <a:latin typeface="Aptos"/>
              </a:rPr>
              <a:t>TL ×1</a:t>
            </a:r>
          </a:p>
        </p:txBody>
      </p:sp>
      <p:sp>
        <p:nvSpPr>
          <p:cNvPr id="30" name="TextBox 29"/>
          <p:cNvSpPr txBox="1"/>
          <p:nvPr/>
        </p:nvSpPr>
        <p:spPr>
          <a:xfrm>
            <a:off x="2761488" y="3566160"/>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4 JH · 27 %</a:t>
            </a:r>
          </a:p>
        </p:txBody>
      </p:sp>
      <p:sp>
        <p:nvSpPr>
          <p:cNvPr id="31" name="TextBox 30"/>
          <p:cNvSpPr txBox="1"/>
          <p:nvPr/>
        </p:nvSpPr>
        <p:spPr>
          <a:xfrm>
            <a:off x="4453128" y="3566160"/>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20 JH · 40 %</a:t>
            </a:r>
          </a:p>
        </p:txBody>
      </p:sp>
      <p:sp>
        <p:nvSpPr>
          <p:cNvPr id="32" name="TextBox 31"/>
          <p:cNvSpPr txBox="1"/>
          <p:nvPr/>
        </p:nvSpPr>
        <p:spPr>
          <a:xfrm>
            <a:off x="6144768" y="3566160"/>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4 JH · 20 %</a:t>
            </a:r>
          </a:p>
        </p:txBody>
      </p:sp>
      <p:sp>
        <p:nvSpPr>
          <p:cNvPr id="33" name="TextBox 32"/>
          <p:cNvSpPr txBox="1"/>
          <p:nvPr/>
        </p:nvSpPr>
        <p:spPr>
          <a:xfrm>
            <a:off x="7845552" y="3566160"/>
            <a:ext cx="34747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Revues d’architecture et arbitrages aux jalons.</a:t>
            </a:r>
          </a:p>
        </p:txBody>
      </p:sp>
      <p:sp>
        <p:nvSpPr>
          <p:cNvPr id="34" name="Rectangle 33"/>
          <p:cNvSpPr/>
          <p:nvPr/>
        </p:nvSpPr>
        <p:spPr>
          <a:xfrm>
            <a:off x="640080" y="4032504"/>
            <a:ext cx="10908792" cy="566928"/>
          </a:xfrm>
          <a:prstGeom prst="rect">
            <a:avLst/>
          </a:prstGeom>
          <a:solidFill>
            <a:srgbClr val="FFFFFF"/>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8" y="4142232"/>
            <a:ext cx="1920240" cy="338328"/>
          </a:xfrm>
          <a:prstGeom prst="rect">
            <a:avLst/>
          </a:prstGeom>
          <a:noFill/>
        </p:spPr>
        <p:txBody>
          <a:bodyPr wrap="square" lIns="0" rIns="0" tIns="0" bIns="0" anchor="ctr">
            <a:spAutoFit/>
          </a:bodyPr>
          <a:lstStyle/>
          <a:p>
            <a:pPr>
              <a:spcAft>
                <a:spcPts val="0"/>
              </a:spcAft>
            </a:pPr>
            <a:r>
              <a:rPr sz="1005" b="1">
                <a:solidFill>
                  <a:srgbClr val="17221F"/>
                </a:solidFill>
                <a:latin typeface="Aptos"/>
              </a:rPr>
              <a:t>MO ×1</a:t>
            </a:r>
          </a:p>
        </p:txBody>
      </p:sp>
      <p:sp>
        <p:nvSpPr>
          <p:cNvPr id="36" name="TextBox 35"/>
          <p:cNvSpPr txBox="1"/>
          <p:nvPr/>
        </p:nvSpPr>
        <p:spPr>
          <a:xfrm>
            <a:off x="2761488" y="4142232"/>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4 JH · 27 %</a:t>
            </a:r>
          </a:p>
        </p:txBody>
      </p:sp>
      <p:sp>
        <p:nvSpPr>
          <p:cNvPr id="37" name="TextBox 36"/>
          <p:cNvSpPr txBox="1"/>
          <p:nvPr/>
        </p:nvSpPr>
        <p:spPr>
          <a:xfrm>
            <a:off x="4453128" y="4142232"/>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30 JH · 60 %</a:t>
            </a:r>
          </a:p>
        </p:txBody>
      </p:sp>
      <p:sp>
        <p:nvSpPr>
          <p:cNvPr id="38" name="TextBox 37"/>
          <p:cNvSpPr txBox="1"/>
          <p:nvPr/>
        </p:nvSpPr>
        <p:spPr>
          <a:xfrm>
            <a:off x="6144768" y="4142232"/>
            <a:ext cx="16459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14 JH · 70 %</a:t>
            </a:r>
          </a:p>
        </p:txBody>
      </p:sp>
      <p:sp>
        <p:nvSpPr>
          <p:cNvPr id="39" name="TextBox 38"/>
          <p:cNvSpPr txBox="1"/>
          <p:nvPr/>
        </p:nvSpPr>
        <p:spPr>
          <a:xfrm>
            <a:off x="7845552" y="4142232"/>
            <a:ext cx="3474720" cy="338328"/>
          </a:xfrm>
          <a:prstGeom prst="rect">
            <a:avLst/>
          </a:prstGeom>
          <a:noFill/>
        </p:spPr>
        <p:txBody>
          <a:bodyPr wrap="square" lIns="0" rIns="0" tIns="0" bIns="0" anchor="ctr">
            <a:spAutoFit/>
          </a:bodyPr>
          <a:lstStyle/>
          <a:p>
            <a:pPr>
              <a:spcAft>
                <a:spcPts val="0"/>
              </a:spcAft>
            </a:pPr>
            <a:r>
              <a:rPr sz="1005" b="0">
                <a:solidFill>
                  <a:srgbClr val="17221F"/>
                </a:solidFill>
                <a:latin typeface="Aptos"/>
              </a:rPr>
              <a:t>Run : capacité élevée pour incidents et supervision.</a:t>
            </a:r>
          </a:p>
        </p:txBody>
      </p:sp>
      <p:sp>
        <p:nvSpPr>
          <p:cNvPr id="40" name="TextBox 39"/>
          <p:cNvSpPr txBox="1"/>
          <p:nvPr/>
        </p:nvSpPr>
        <p:spPr>
          <a:xfrm>
            <a:off x="704088" y="4681728"/>
            <a:ext cx="10853928" cy="246888"/>
          </a:xfrm>
          <a:prstGeom prst="rect">
            <a:avLst/>
          </a:prstGeom>
          <a:noFill/>
        </p:spPr>
        <p:txBody>
          <a:bodyPr wrap="square" lIns="0" rIns="0" tIns="0" bIns="0" anchor="ctr">
            <a:spAutoFit/>
          </a:bodyPr>
          <a:lstStyle/>
          <a:p>
            <a:pPr>
              <a:spcAft>
                <a:spcPts val="0"/>
              </a:spcAft>
            </a:pPr>
            <a:r>
              <a:rPr sz="1000" b="1">
                <a:solidFill>
                  <a:srgbClr val="213D31"/>
                </a:solidFill>
                <a:latin typeface="Aptos"/>
              </a:rPr>
              <a:t>Exemple : 75 JH de Data Scientists pendant le MVP ÷ (3 personnes × 50 jours ouvrés) = 50 % par personne en moyenne.</a:t>
            </a:r>
          </a:p>
        </p:txBody>
      </p:sp>
      <p:sp>
        <p:nvSpPr>
          <p:cNvPr id="41" name="Rounded Rectangle 40"/>
          <p:cNvSpPr/>
          <p:nvPr/>
        </p:nvSpPr>
        <p:spPr>
          <a:xfrm>
            <a:off x="640080" y="5020056"/>
            <a:ext cx="5358384" cy="1033271"/>
          </a:xfrm>
          <a:prstGeom prst="roundRect">
            <a:avLst>
              <a:gd name="adj" fmla="val 12000"/>
            </a:avLst>
          </a:prstGeom>
          <a:solidFill>
            <a:srgbClr val="F2F5F0"/>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120640"/>
            <a:ext cx="5001768" cy="182880"/>
          </a:xfrm>
          <a:prstGeom prst="rect">
            <a:avLst/>
          </a:prstGeom>
          <a:noFill/>
        </p:spPr>
        <p:txBody>
          <a:bodyPr wrap="square" lIns="0" rIns="0" tIns="0" bIns="0" anchor="ctr">
            <a:spAutoFit/>
          </a:bodyPr>
          <a:lstStyle/>
          <a:p>
            <a:pPr>
              <a:spcAft>
                <a:spcPts val="0"/>
              </a:spcAft>
            </a:pPr>
            <a:r>
              <a:rPr sz="910" b="1">
                <a:solidFill>
                  <a:srgbClr val="213D31"/>
                </a:solidFill>
                <a:latin typeface="Aptos"/>
              </a:rPr>
              <a:t>DÉPLOIEMENT MAÎTRISÉ</a:t>
            </a:r>
          </a:p>
        </p:txBody>
      </p:sp>
      <p:sp>
        <p:nvSpPr>
          <p:cNvPr id="43" name="TextBox 42"/>
          <p:cNvSpPr txBox="1"/>
          <p:nvPr/>
        </p:nvSpPr>
        <p:spPr>
          <a:xfrm>
            <a:off x="777240" y="5394960"/>
            <a:ext cx="5001768" cy="566928"/>
          </a:xfrm>
          <a:prstGeom prst="rect">
            <a:avLst/>
          </a:prstGeom>
          <a:noFill/>
        </p:spPr>
        <p:txBody>
          <a:bodyPr wrap="square" lIns="0" rIns="0" tIns="0" bIns="0" anchor="ctr">
            <a:spAutoFit/>
          </a:bodyPr>
          <a:lstStyle/>
          <a:p>
            <a:pPr>
              <a:spcAft>
                <a:spcPts val="0"/>
              </a:spcAft>
            </a:pPr>
            <a:r>
              <a:rPr sz="1010" b="0">
                <a:solidFill>
                  <a:srgbClr val="17221F"/>
                </a:solidFill>
                <a:latin typeface="Aptos"/>
              </a:rPr>
              <a:t>PoC hors ligne → MVP en mode shadow / pilote → canary, extension graduelle et rollback en Run.</a:t>
            </a:r>
          </a:p>
        </p:txBody>
      </p:sp>
      <p:sp>
        <p:nvSpPr>
          <p:cNvPr id="44" name="Rounded Rectangle 43"/>
          <p:cNvSpPr/>
          <p:nvPr/>
        </p:nvSpPr>
        <p:spPr>
          <a:xfrm>
            <a:off x="6163056" y="5020056"/>
            <a:ext cx="5385816" cy="1033271"/>
          </a:xfrm>
          <a:prstGeom prst="roundRect">
            <a:avLst>
              <a:gd name="adj" fmla="val 12000"/>
            </a:avLst>
          </a:prstGeom>
          <a:solidFill>
            <a:srgbClr val="F2F5F0"/>
          </a:solidFill>
          <a:ln w="8890">
            <a:solidFill>
              <a:srgbClr val="DC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0216" y="5120640"/>
            <a:ext cx="5020056" cy="182880"/>
          </a:xfrm>
          <a:prstGeom prst="rect">
            <a:avLst/>
          </a:prstGeom>
          <a:noFill/>
        </p:spPr>
        <p:txBody>
          <a:bodyPr wrap="square" lIns="0" rIns="0" tIns="0" bIns="0" anchor="ctr">
            <a:spAutoFit/>
          </a:bodyPr>
          <a:lstStyle/>
          <a:p>
            <a:pPr>
              <a:spcAft>
                <a:spcPts val="0"/>
              </a:spcAft>
            </a:pPr>
            <a:r>
              <a:rPr sz="910" b="1">
                <a:solidFill>
                  <a:srgbClr val="213D31"/>
                </a:solidFill>
                <a:latin typeface="Aptos"/>
              </a:rPr>
              <a:t>VALIDATION CONTINUE</a:t>
            </a:r>
          </a:p>
        </p:txBody>
      </p:sp>
      <p:sp>
        <p:nvSpPr>
          <p:cNvPr id="46" name="TextBox 45"/>
          <p:cNvSpPr txBox="1"/>
          <p:nvPr/>
        </p:nvSpPr>
        <p:spPr>
          <a:xfrm>
            <a:off x="6300216" y="5394960"/>
            <a:ext cx="5020056" cy="566928"/>
          </a:xfrm>
          <a:prstGeom prst="rect">
            <a:avLst/>
          </a:prstGeom>
          <a:noFill/>
        </p:spPr>
        <p:txBody>
          <a:bodyPr wrap="square" lIns="0" rIns="0" tIns="0" bIns="0" anchor="ctr">
            <a:spAutoFit/>
          </a:bodyPr>
          <a:lstStyle/>
          <a:p>
            <a:pPr>
              <a:spcAft>
                <a:spcPts val="0"/>
              </a:spcAft>
            </a:pPr>
            <a:r>
              <a:rPr sz="1010" b="0">
                <a:solidFill>
                  <a:srgbClr val="17221F"/>
                </a:solidFill>
                <a:latin typeface="Aptos"/>
              </a:rPr>
              <a:t>Coproj chaque semaine. Copil aux jalons S3/S8/S13/S17, avec experts métier, Alicia et l’équipe Data.</a:t>
            </a:r>
          </a:p>
        </p:txBody>
      </p:sp>
      <p:sp>
        <p:nvSpPr>
          <p:cNvPr id="47" name="TextBox 46"/>
          <p:cNvSpPr txBox="1"/>
          <p:nvPr/>
        </p:nvSpPr>
        <p:spPr>
          <a:xfrm>
            <a:off x="667512" y="6190488"/>
            <a:ext cx="10972800" cy="146304"/>
          </a:xfrm>
          <a:prstGeom prst="rect">
            <a:avLst/>
          </a:prstGeom>
          <a:noFill/>
        </p:spPr>
        <p:txBody>
          <a:bodyPr wrap="square" lIns="0" rIns="0" tIns="0" bIns="0" anchor="ctr">
            <a:spAutoFit/>
          </a:bodyPr>
          <a:lstStyle/>
          <a:p>
            <a:pPr>
              <a:spcAft>
                <a:spcPts val="0"/>
              </a:spcAft>
            </a:pPr>
            <a:r>
              <a:rPr sz="855" b="0">
                <a:solidFill>
                  <a:srgbClr val="607069"/>
                </a:solidFill>
                <a:latin typeface="Aptos"/>
              </a:rPr>
              <a:t>Aucun poste à 100 % par défaut : taux fondés sur les tâches ; disponibilité réelle et charge parallèle à confirmer.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Fashion-Insta (cas pédagogique)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Fashion-Insta | Cadrage du PoC IA – recommandation visuelle</dc:title>
  <dc:subject>Cadrage pour autorisation d’un Proof of Concept IA</dc:subject>
  <dc:creator>Projet OpenClassrooms P11 – Fashion-Insta</dc:creator>
  <cp:lastModifiedBy>Projet OpenClassrooms P11 – Fashion-Insta</cp:lastModifiedBy>
  <cp:revision>1</cp:revision>
  <dcterms:created xsi:type="dcterms:W3CDTF">2026-10-20T09:29:57Z</dcterms:created>
  <dcterms:modified xsi:type="dcterms:W3CDTF">2026-10-20T09:29:57Z</dcterms:modified>
</cp:coreProperties>
</file>