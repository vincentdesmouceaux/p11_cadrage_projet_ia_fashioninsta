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en explicitant que le but n’est pas de vendre l’application mobile complète : on demande l’autorisation d’un PoC sur la brique centrale de recommandation visuelle. Le choix de 120 références est une hypothèse de périmètre à confirmer avec Alicia.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demande est un feu vert de principe pour un PoC, conditionné à la disponibilité des données, à la gouvernance et à un budget confirmé. Les 30 jours-homme sont une estimation, les coûts € ne sont pas déterminables sans taux journaliers et consommations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sont celles de l’expression des besoins 2024. Le 14 % web et le 4 % magasins sont des projections de l’étude marketing sur 24 mois. Le PoC n’établit aucune causalité entre recommandation et chiffre d’affaires ; celle-ci exige un pilote commercial ultérieur.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catégorie combine l’enjeu commercial le plus important (27 % du CA) et un volume réduit de 120 références. Validation préalable : les images sont bien exploitables. Ici, recommandation = recherche visuelle d’articles comparables, pas assemblage de tenue ni essayage virtuel.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un cas d’usage observable : une photo externe, une analyse visuelle, un classement, puis un Top 5 évalué. Les produits sont dédupliqués par référence. Si besoin, recadrer manuellement le vêtement de la photo : la détection automatique n’est pas au cœur de ce premier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document Alicia indique que l’extraction préalable des données produits a nécessité 3 jours-homme de Data Engineer pour l’ensemble des références. Ce chiffre est historique. Nous estimons ici 4 jours-homme pour l’extraction ciblée, le rapprochement des images et les contrôles. Des photos test licites doivent être obtenues avant le lancement.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CLIP/OpenCLIP est un exemple de modèle préentraîné, à confirmer après validation des contraintes de déploiement et de licence. Une même chaîne de prétraitement transforme images du catalogue et photos test en vecteurs ; scores par similarité cosinus, puis agrégation par ID produit et Top 5 distinct. À cette échelle (120 références), Azure AI Search n’est pas nécessairement justifié.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prétendre connaître les performances des méthodes à l’avance. L’approche A est un choix de rapidité et de compatibilité avec un test centré image/image. L’approche B est un comparateur soumis aux droits d’accès Azure et à une limite de temps ; le filtrage par tags forme la baseline non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Définir Precision@5 comme la moyenne par photo de la fraction de suggestions pertinentes, et Success@5 comme la part des photos ayant au moins une bonne suggestion. Faire annoter idéalement en aveugle par deux professionnels métier. Les 40 photos représentent un petit jeu de faisabilité, non une mesure définitive de production. Les seuils doivent être figés avec les métiers avant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horloges : le cadrage est présenté au COMEX trois semaines après la demande d’Alicia ; si le COMEX valide, le PoC est planifié pour 15 jours ouvrés supplémentaires. Les travaux partiellement parallèles permettent une charge totale de 30 jours-homme dans ce calendrier. Les jalons devront être renommés et datés au lancement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Charges cumulées (non durée calendrier) : chef de projet 5, Data Engineer 4, DS/ML Engineer 12, ingénieur Cloud 3, expert métier 4, référent RGPD 2 = 30 jours-homme. Une estimation budgétaire en € nécessiterait le coût journalier de chaque profil et la prévision de consommation Azure. Alicia est le sponsor ; la validation métier doit être formalisée.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risques ne sont pas cosmétiques : l’existence d’une réponse pertinente dépend autant de la couverture du catalogue et de la formulation de “même style” que de l’algorithme. Prévoir la conformité RGPD pour les images identifiantes, sans considérer le consentement comme seule base possible. Un blocage doit conduire à re-scoper plutôt qu’à prolonger indéfiniment le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Go signifie autoriser un pilote plus étendu si les objectifs proposés ont été atteints, le résultat reproductible, et les conditions de conformité satisfaites. Le No-Go peut signifier arrêt ou réorientation ciblée, pas rejet définitif de toute IA. Demander autorisation conditionnelle de PoC et arbitrage des hypothèses.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annexe documente la provenance des données métier (énoncé fourni) et les hypothèses faites durant le cadrage. Les 40 photos, seuils métriques et 30 jours-homme n’ont pas été mesurés : ce sont des propositions à arbitrer. Les liens Microsoft servent seulement à établir la faisabilité générale des services, pas à prouver l’accès ou le coût effectif de l’organisation.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2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4F086"/>
          </a:solidFill>
          <a:ln w="12700">
            <a:solidFill>
              <a:srgbClr val="D4F086">
                <a:alpha val="0"/>
              </a:srgbClr>
            </a:solidFill>
            <a:prstDash val="solid"/>
          </a:ln>
        </p:spPr>
      </p:sp>
      <p:sp>
        <p:nvSpPr>
          <p:cNvPr id="3" name="Text 1"/>
          <p:cNvSpPr/>
          <p:nvPr/>
        </p:nvSpPr>
        <p:spPr>
          <a:xfrm>
            <a:off x="640080" y="411480"/>
            <a:ext cx="7315200" cy="320040"/>
          </a:xfrm>
          <a:prstGeom prst="rect">
            <a:avLst/>
          </a:prstGeom>
          <a:noFill/>
          <a:ln/>
        </p:spPr>
        <p:txBody>
          <a:bodyPr wrap="square" lIns="0" tIns="0" rIns="0" bIns="0" rtlCol="0" anchor="ctr">
            <a:normAutofit/>
          </a:bodyPr>
          <a:lstStyle/>
          <a:p>
            <a:pPr algn="l" indent="0" marL="0">
              <a:buNone/>
            </a:pPr>
            <a:r>
              <a:rPr lang="en-US" sz="1600" b="1" spc="400" kern="0" dirty="0">
                <a:solidFill>
                  <a:srgbClr val="D4F086"/>
                </a:solidFill>
                <a:latin typeface="Inter Display" pitchFamily="34" charset="0"/>
                <a:ea typeface="Inter Display" pitchFamily="34" charset="-122"/>
                <a:cs typeface="Inter Display" pitchFamily="34" charset="-120"/>
              </a:rPr>
              <a:t>FASHION — INSTA</a:t>
            </a:r>
            <a:endParaRPr lang="en-US" sz="1600" dirty="0"/>
          </a:p>
        </p:txBody>
      </p:sp>
      <p:sp>
        <p:nvSpPr>
          <p:cNvPr id="4" name="Shape 2"/>
          <p:cNvSpPr/>
          <p:nvPr/>
        </p:nvSpPr>
        <p:spPr>
          <a:xfrm>
            <a:off x="640080" y="1106424"/>
            <a:ext cx="5897880" cy="0"/>
          </a:xfrm>
          <a:prstGeom prst="line">
            <a:avLst/>
          </a:prstGeom>
          <a:noFill/>
          <a:ln w="12700">
            <a:solidFill>
              <a:srgbClr val="597166"/>
            </a:solidFill>
            <a:prstDash val="solid"/>
            <a:headEnd type="none"/>
            <a:tailEnd type="none"/>
          </a:ln>
        </p:spPr>
      </p:sp>
      <p:sp>
        <p:nvSpPr>
          <p:cNvPr id="5" name="Text 3"/>
          <p:cNvSpPr/>
          <p:nvPr/>
        </p:nvSpPr>
        <p:spPr>
          <a:xfrm>
            <a:off x="621792" y="1481328"/>
            <a:ext cx="7406640" cy="1828800"/>
          </a:xfrm>
          <a:prstGeom prst="rect">
            <a:avLst/>
          </a:prstGeom>
          <a:noFill/>
          <a:ln/>
        </p:spPr>
        <p:txBody>
          <a:bodyPr wrap="square" lIns="0" tIns="0" rIns="0" bIns="0" rtlCol="0" anchor="ctr">
            <a:normAutofit/>
          </a:bodyPr>
          <a:lstStyle/>
          <a:p>
            <a:pPr algn="l" indent="0" marL="0">
              <a:buNone/>
            </a:pPr>
            <a:r>
              <a:rPr lang="en-US" sz="4300" b="1" spc="-100" kern="0" dirty="0">
                <a:solidFill>
                  <a:srgbClr val="FFFFFF"/>
                </a:solidFill>
                <a:latin typeface="Inter Display" pitchFamily="34" charset="0"/>
                <a:ea typeface="Inter Display" pitchFamily="34" charset="-122"/>
                <a:cs typeface="Inter Display" pitchFamily="34" charset="-120"/>
              </a:rPr>
              <a:t>RECOMMANDER</a:t>
            </a:r>
            <a:endParaRPr lang="en-US" sz="4300" dirty="0"/>
          </a:p>
          <a:p>
            <a:pPr algn="l" indent="0" marL="0">
              <a:buNone/>
            </a:pPr>
            <a:r>
              <a:rPr lang="en-US" sz="4300" b="1" spc="-100" kern="0" dirty="0">
                <a:solidFill>
                  <a:srgbClr val="FFFFFF"/>
                </a:solidFill>
                <a:latin typeface="Inter Display" pitchFamily="34" charset="0"/>
                <a:ea typeface="Inter Display" pitchFamily="34" charset="-122"/>
                <a:cs typeface="Inter Display" pitchFamily="34" charset="-120"/>
              </a:rPr>
              <a:t>PAR L’IMAGE.</a:t>
            </a:r>
            <a:endParaRPr lang="en-US" sz="4300" dirty="0"/>
          </a:p>
        </p:txBody>
      </p:sp>
      <p:sp>
        <p:nvSpPr>
          <p:cNvPr id="6" name="Text 4"/>
          <p:cNvSpPr/>
          <p:nvPr/>
        </p:nvSpPr>
        <p:spPr>
          <a:xfrm>
            <a:off x="658368" y="3657600"/>
            <a:ext cx="6583680" cy="402336"/>
          </a:xfrm>
          <a:prstGeom prst="rect">
            <a:avLst/>
          </a:prstGeom>
          <a:noFill/>
          <a:ln/>
        </p:spPr>
        <p:txBody>
          <a:bodyPr wrap="square" lIns="0" tIns="0" rIns="0" bIns="0" rtlCol="0" anchor="ctr">
            <a:normAutofit/>
          </a:bodyPr>
          <a:lstStyle/>
          <a:p>
            <a:pPr algn="l" indent="0" marL="0">
              <a:buNone/>
            </a:pPr>
            <a:r>
              <a:rPr lang="en-US" sz="2100" dirty="0">
                <a:solidFill>
                  <a:srgbClr val="D4F086"/>
                </a:solidFill>
                <a:latin typeface="Inter" pitchFamily="34" charset="0"/>
                <a:ea typeface="Inter" pitchFamily="34" charset="-122"/>
                <a:cs typeface="Inter" pitchFamily="34" charset="-120"/>
              </a:rPr>
              <a:t>Cadrage d’un Proof of Concept IA</a:t>
            </a:r>
            <a:endParaRPr lang="en-US" sz="2100" dirty="0"/>
          </a:p>
        </p:txBody>
      </p:sp>
      <p:sp>
        <p:nvSpPr>
          <p:cNvPr id="7" name="Text 5"/>
          <p:cNvSpPr/>
          <p:nvPr/>
        </p:nvSpPr>
        <p:spPr>
          <a:xfrm>
            <a:off x="658368" y="4215384"/>
            <a:ext cx="6492240" cy="365760"/>
          </a:xfrm>
          <a:prstGeom prst="rect">
            <a:avLst/>
          </a:prstGeom>
          <a:noFill/>
          <a:ln/>
        </p:spPr>
        <p:txBody>
          <a:bodyPr wrap="square" lIns="0" tIns="0" rIns="0" bIns="0" rtlCol="0" anchor="ctr">
            <a:normAutofit/>
          </a:bodyPr>
          <a:lstStyle/>
          <a:p>
            <a:pPr algn="l" indent="0" marL="0">
              <a:buNone/>
            </a:pPr>
            <a:r>
              <a:rPr lang="en-US" sz="1500" dirty="0">
                <a:solidFill>
                  <a:srgbClr val="C4D2C7"/>
                </a:solidFill>
                <a:latin typeface="Inter" pitchFamily="34" charset="0"/>
                <a:ea typeface="Inter" pitchFamily="34" charset="-122"/>
                <a:cs typeface="Inter" pitchFamily="34" charset="-120"/>
              </a:rPr>
              <a:t>Fashion-Insta   •   Présentation au COMEX</a:t>
            </a:r>
            <a:endParaRPr lang="en-US" sz="1500" dirty="0"/>
          </a:p>
        </p:txBody>
      </p:sp>
      <p:sp>
        <p:nvSpPr>
          <p:cNvPr id="8" name="Shape 6"/>
          <p:cNvSpPr/>
          <p:nvPr/>
        </p:nvSpPr>
        <p:spPr>
          <a:xfrm>
            <a:off x="640080" y="5093208"/>
            <a:ext cx="5623560" cy="649224"/>
          </a:xfrm>
          <a:prstGeom prst="roundRect">
            <a:avLst>
              <a:gd name="adj" fmla="val 16901"/>
            </a:avLst>
          </a:prstGeom>
          <a:solidFill>
            <a:srgbClr val="24352F"/>
          </a:solidFill>
          <a:ln w="12700">
            <a:solidFill>
              <a:srgbClr val="24352F">
                <a:alpha val="0"/>
              </a:srgbClr>
            </a:solidFill>
            <a:prstDash val="solid"/>
          </a:ln>
        </p:spPr>
      </p:sp>
      <p:sp>
        <p:nvSpPr>
          <p:cNvPr id="9" name="Text 7"/>
          <p:cNvSpPr/>
          <p:nvPr/>
        </p:nvSpPr>
        <p:spPr>
          <a:xfrm>
            <a:off x="877824" y="5312664"/>
            <a:ext cx="5175504" cy="182880"/>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Inter" pitchFamily="34" charset="0"/>
                <a:ea typeface="Inter" pitchFamily="34" charset="-122"/>
                <a:cs typeface="Inter" pitchFamily="34" charset="-120"/>
              </a:rPr>
              <a:t>Demande : autoriser une expérimentation ciblée</a:t>
            </a:r>
            <a:endParaRPr lang="en-US" sz="1200" dirty="0"/>
          </a:p>
        </p:txBody>
      </p:sp>
      <p:sp>
        <p:nvSpPr>
          <p:cNvPr id="10" name="Shape 8"/>
          <p:cNvSpPr/>
          <p:nvPr/>
        </p:nvSpPr>
        <p:spPr>
          <a:xfrm>
            <a:off x="7598664" y="576072"/>
            <a:ext cx="3767328" cy="3767328"/>
          </a:xfrm>
          <a:prstGeom prst="ellipse">
            <a:avLst/>
          </a:prstGeom>
          <a:solidFill>
            <a:srgbClr val="34493F"/>
          </a:solidFill>
          <a:ln w="12700">
            <a:solidFill>
              <a:srgbClr val="34493F">
                <a:alpha val="0"/>
              </a:srgbClr>
            </a:solidFill>
            <a:prstDash val="solid"/>
          </a:ln>
        </p:spPr>
      </p:sp>
      <p:sp>
        <p:nvSpPr>
          <p:cNvPr id="11" name="Shape 9"/>
          <p:cNvSpPr/>
          <p:nvPr/>
        </p:nvSpPr>
        <p:spPr>
          <a:xfrm>
            <a:off x="8156448" y="1097280"/>
            <a:ext cx="2798064" cy="2798064"/>
          </a:xfrm>
          <a:prstGeom prst="ellipse">
            <a:avLst/>
          </a:prstGeom>
          <a:solidFill>
            <a:srgbClr val="405F54"/>
          </a:solidFill>
          <a:ln w="12700">
            <a:solidFill>
              <a:srgbClr val="405F54">
                <a:alpha val="0"/>
              </a:srgbClr>
            </a:solidFill>
            <a:prstDash val="solid"/>
          </a:ln>
        </p:spPr>
      </p:sp>
      <p:sp>
        <p:nvSpPr>
          <p:cNvPr id="12" name="Shape 10"/>
          <p:cNvSpPr/>
          <p:nvPr/>
        </p:nvSpPr>
        <p:spPr>
          <a:xfrm>
            <a:off x="7808976" y="612648"/>
            <a:ext cx="3675888" cy="4636008"/>
          </a:xfrm>
          <a:prstGeom prst="roundRect">
            <a:avLst>
              <a:gd name="adj" fmla="val 746"/>
            </a:avLst>
          </a:prstGeom>
          <a:solidFill>
            <a:srgbClr val="D4F086"/>
          </a:solidFill>
          <a:ln w="12700">
            <a:solidFill>
              <a:srgbClr val="D4F086">
                <a:alpha val="0"/>
              </a:srgbClr>
            </a:solidFill>
            <a:prstDash val="solid"/>
          </a:ln>
        </p:spPr>
      </p:sp>
      <p:pic>
        <p:nvPicPr>
          <p:cNvPr id="13" name="Image 0" descr="/mnt/data/slide_work/fashion_insta_photo_couverture.jpg">    </p:cNvPr>
          <p:cNvPicPr>
            <a:picLocks noChangeAspect="1"/>
          </p:cNvPicPr>
          <p:nvPr/>
        </p:nvPicPr>
        <p:blipFill>
          <a:blip r:embed="rId1"/>
          <a:stretch>
            <a:fillRect/>
          </a:stretch>
        </p:blipFill>
        <p:spPr>
          <a:xfrm>
            <a:off x="7891272" y="694944"/>
            <a:ext cx="3511296" cy="4462272"/>
          </a:xfrm>
          <a:prstGeom prst="rect">
            <a:avLst/>
          </a:prstGeom>
        </p:spPr>
      </p:pic>
      <p:sp>
        <p:nvSpPr>
          <p:cNvPr id="14" name="Text 11"/>
          <p:cNvSpPr/>
          <p:nvPr/>
        </p:nvSpPr>
        <p:spPr>
          <a:xfrm>
            <a:off x="8348472" y="5266944"/>
            <a:ext cx="1847088" cy="548640"/>
          </a:xfrm>
          <a:prstGeom prst="rect">
            <a:avLst/>
          </a:prstGeom>
          <a:noFill/>
          <a:ln/>
        </p:spPr>
        <p:txBody>
          <a:bodyPr wrap="square" lIns="0" tIns="0" rIns="0" bIns="0" rtlCol="0" anchor="ctr">
            <a:normAutofit/>
          </a:bodyPr>
          <a:lstStyle/>
          <a:p>
            <a:pPr algn="l" indent="0" marL="0">
              <a:buNone/>
            </a:pPr>
            <a:r>
              <a:rPr lang="en-US" sz="3300" b="1" dirty="0">
                <a:solidFill>
                  <a:srgbClr val="D4F086"/>
                </a:solidFill>
                <a:latin typeface="Inter Display" pitchFamily="34" charset="0"/>
                <a:ea typeface="Inter Display" pitchFamily="34" charset="-122"/>
                <a:cs typeface="Inter Display" pitchFamily="34" charset="-120"/>
              </a:rPr>
              <a:t>120</a:t>
            </a:r>
            <a:endParaRPr lang="en-US" sz="3300" dirty="0"/>
          </a:p>
        </p:txBody>
      </p:sp>
      <p:sp>
        <p:nvSpPr>
          <p:cNvPr id="15" name="Text 12"/>
          <p:cNvSpPr/>
          <p:nvPr/>
        </p:nvSpPr>
        <p:spPr>
          <a:xfrm>
            <a:off x="8311896" y="5797296"/>
            <a:ext cx="3108960" cy="274320"/>
          </a:xfrm>
          <a:prstGeom prst="rect">
            <a:avLst/>
          </a:prstGeom>
          <a:noFill/>
          <a:ln/>
        </p:spPr>
        <p:txBody>
          <a:bodyPr wrap="square" lIns="0" tIns="0" rIns="0" bIns="0" rtlCol="0" anchor="ctr">
            <a:normAutofit/>
          </a:bodyPr>
          <a:lstStyle/>
          <a:p>
            <a:pPr algn="l" indent="0" marL="0">
              <a:buNone/>
            </a:pPr>
            <a:r>
              <a:rPr lang="en-US" sz="1000" b="1" spc="120" kern="0" dirty="0">
                <a:solidFill>
                  <a:srgbClr val="D8E4D7"/>
                </a:solidFill>
                <a:latin typeface="Inter" pitchFamily="34" charset="0"/>
                <a:ea typeface="Inter" pitchFamily="34" charset="-122"/>
                <a:cs typeface="Inter" pitchFamily="34" charset="-120"/>
              </a:rPr>
              <a:t>RÉFÉRENCES PILOTES</a:t>
            </a:r>
            <a:endParaRPr lang="en-US" sz="1000" dirty="0"/>
          </a:p>
        </p:txBody>
      </p:sp>
      <p:sp>
        <p:nvSpPr>
          <p:cNvPr id="16" name="Text 13"/>
          <p:cNvSpPr/>
          <p:nvPr/>
        </p:nvSpPr>
        <p:spPr>
          <a:xfrm>
            <a:off x="658368" y="6501384"/>
            <a:ext cx="8229600" cy="164592"/>
          </a:xfrm>
          <a:prstGeom prst="rect">
            <a:avLst/>
          </a:prstGeom>
          <a:noFill/>
          <a:ln/>
        </p:spPr>
        <p:txBody>
          <a:bodyPr wrap="square" lIns="0" tIns="0" rIns="0" bIns="0" rtlCol="0" anchor="ctr">
            <a:normAutofit/>
          </a:bodyPr>
          <a:lstStyle/>
          <a:p>
            <a:pPr algn="l" indent="0" marL="0">
              <a:buNone/>
            </a:pPr>
            <a:r>
              <a:rPr lang="en-US" sz="900" spc="110" kern="0" dirty="0">
                <a:solidFill>
                  <a:srgbClr val="99B1A3"/>
                </a:solidFill>
                <a:latin typeface="Inter" pitchFamily="34" charset="0"/>
                <a:ea typeface="Inter" pitchFamily="34" charset="-122"/>
                <a:cs typeface="Inter" pitchFamily="34" charset="-120"/>
              </a:rPr>
              <a:t>OCTOBRE 2026   /   PROPOSITION DE CADRAGE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SYNTHÈSE EXÉCUTIVE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La décision attendue du COMEX</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02</a:t>
            </a:r>
            <a:endParaRPr lang="en-US" sz="900" dirty="0"/>
          </a:p>
        </p:txBody>
      </p:sp>
      <p:sp>
        <p:nvSpPr>
          <p:cNvPr id="8" name="Text 6"/>
          <p:cNvSpPr/>
          <p:nvPr/>
        </p:nvSpPr>
        <p:spPr>
          <a:xfrm>
            <a:off x="612648" y="1847088"/>
            <a:ext cx="10881360" cy="493776"/>
          </a:xfrm>
          <a:prstGeom prst="rect">
            <a:avLst/>
          </a:prstGeom>
          <a:noFill/>
          <a:ln/>
        </p:spPr>
        <p:txBody>
          <a:bodyPr wrap="square" lIns="0" tIns="0" rIns="0" bIns="0" rtlCol="0" anchor="ctr">
            <a:normAutofit/>
          </a:bodyPr>
          <a:lstStyle/>
          <a:p>
            <a:pPr algn="l" indent="0" marL="0">
              <a:buNone/>
            </a:pPr>
            <a:r>
              <a:rPr lang="en-US" sz="2100" b="1" dirty="0">
                <a:solidFill>
                  <a:srgbClr val="17221F"/>
                </a:solidFill>
                <a:latin typeface="Inter Display" pitchFamily="34" charset="0"/>
                <a:ea typeface="Inter Display" pitchFamily="34" charset="-122"/>
                <a:cs typeface="Inter Display" pitchFamily="34" charset="-120"/>
              </a:rPr>
              <a:t>Autoriser un test mesurable avant d’investir dans l’application complète.</a:t>
            </a:r>
            <a:endParaRPr lang="en-US" sz="2100" dirty="0"/>
          </a:p>
        </p:txBody>
      </p:sp>
      <p:sp>
        <p:nvSpPr>
          <p:cNvPr id="9" name="Shape 7"/>
          <p:cNvSpPr/>
          <p:nvPr/>
        </p:nvSpPr>
        <p:spPr>
          <a:xfrm>
            <a:off x="630936" y="2624328"/>
            <a:ext cx="3419856" cy="2157984"/>
          </a:xfrm>
          <a:prstGeom prst="roundRect">
            <a:avLst>
              <a:gd name="adj" fmla="val 6780"/>
            </a:avLst>
          </a:prstGeom>
          <a:solidFill>
            <a:srgbClr val="FFFFFF"/>
          </a:solidFill>
          <a:ln w="12700">
            <a:solidFill>
              <a:srgbClr val="FFFFFF">
                <a:alpha val="0"/>
              </a:srgbClr>
            </a:solidFill>
            <a:prstDash val="solid"/>
          </a:ln>
        </p:spPr>
      </p:sp>
      <p:sp>
        <p:nvSpPr>
          <p:cNvPr id="10" name="Shape 8"/>
          <p:cNvSpPr/>
          <p:nvPr/>
        </p:nvSpPr>
        <p:spPr>
          <a:xfrm>
            <a:off x="813816" y="2834640"/>
            <a:ext cx="100584" cy="329184"/>
          </a:xfrm>
          <a:prstGeom prst="roundRect">
            <a:avLst>
              <a:gd name="adj" fmla="val 45455"/>
            </a:avLst>
          </a:prstGeom>
          <a:solidFill>
            <a:srgbClr val="D4F086"/>
          </a:solidFill>
          <a:ln w="12700">
            <a:solidFill>
              <a:srgbClr val="D4F086">
                <a:alpha val="0"/>
              </a:srgbClr>
            </a:solidFill>
            <a:prstDash val="solid"/>
          </a:ln>
        </p:spPr>
      </p:sp>
      <p:sp>
        <p:nvSpPr>
          <p:cNvPr id="11" name="Text 9"/>
          <p:cNvSpPr/>
          <p:nvPr/>
        </p:nvSpPr>
        <p:spPr>
          <a:xfrm>
            <a:off x="1033272"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Périmètre ciblé</a:t>
            </a:r>
            <a:endParaRPr lang="en-US" sz="1600" dirty="0"/>
          </a:p>
        </p:txBody>
      </p:sp>
      <p:sp>
        <p:nvSpPr>
          <p:cNvPr id="12" name="Text 10"/>
          <p:cNvSpPr/>
          <p:nvPr/>
        </p:nvSpPr>
        <p:spPr>
          <a:xfrm>
            <a:off x="905256"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120 références de pantalons et jeans ; 40 photos de test ; Top 5 de recommandations.</a:t>
            </a:r>
            <a:endParaRPr lang="en-US" sz="1430" dirty="0"/>
          </a:p>
        </p:txBody>
      </p:sp>
      <p:sp>
        <p:nvSpPr>
          <p:cNvPr id="13" name="Shape 11"/>
          <p:cNvSpPr/>
          <p:nvPr/>
        </p:nvSpPr>
        <p:spPr>
          <a:xfrm>
            <a:off x="4379976" y="2624328"/>
            <a:ext cx="3419856" cy="2157984"/>
          </a:xfrm>
          <a:prstGeom prst="roundRect">
            <a:avLst>
              <a:gd name="adj" fmla="val 6780"/>
            </a:avLst>
          </a:prstGeom>
          <a:solidFill>
            <a:srgbClr val="FFFFFF"/>
          </a:solidFill>
          <a:ln w="12700">
            <a:solidFill>
              <a:srgbClr val="FFFFFF">
                <a:alpha val="0"/>
              </a:srgbClr>
            </a:solidFill>
            <a:prstDash val="solid"/>
          </a:ln>
        </p:spPr>
      </p:sp>
      <p:sp>
        <p:nvSpPr>
          <p:cNvPr id="14" name="Shape 12"/>
          <p:cNvSpPr/>
          <p:nvPr/>
        </p:nvSpPr>
        <p:spPr>
          <a:xfrm>
            <a:off x="4562856" y="2834640"/>
            <a:ext cx="100584" cy="329184"/>
          </a:xfrm>
          <a:prstGeom prst="roundRect">
            <a:avLst>
              <a:gd name="adj" fmla="val 45455"/>
            </a:avLst>
          </a:prstGeom>
          <a:solidFill>
            <a:srgbClr val="D4F086"/>
          </a:solidFill>
          <a:ln w="12700">
            <a:solidFill>
              <a:srgbClr val="D4F086">
                <a:alpha val="0"/>
              </a:srgbClr>
            </a:solidFill>
            <a:prstDash val="solid"/>
          </a:ln>
        </p:spPr>
      </p:sp>
      <p:sp>
        <p:nvSpPr>
          <p:cNvPr id="15" name="Text 13"/>
          <p:cNvSpPr/>
          <p:nvPr/>
        </p:nvSpPr>
        <p:spPr>
          <a:xfrm>
            <a:off x="4782312"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Expérimentation courte</a:t>
            </a:r>
            <a:endParaRPr lang="en-US" sz="1600" dirty="0"/>
          </a:p>
        </p:txBody>
      </p:sp>
      <p:sp>
        <p:nvSpPr>
          <p:cNvPr id="16" name="Text 14"/>
          <p:cNvSpPr/>
          <p:nvPr/>
        </p:nvSpPr>
        <p:spPr>
          <a:xfrm>
            <a:off x="4654296"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15 jours ouvrés après accord COMEX ; 30 jours-homme répartis entre six profils.</a:t>
            </a:r>
            <a:endParaRPr lang="en-US" sz="1430" dirty="0"/>
          </a:p>
        </p:txBody>
      </p:sp>
      <p:sp>
        <p:nvSpPr>
          <p:cNvPr id="17" name="Shape 15"/>
          <p:cNvSpPr/>
          <p:nvPr/>
        </p:nvSpPr>
        <p:spPr>
          <a:xfrm>
            <a:off x="8147304" y="2624328"/>
            <a:ext cx="3419856" cy="2157984"/>
          </a:xfrm>
          <a:prstGeom prst="roundRect">
            <a:avLst>
              <a:gd name="adj" fmla="val 6780"/>
            </a:avLst>
          </a:prstGeom>
          <a:solidFill>
            <a:srgbClr val="FFFFFF"/>
          </a:solidFill>
          <a:ln w="12700">
            <a:solidFill>
              <a:srgbClr val="FFFFFF">
                <a:alpha val="0"/>
              </a:srgbClr>
            </a:solidFill>
            <a:prstDash val="solid"/>
          </a:ln>
        </p:spPr>
      </p:sp>
      <p:sp>
        <p:nvSpPr>
          <p:cNvPr id="18" name="Shape 16"/>
          <p:cNvSpPr/>
          <p:nvPr/>
        </p:nvSpPr>
        <p:spPr>
          <a:xfrm>
            <a:off x="8330184" y="2834640"/>
            <a:ext cx="100584" cy="329184"/>
          </a:xfrm>
          <a:prstGeom prst="roundRect">
            <a:avLst>
              <a:gd name="adj" fmla="val 45455"/>
            </a:avLst>
          </a:prstGeom>
          <a:solidFill>
            <a:srgbClr val="D4F086"/>
          </a:solidFill>
          <a:ln w="12700">
            <a:solidFill>
              <a:srgbClr val="D4F086">
                <a:alpha val="0"/>
              </a:srgbClr>
            </a:solidFill>
            <a:prstDash val="solid"/>
          </a:ln>
        </p:spPr>
      </p:sp>
      <p:sp>
        <p:nvSpPr>
          <p:cNvPr id="19" name="Text 17"/>
          <p:cNvSpPr/>
          <p:nvPr/>
        </p:nvSpPr>
        <p:spPr>
          <a:xfrm>
            <a:off x="8549640"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Décision objectivée</a:t>
            </a:r>
            <a:endParaRPr lang="en-US" sz="1600" dirty="0"/>
          </a:p>
        </p:txBody>
      </p:sp>
      <p:sp>
        <p:nvSpPr>
          <p:cNvPr id="20" name="Text 18"/>
          <p:cNvSpPr/>
          <p:nvPr/>
        </p:nvSpPr>
        <p:spPr>
          <a:xfrm>
            <a:off x="8421624"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Métriques de pertinence, comparaison sans IA, contrôle des risques et restitution Go / No-Go.</a:t>
            </a:r>
            <a:endParaRPr lang="en-US" sz="1430" dirty="0"/>
          </a:p>
        </p:txBody>
      </p:sp>
      <p:sp>
        <p:nvSpPr>
          <p:cNvPr id="21" name="Shape 19"/>
          <p:cNvSpPr/>
          <p:nvPr/>
        </p:nvSpPr>
        <p:spPr>
          <a:xfrm>
            <a:off x="621792" y="5120640"/>
            <a:ext cx="10945368" cy="740664"/>
          </a:xfrm>
          <a:prstGeom prst="roundRect">
            <a:avLst>
              <a:gd name="adj" fmla="val 18519"/>
            </a:avLst>
          </a:prstGeom>
          <a:solidFill>
            <a:srgbClr val="17221F"/>
          </a:solidFill>
          <a:ln w="12700">
            <a:solidFill>
              <a:srgbClr val="17221F">
                <a:alpha val="0"/>
              </a:srgbClr>
            </a:solidFill>
            <a:prstDash val="solid"/>
          </a:ln>
        </p:spPr>
      </p:sp>
      <p:sp>
        <p:nvSpPr>
          <p:cNvPr id="22" name="Text 20"/>
          <p:cNvSpPr/>
          <p:nvPr/>
        </p:nvSpPr>
        <p:spPr>
          <a:xfrm>
            <a:off x="868680" y="5321808"/>
            <a:ext cx="10332720" cy="320040"/>
          </a:xfrm>
          <a:prstGeom prst="rect">
            <a:avLst/>
          </a:prstGeom>
          <a:noFill/>
          <a:ln/>
        </p:spPr>
        <p:txBody>
          <a:bodyPr wrap="square" lIns="0" tIns="0" rIns="0" bIns="0" rtlCol="0" anchor="ctr">
            <a:normAutofit/>
          </a:bodyPr>
          <a:lstStyle/>
          <a:p>
            <a:pPr algn="l" indent="0" marL="0">
              <a:buNone/>
            </a:pPr>
            <a:r>
              <a:rPr lang="en-US" sz="1500" b="1" dirty="0">
                <a:solidFill>
                  <a:srgbClr val="FFFFFF"/>
                </a:solidFill>
                <a:latin typeface="Inter" pitchFamily="34" charset="0"/>
                <a:ea typeface="Inter" pitchFamily="34" charset="-122"/>
                <a:cs typeface="Inter" pitchFamily="34" charset="-120"/>
              </a:rPr>
              <a:t>À valider avant lancement : données, responsables, accès Azure et enveloppe financière.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01  /  CONTEXTE MÉTIER</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enjeu commercial concret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03</a:t>
            </a:r>
            <a:endParaRPr lang="en-US" sz="900" dirty="0"/>
          </a:p>
        </p:txBody>
      </p:sp>
      <p:sp>
        <p:nvSpPr>
          <p:cNvPr id="8" name="Text 6"/>
          <p:cNvSpPr/>
          <p:nvPr/>
        </p:nvSpPr>
        <p:spPr>
          <a:xfrm>
            <a:off x="621792" y="1819656"/>
            <a:ext cx="10789920" cy="438912"/>
          </a:xfrm>
          <a:prstGeom prst="rect">
            <a:avLst/>
          </a:prstGeom>
          <a:noFill/>
          <a:ln/>
        </p:spPr>
        <p:txBody>
          <a:bodyPr wrap="square" lIns="0" tIns="0" rIns="0" bIns="0" rtlCol="0" anchor="ctr">
            <a:normAutofit/>
          </a:bodyPr>
          <a:lstStyle/>
          <a:p>
            <a:pPr algn="l" indent="0" marL="0">
              <a:buNone/>
            </a:pPr>
            <a:r>
              <a:rPr lang="en-US" sz="1900" b="1" dirty="0">
                <a:solidFill>
                  <a:srgbClr val="17221F"/>
                </a:solidFill>
                <a:latin typeface="Inter" pitchFamily="34" charset="0"/>
                <a:ea typeface="Inter" pitchFamily="34" charset="-122"/>
                <a:cs typeface="Inter" pitchFamily="34" charset="-120"/>
              </a:rPr>
              <a:t>Fashion-Insta cherche à transformer la découverte produit en opportunités d’achat.</a:t>
            </a:r>
            <a:endParaRPr lang="en-US" sz="1900" dirty="0"/>
          </a:p>
        </p:txBody>
      </p:sp>
      <p:sp>
        <p:nvSpPr>
          <p:cNvPr id="9" name="Shape 7"/>
          <p:cNvSpPr/>
          <p:nvPr/>
        </p:nvSpPr>
        <p:spPr>
          <a:xfrm>
            <a:off x="630936" y="2487168"/>
            <a:ext cx="5202936" cy="2542032"/>
          </a:xfrm>
          <a:prstGeom prst="roundRect">
            <a:avLst>
              <a:gd name="adj" fmla="val 6475"/>
            </a:avLst>
          </a:prstGeom>
          <a:solidFill>
            <a:srgbClr val="17221F"/>
          </a:solidFill>
          <a:ln w="12700">
            <a:solidFill>
              <a:srgbClr val="17221F">
                <a:alpha val="0"/>
              </a:srgbClr>
            </a:solidFill>
            <a:prstDash val="solid"/>
          </a:ln>
        </p:spPr>
      </p:sp>
      <p:sp>
        <p:nvSpPr>
          <p:cNvPr id="10" name="Text 8"/>
          <p:cNvSpPr/>
          <p:nvPr/>
        </p:nvSpPr>
        <p:spPr>
          <a:xfrm>
            <a:off x="914400" y="2734056"/>
            <a:ext cx="4517136" cy="704088"/>
          </a:xfrm>
          <a:prstGeom prst="rect">
            <a:avLst/>
          </a:prstGeom>
          <a:noFill/>
          <a:ln/>
        </p:spPr>
        <p:txBody>
          <a:bodyPr wrap="square" lIns="0" tIns="0" rIns="0" bIns="0" rtlCol="0" anchor="ctr">
            <a:normAutofit/>
          </a:bodyPr>
          <a:lstStyle/>
          <a:p>
            <a:pPr algn="l" indent="0" marL="0">
              <a:buNone/>
            </a:pPr>
            <a:r>
              <a:rPr lang="en-US" sz="3900" b="1" dirty="0">
                <a:solidFill>
                  <a:srgbClr val="D4F086"/>
                </a:solidFill>
                <a:latin typeface="Inter Display" pitchFamily="34" charset="0"/>
                <a:ea typeface="Inter Display" pitchFamily="34" charset="-122"/>
                <a:cs typeface="Inter Display" pitchFamily="34" charset="-120"/>
              </a:rPr>
              <a:t>10,4 M€</a:t>
            </a:r>
            <a:endParaRPr lang="en-US" sz="3900" dirty="0"/>
          </a:p>
        </p:txBody>
      </p:sp>
      <p:sp>
        <p:nvSpPr>
          <p:cNvPr id="11" name="Text 9"/>
          <p:cNvSpPr/>
          <p:nvPr/>
        </p:nvSpPr>
        <p:spPr>
          <a:xfrm>
            <a:off x="950976" y="3511296"/>
            <a:ext cx="4251960" cy="301752"/>
          </a:xfrm>
          <a:prstGeom prst="rect">
            <a:avLst/>
          </a:prstGeom>
          <a:noFill/>
          <a:ln/>
        </p:spPr>
        <p:txBody>
          <a:bodyPr wrap="square" lIns="0" tIns="0" rIns="0" bIns="0" rtlCol="0" anchor="ctr">
            <a:normAutofit/>
          </a:bodyPr>
          <a:lstStyle/>
          <a:p>
            <a:pPr algn="l" indent="0" marL="0">
              <a:buNone/>
            </a:pPr>
            <a:r>
              <a:rPr lang="en-US" sz="1500" dirty="0">
                <a:solidFill>
                  <a:srgbClr val="FFFFFF"/>
                </a:solidFill>
                <a:latin typeface="Inter" pitchFamily="34" charset="0"/>
                <a:ea typeface="Inter" pitchFamily="34" charset="-122"/>
                <a:cs typeface="Inter" pitchFamily="34" charset="-120"/>
              </a:rPr>
              <a:t>CA annuel global 2024</a:t>
            </a:r>
            <a:endParaRPr lang="en-US" sz="1500" dirty="0"/>
          </a:p>
        </p:txBody>
      </p:sp>
      <p:sp>
        <p:nvSpPr>
          <p:cNvPr id="12" name="Shape 10"/>
          <p:cNvSpPr/>
          <p:nvPr/>
        </p:nvSpPr>
        <p:spPr>
          <a:xfrm>
            <a:off x="932688" y="3986784"/>
            <a:ext cx="4599432" cy="0"/>
          </a:xfrm>
          <a:prstGeom prst="line">
            <a:avLst/>
          </a:prstGeom>
          <a:noFill/>
          <a:ln w="11430">
            <a:solidFill>
              <a:srgbClr val="4D6056"/>
            </a:solidFill>
            <a:prstDash val="solid"/>
            <a:headEnd type="none"/>
            <a:tailEnd type="none"/>
          </a:ln>
        </p:spPr>
      </p:sp>
      <p:sp>
        <p:nvSpPr>
          <p:cNvPr id="13" name="Text 11"/>
          <p:cNvSpPr/>
          <p:nvPr/>
        </p:nvSpPr>
        <p:spPr>
          <a:xfrm>
            <a:off x="950976" y="4187952"/>
            <a:ext cx="4553712" cy="448056"/>
          </a:xfrm>
          <a:prstGeom prst="rect">
            <a:avLst/>
          </a:prstGeom>
          <a:noFill/>
          <a:ln/>
        </p:spPr>
        <p:txBody>
          <a:bodyPr wrap="square" lIns="0" tIns="0" rIns="0" bIns="0" rtlCol="0" anchor="ctr">
            <a:normAutofit/>
          </a:bodyPr>
          <a:lstStyle/>
          <a:p>
            <a:pPr algn="l" indent="0" marL="0">
              <a:buNone/>
            </a:pPr>
            <a:r>
              <a:rPr lang="en-US" sz="1600" b="1" dirty="0">
                <a:solidFill>
                  <a:srgbClr val="D4E3D9"/>
                </a:solidFill>
                <a:latin typeface="Inter" pitchFamily="34" charset="0"/>
                <a:ea typeface="Inter" pitchFamily="34" charset="-122"/>
                <a:cs typeface="Inter" pitchFamily="34" charset="-120"/>
              </a:rPr>
              <a:t>5,2 M€ web  /  5,2 M€ magasins</a:t>
            </a:r>
            <a:endParaRPr lang="en-US" sz="1600" dirty="0"/>
          </a:p>
        </p:txBody>
      </p:sp>
      <p:sp>
        <p:nvSpPr>
          <p:cNvPr id="14" name="Shape 12"/>
          <p:cNvSpPr/>
          <p:nvPr/>
        </p:nvSpPr>
        <p:spPr>
          <a:xfrm>
            <a:off x="6089904" y="2487168"/>
            <a:ext cx="5477256" cy="2542032"/>
          </a:xfrm>
          <a:prstGeom prst="roundRect">
            <a:avLst>
              <a:gd name="adj" fmla="val 6475"/>
            </a:avLst>
          </a:prstGeom>
          <a:solidFill>
            <a:srgbClr val="FFFFFF"/>
          </a:solidFill>
          <a:ln w="12700">
            <a:solidFill>
              <a:srgbClr val="FFFFFF">
                <a:alpha val="0"/>
              </a:srgbClr>
            </a:solidFill>
            <a:prstDash val="solid"/>
          </a:ln>
        </p:spPr>
      </p:sp>
      <p:sp>
        <p:nvSpPr>
          <p:cNvPr id="15" name="Text 13"/>
          <p:cNvSpPr/>
          <p:nvPr/>
        </p:nvSpPr>
        <p:spPr>
          <a:xfrm>
            <a:off x="6382512" y="2779776"/>
            <a:ext cx="4690872" cy="274320"/>
          </a:xfrm>
          <a:prstGeom prst="rect">
            <a:avLst/>
          </a:prstGeom>
          <a:noFill/>
          <a:ln/>
        </p:spPr>
        <p:txBody>
          <a:bodyPr wrap="square" lIns="0" tIns="0" rIns="0" bIns="0" rtlCol="0" anchor="ctr">
            <a:normAutofit/>
          </a:bodyPr>
          <a:lstStyle/>
          <a:p>
            <a:pPr algn="l" indent="0" marL="0">
              <a:buNone/>
            </a:pPr>
            <a:r>
              <a:rPr lang="en-US" sz="1000" b="1" spc="100" kern="0" dirty="0">
                <a:solidFill>
                  <a:srgbClr val="607069"/>
                </a:solidFill>
                <a:latin typeface="Inter" pitchFamily="34" charset="0"/>
                <a:ea typeface="Inter" pitchFamily="34" charset="-122"/>
                <a:cs typeface="Inter" pitchFamily="34" charset="-120"/>
              </a:rPr>
              <a:t>OBJECTIFS MARKETING À 24 MOIS</a:t>
            </a:r>
            <a:endParaRPr lang="en-US" sz="1000" dirty="0"/>
          </a:p>
        </p:txBody>
      </p:sp>
      <p:sp>
        <p:nvSpPr>
          <p:cNvPr id="16" name="Text 14"/>
          <p:cNvSpPr/>
          <p:nvPr/>
        </p:nvSpPr>
        <p:spPr>
          <a:xfrm>
            <a:off x="6382512" y="3154680"/>
            <a:ext cx="2313432" cy="667512"/>
          </a:xfrm>
          <a:prstGeom prst="rect">
            <a:avLst/>
          </a:prstGeom>
          <a:noFill/>
          <a:ln/>
        </p:spPr>
        <p:txBody>
          <a:bodyPr wrap="square" lIns="0" tIns="0" rIns="0" bIns="0" rtlCol="0" anchor="ctr">
            <a:normAutofit/>
          </a:bodyPr>
          <a:lstStyle/>
          <a:p>
            <a:pPr algn="l" indent="0" marL="0">
              <a:buNone/>
            </a:pPr>
            <a:r>
              <a:rPr lang="en-US" sz="3400" b="1" dirty="0">
                <a:solidFill>
                  <a:srgbClr val="17221F"/>
                </a:solidFill>
                <a:latin typeface="Inter Display" pitchFamily="34" charset="0"/>
                <a:ea typeface="Inter Display" pitchFamily="34" charset="-122"/>
                <a:cs typeface="Inter Display" pitchFamily="34" charset="-120"/>
              </a:rPr>
              <a:t>+14 %</a:t>
            </a:r>
            <a:endParaRPr lang="en-US" sz="3400" dirty="0"/>
          </a:p>
        </p:txBody>
      </p:sp>
      <p:sp>
        <p:nvSpPr>
          <p:cNvPr id="17" name="Text 15"/>
          <p:cNvSpPr/>
          <p:nvPr/>
        </p:nvSpPr>
        <p:spPr>
          <a:xfrm>
            <a:off x="6400800" y="3886200"/>
            <a:ext cx="2276856" cy="219456"/>
          </a:xfrm>
          <a:prstGeom prst="rect">
            <a:avLst/>
          </a:prstGeom>
          <a:noFill/>
          <a:ln/>
        </p:spPr>
        <p:txBody>
          <a:bodyPr wrap="square" lIns="0" tIns="0" rIns="0" bIns="0" rtlCol="0" anchor="ctr">
            <a:normAutofit/>
          </a:bodyPr>
          <a:lstStyle/>
          <a:p>
            <a:pPr algn="l" indent="0" marL="0">
              <a:buNone/>
            </a:pPr>
            <a:r>
              <a:rPr lang="en-US" sz="1200" b="1" dirty="0">
                <a:solidFill>
                  <a:srgbClr val="607069"/>
                </a:solidFill>
                <a:latin typeface="Inter" pitchFamily="34" charset="0"/>
                <a:ea typeface="Inter" pitchFamily="34" charset="-122"/>
                <a:cs typeface="Inter" pitchFamily="34" charset="-120"/>
              </a:rPr>
              <a:t>CA WEB</a:t>
            </a:r>
            <a:endParaRPr lang="en-US" sz="1200" dirty="0"/>
          </a:p>
        </p:txBody>
      </p:sp>
      <p:sp>
        <p:nvSpPr>
          <p:cNvPr id="18" name="Text 16"/>
          <p:cNvSpPr/>
          <p:nvPr/>
        </p:nvSpPr>
        <p:spPr>
          <a:xfrm>
            <a:off x="8942832" y="3154680"/>
            <a:ext cx="2103120" cy="667512"/>
          </a:xfrm>
          <a:prstGeom prst="rect">
            <a:avLst/>
          </a:prstGeom>
          <a:noFill/>
          <a:ln/>
        </p:spPr>
        <p:txBody>
          <a:bodyPr wrap="square" lIns="0" tIns="0" rIns="0" bIns="0" rtlCol="0" anchor="ctr">
            <a:normAutofit/>
          </a:bodyPr>
          <a:lstStyle/>
          <a:p>
            <a:pPr algn="l" indent="0" marL="0">
              <a:buNone/>
            </a:pPr>
            <a:r>
              <a:rPr lang="en-US" sz="3400" b="1" dirty="0">
                <a:solidFill>
                  <a:srgbClr val="17221F"/>
                </a:solidFill>
                <a:latin typeface="Inter Display" pitchFamily="34" charset="0"/>
                <a:ea typeface="Inter Display" pitchFamily="34" charset="-122"/>
                <a:cs typeface="Inter Display" pitchFamily="34" charset="-120"/>
              </a:rPr>
              <a:t>+4 %</a:t>
            </a:r>
            <a:endParaRPr lang="en-US" sz="3400" dirty="0"/>
          </a:p>
        </p:txBody>
      </p:sp>
      <p:sp>
        <p:nvSpPr>
          <p:cNvPr id="19" name="Text 17"/>
          <p:cNvSpPr/>
          <p:nvPr/>
        </p:nvSpPr>
        <p:spPr>
          <a:xfrm>
            <a:off x="8951976" y="3886200"/>
            <a:ext cx="2185416" cy="219456"/>
          </a:xfrm>
          <a:prstGeom prst="rect">
            <a:avLst/>
          </a:prstGeom>
          <a:noFill/>
          <a:ln/>
        </p:spPr>
        <p:txBody>
          <a:bodyPr wrap="square" lIns="0" tIns="0" rIns="0" bIns="0" rtlCol="0" anchor="ctr">
            <a:normAutofit/>
          </a:bodyPr>
          <a:lstStyle/>
          <a:p>
            <a:pPr algn="l" indent="0" marL="0">
              <a:buNone/>
            </a:pPr>
            <a:r>
              <a:rPr lang="en-US" sz="1200" b="1" dirty="0">
                <a:solidFill>
                  <a:srgbClr val="607069"/>
                </a:solidFill>
                <a:latin typeface="Inter" pitchFamily="34" charset="0"/>
                <a:ea typeface="Inter" pitchFamily="34" charset="-122"/>
                <a:cs typeface="Inter" pitchFamily="34" charset="-120"/>
              </a:rPr>
              <a:t>CA MAGASINS</a:t>
            </a:r>
            <a:endParaRPr lang="en-US" sz="1200" dirty="0"/>
          </a:p>
        </p:txBody>
      </p:sp>
      <p:sp>
        <p:nvSpPr>
          <p:cNvPr id="20" name="Shape 18"/>
          <p:cNvSpPr/>
          <p:nvPr/>
        </p:nvSpPr>
        <p:spPr>
          <a:xfrm>
            <a:off x="8759952" y="3136392"/>
            <a:ext cx="0" cy="1170432"/>
          </a:xfrm>
          <a:prstGeom prst="line">
            <a:avLst/>
          </a:prstGeom>
          <a:noFill/>
          <a:ln w="11430">
            <a:solidFill>
              <a:srgbClr val="D9DED4"/>
            </a:solidFill>
            <a:prstDash val="solid"/>
            <a:headEnd type="none"/>
            <a:tailEnd type="none"/>
          </a:ln>
        </p:spPr>
      </p:sp>
      <p:sp>
        <p:nvSpPr>
          <p:cNvPr id="21" name="Shape 19"/>
          <p:cNvSpPr/>
          <p:nvPr/>
        </p:nvSpPr>
        <p:spPr>
          <a:xfrm>
            <a:off x="640080" y="5330952"/>
            <a:ext cx="10936224" cy="640080"/>
          </a:xfrm>
          <a:prstGeom prst="roundRect">
            <a:avLst>
              <a:gd name="adj" fmla="val 22857"/>
            </a:avLst>
          </a:prstGeom>
          <a:solidFill>
            <a:srgbClr val="EFF1EA"/>
          </a:solidFill>
          <a:ln w="12700">
            <a:solidFill>
              <a:srgbClr val="EFF1EA">
                <a:alpha val="0"/>
              </a:srgbClr>
            </a:solidFill>
            <a:prstDash val="solid"/>
          </a:ln>
        </p:spPr>
      </p:sp>
      <p:sp>
        <p:nvSpPr>
          <p:cNvPr id="22" name="Text 20"/>
          <p:cNvSpPr/>
          <p:nvPr/>
        </p:nvSpPr>
        <p:spPr>
          <a:xfrm>
            <a:off x="886968" y="5532120"/>
            <a:ext cx="10378440" cy="256032"/>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Ce sont des prévisions commerciales, pas des résultats que le PoC prétend démontrer.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02  /  PÉRIMÈTRE DU POC</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périmètre volontairement réduit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04</a:t>
            </a:r>
            <a:endParaRPr lang="en-US" sz="900" dirty="0"/>
          </a:p>
        </p:txBody>
      </p:sp>
      <p:sp>
        <p:nvSpPr>
          <p:cNvPr id="8" name="Shape 6"/>
          <p:cNvSpPr/>
          <p:nvPr/>
        </p:nvSpPr>
        <p:spPr>
          <a:xfrm>
            <a:off x="621792" y="1874520"/>
            <a:ext cx="3749040" cy="3621024"/>
          </a:xfrm>
          <a:prstGeom prst="roundRect">
            <a:avLst>
              <a:gd name="adj" fmla="val 4545"/>
            </a:avLst>
          </a:prstGeom>
          <a:solidFill>
            <a:srgbClr val="17221F"/>
          </a:solidFill>
          <a:ln w="12700">
            <a:solidFill>
              <a:srgbClr val="17221F">
                <a:alpha val="0"/>
              </a:srgbClr>
            </a:solidFill>
            <a:prstDash val="solid"/>
          </a:ln>
        </p:spPr>
      </p:sp>
      <p:sp>
        <p:nvSpPr>
          <p:cNvPr id="9" name="Text 7"/>
          <p:cNvSpPr/>
          <p:nvPr/>
        </p:nvSpPr>
        <p:spPr>
          <a:xfrm>
            <a:off x="941832" y="2221992"/>
            <a:ext cx="3017520" cy="914400"/>
          </a:xfrm>
          <a:prstGeom prst="rect">
            <a:avLst/>
          </a:prstGeom>
          <a:noFill/>
          <a:ln/>
        </p:spPr>
        <p:txBody>
          <a:bodyPr wrap="square" lIns="0" tIns="0" rIns="0" bIns="0" rtlCol="0" anchor="ctr">
            <a:normAutofit/>
          </a:bodyPr>
          <a:lstStyle/>
          <a:p>
            <a:pPr algn="l" indent="0" marL="0">
              <a:buNone/>
            </a:pPr>
            <a:r>
              <a:rPr lang="en-US" sz="4800" b="1" dirty="0">
                <a:solidFill>
                  <a:srgbClr val="D4F086"/>
                </a:solidFill>
                <a:latin typeface="Inter Display" pitchFamily="34" charset="0"/>
                <a:ea typeface="Inter Display" pitchFamily="34" charset="-122"/>
                <a:cs typeface="Inter Display" pitchFamily="34" charset="-120"/>
              </a:rPr>
              <a:t>120</a:t>
            </a:r>
            <a:endParaRPr lang="en-US" sz="4800" dirty="0"/>
          </a:p>
        </p:txBody>
      </p:sp>
      <p:sp>
        <p:nvSpPr>
          <p:cNvPr id="10" name="Text 8"/>
          <p:cNvSpPr/>
          <p:nvPr/>
        </p:nvSpPr>
        <p:spPr>
          <a:xfrm>
            <a:off x="950976" y="3182112"/>
            <a:ext cx="3099816" cy="365760"/>
          </a:xfrm>
          <a:prstGeom prst="rect">
            <a:avLst/>
          </a:prstGeom>
          <a:noFill/>
          <a:ln/>
        </p:spPr>
        <p:txBody>
          <a:bodyPr wrap="square" lIns="0" tIns="0" rIns="0" bIns="0" rtlCol="0" anchor="ctr">
            <a:normAutofit/>
          </a:bodyPr>
          <a:lstStyle/>
          <a:p>
            <a:pPr algn="l" indent="0" marL="0">
              <a:buNone/>
            </a:pPr>
            <a:r>
              <a:rPr lang="en-US" sz="1600" b="1" spc="100" kern="0" dirty="0">
                <a:solidFill>
                  <a:srgbClr val="FFFFFF"/>
                </a:solidFill>
                <a:latin typeface="Inter" pitchFamily="34" charset="0"/>
                <a:ea typeface="Inter" pitchFamily="34" charset="-122"/>
                <a:cs typeface="Inter" pitchFamily="34" charset="-120"/>
              </a:rPr>
              <a:t>PANTALONS &amp; JEANS</a:t>
            </a:r>
            <a:endParaRPr lang="en-US" sz="1600" dirty="0"/>
          </a:p>
        </p:txBody>
      </p:sp>
      <p:sp>
        <p:nvSpPr>
          <p:cNvPr id="11" name="Shape 9"/>
          <p:cNvSpPr/>
          <p:nvPr/>
        </p:nvSpPr>
        <p:spPr>
          <a:xfrm>
            <a:off x="950976" y="3712464"/>
            <a:ext cx="3090672" cy="0"/>
          </a:xfrm>
          <a:prstGeom prst="line">
            <a:avLst/>
          </a:prstGeom>
          <a:noFill/>
          <a:ln w="12700">
            <a:solidFill>
              <a:srgbClr val="526459"/>
            </a:solidFill>
            <a:prstDash val="solid"/>
            <a:headEnd type="none"/>
            <a:tailEnd type="none"/>
          </a:ln>
        </p:spPr>
      </p:sp>
      <p:sp>
        <p:nvSpPr>
          <p:cNvPr id="12" name="Text 10"/>
          <p:cNvSpPr/>
          <p:nvPr/>
        </p:nvSpPr>
        <p:spPr>
          <a:xfrm>
            <a:off x="960120" y="3950208"/>
            <a:ext cx="3072384" cy="868680"/>
          </a:xfrm>
          <a:prstGeom prst="rect">
            <a:avLst/>
          </a:prstGeom>
          <a:noFill/>
          <a:ln/>
        </p:spPr>
        <p:txBody>
          <a:bodyPr wrap="square" lIns="0" tIns="0" rIns="0" bIns="0" rtlCol="0" anchor="ctr">
            <a:normAutofit/>
          </a:bodyPr>
          <a:lstStyle/>
          <a:p>
            <a:pPr algn="l" indent="0" marL="0">
              <a:buNone/>
            </a:pPr>
            <a:r>
              <a:rPr lang="en-US" sz="1900" b="1" dirty="0">
                <a:solidFill>
                  <a:srgbClr val="E5EDE5"/>
                </a:solidFill>
                <a:latin typeface="Inter" pitchFamily="34" charset="0"/>
                <a:ea typeface="Inter" pitchFamily="34" charset="-122"/>
                <a:cs typeface="Inter" pitchFamily="34" charset="-120"/>
              </a:rPr>
              <a:t>27 % du CA global</a:t>
            </a:r>
            <a:endParaRPr lang="en-US" sz="1900" dirty="0"/>
          </a:p>
          <a:p>
            <a:pPr algn="l" indent="0" marL="0">
              <a:buNone/>
            </a:pPr>
            <a:r>
              <a:rPr lang="en-US" sz="1900" b="1" dirty="0">
                <a:solidFill>
                  <a:srgbClr val="E5EDE5"/>
                </a:solidFill>
                <a:latin typeface="Inter" pitchFamily="34" charset="0"/>
                <a:ea typeface="Inter" pitchFamily="34" charset="-122"/>
                <a:cs typeface="Inter" pitchFamily="34" charset="-120"/>
              </a:rPr>
              <a:t>≈ 2,8 M€ / an</a:t>
            </a:r>
            <a:endParaRPr lang="en-US" sz="1900" dirty="0"/>
          </a:p>
        </p:txBody>
      </p:sp>
      <p:sp>
        <p:nvSpPr>
          <p:cNvPr id="13" name="Text 11"/>
          <p:cNvSpPr/>
          <p:nvPr/>
        </p:nvSpPr>
        <p:spPr>
          <a:xfrm>
            <a:off x="4700016" y="2020824"/>
            <a:ext cx="3063240" cy="393192"/>
          </a:xfrm>
          <a:prstGeom prst="rect">
            <a:avLst/>
          </a:prstGeom>
          <a:noFill/>
          <a:ln/>
        </p:spPr>
        <p:txBody>
          <a:bodyPr wrap="square" lIns="0" tIns="0" rIns="0" bIns="0" rtlCol="0" anchor="ctr">
            <a:normAutofit/>
          </a:bodyPr>
          <a:lstStyle/>
          <a:p>
            <a:pPr algn="l" indent="0" marL="0">
              <a:buNone/>
            </a:pPr>
            <a:r>
              <a:rPr lang="en-US" sz="1300" b="1" spc="150" kern="0" dirty="0">
                <a:solidFill>
                  <a:srgbClr val="17221F"/>
                </a:solidFill>
                <a:latin typeface="Inter" pitchFamily="34" charset="0"/>
                <a:ea typeface="Inter" pitchFamily="34" charset="-122"/>
                <a:cs typeface="Inter" pitchFamily="34" charset="-120"/>
              </a:rPr>
              <a:t>INCLUS</a:t>
            </a:r>
            <a:endParaRPr lang="en-US" sz="1300" dirty="0"/>
          </a:p>
        </p:txBody>
      </p:sp>
      <p:sp>
        <p:nvSpPr>
          <p:cNvPr id="14" name="Shape 12"/>
          <p:cNvSpPr/>
          <p:nvPr/>
        </p:nvSpPr>
        <p:spPr>
          <a:xfrm>
            <a:off x="4727448" y="2642616"/>
            <a:ext cx="173736" cy="173736"/>
          </a:xfrm>
          <a:prstGeom prst="ellipse">
            <a:avLst/>
          </a:prstGeom>
          <a:solidFill>
            <a:srgbClr val="82AE99"/>
          </a:solidFill>
          <a:ln w="12700">
            <a:solidFill>
              <a:srgbClr val="82AE99">
                <a:alpha val="0"/>
              </a:srgbClr>
            </a:solidFill>
            <a:prstDash val="solid"/>
          </a:ln>
        </p:spPr>
      </p:sp>
      <p:sp>
        <p:nvSpPr>
          <p:cNvPr id="15" name="Text 13"/>
          <p:cNvSpPr/>
          <p:nvPr/>
        </p:nvSpPr>
        <p:spPr>
          <a:xfrm>
            <a:off x="4752137" y="2647188"/>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16" name="Text 14"/>
          <p:cNvSpPr/>
          <p:nvPr/>
        </p:nvSpPr>
        <p:spPr>
          <a:xfrm>
            <a:off x="5038344" y="2596896"/>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Photo d’un pantalon / jean en entrée</a:t>
            </a:r>
            <a:endParaRPr lang="en-US" sz="1400" dirty="0"/>
          </a:p>
        </p:txBody>
      </p:sp>
      <p:sp>
        <p:nvSpPr>
          <p:cNvPr id="17" name="Shape 15"/>
          <p:cNvSpPr/>
          <p:nvPr/>
        </p:nvSpPr>
        <p:spPr>
          <a:xfrm>
            <a:off x="4727448" y="3264408"/>
            <a:ext cx="173736" cy="173736"/>
          </a:xfrm>
          <a:prstGeom prst="ellipse">
            <a:avLst/>
          </a:prstGeom>
          <a:solidFill>
            <a:srgbClr val="82AE99"/>
          </a:solidFill>
          <a:ln w="12700">
            <a:solidFill>
              <a:srgbClr val="82AE99">
                <a:alpha val="0"/>
              </a:srgbClr>
            </a:solidFill>
            <a:prstDash val="solid"/>
          </a:ln>
        </p:spPr>
      </p:sp>
      <p:sp>
        <p:nvSpPr>
          <p:cNvPr id="18" name="Text 16"/>
          <p:cNvSpPr/>
          <p:nvPr/>
        </p:nvSpPr>
        <p:spPr>
          <a:xfrm>
            <a:off x="4752137" y="3268980"/>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19" name="Text 17"/>
          <p:cNvSpPr/>
          <p:nvPr/>
        </p:nvSpPr>
        <p:spPr>
          <a:xfrm>
            <a:off x="5038344" y="3218688"/>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Recherche de similarité sur le catalogue</a:t>
            </a:r>
            <a:endParaRPr lang="en-US" sz="1400" dirty="0"/>
          </a:p>
        </p:txBody>
      </p:sp>
      <p:sp>
        <p:nvSpPr>
          <p:cNvPr id="20" name="Shape 18"/>
          <p:cNvSpPr/>
          <p:nvPr/>
        </p:nvSpPr>
        <p:spPr>
          <a:xfrm>
            <a:off x="4727448" y="3886200"/>
            <a:ext cx="173736" cy="173736"/>
          </a:xfrm>
          <a:prstGeom prst="ellipse">
            <a:avLst/>
          </a:prstGeom>
          <a:solidFill>
            <a:srgbClr val="82AE99"/>
          </a:solidFill>
          <a:ln w="12700">
            <a:solidFill>
              <a:srgbClr val="82AE99">
                <a:alpha val="0"/>
              </a:srgbClr>
            </a:solidFill>
            <a:prstDash val="solid"/>
          </a:ln>
        </p:spPr>
      </p:sp>
      <p:sp>
        <p:nvSpPr>
          <p:cNvPr id="21" name="Text 19"/>
          <p:cNvSpPr/>
          <p:nvPr/>
        </p:nvSpPr>
        <p:spPr>
          <a:xfrm>
            <a:off x="4752137" y="3890772"/>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22" name="Text 20"/>
          <p:cNvSpPr/>
          <p:nvPr/>
        </p:nvSpPr>
        <p:spPr>
          <a:xfrm>
            <a:off x="5038344" y="3840480"/>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Top 5 de références distinctes</a:t>
            </a:r>
            <a:endParaRPr lang="en-US" sz="1400" dirty="0"/>
          </a:p>
        </p:txBody>
      </p:sp>
      <p:sp>
        <p:nvSpPr>
          <p:cNvPr id="23" name="Shape 21"/>
          <p:cNvSpPr/>
          <p:nvPr/>
        </p:nvSpPr>
        <p:spPr>
          <a:xfrm>
            <a:off x="4727448" y="4507992"/>
            <a:ext cx="173736" cy="173736"/>
          </a:xfrm>
          <a:prstGeom prst="ellipse">
            <a:avLst/>
          </a:prstGeom>
          <a:solidFill>
            <a:srgbClr val="82AE99"/>
          </a:solidFill>
          <a:ln w="12700">
            <a:solidFill>
              <a:srgbClr val="82AE99">
                <a:alpha val="0"/>
              </a:srgbClr>
            </a:solidFill>
            <a:prstDash val="solid"/>
          </a:ln>
        </p:spPr>
      </p:sp>
      <p:sp>
        <p:nvSpPr>
          <p:cNvPr id="24" name="Text 22"/>
          <p:cNvSpPr/>
          <p:nvPr/>
        </p:nvSpPr>
        <p:spPr>
          <a:xfrm>
            <a:off x="4752137" y="4512564"/>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25" name="Text 23"/>
          <p:cNvSpPr/>
          <p:nvPr/>
        </p:nvSpPr>
        <p:spPr>
          <a:xfrm>
            <a:off x="5038344" y="4462272"/>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Jugement de pertinence par les métiers</a:t>
            </a:r>
            <a:endParaRPr lang="en-US" sz="1400" dirty="0"/>
          </a:p>
        </p:txBody>
      </p:sp>
      <p:sp>
        <p:nvSpPr>
          <p:cNvPr id="26" name="Text 24"/>
          <p:cNvSpPr/>
          <p:nvPr/>
        </p:nvSpPr>
        <p:spPr>
          <a:xfrm>
            <a:off x="4709160" y="5248656"/>
            <a:ext cx="2889504" cy="274320"/>
          </a:xfrm>
          <a:prstGeom prst="rect">
            <a:avLst/>
          </a:prstGeom>
          <a:noFill/>
          <a:ln/>
        </p:spPr>
        <p:txBody>
          <a:bodyPr wrap="square" lIns="0" tIns="0" rIns="0" bIns="0" rtlCol="0" anchor="ctr">
            <a:normAutofit/>
          </a:bodyPr>
          <a:lstStyle/>
          <a:p>
            <a:pPr algn="l" indent="0" marL="0">
              <a:buNone/>
            </a:pPr>
            <a:r>
              <a:rPr lang="en-US" sz="1100" b="1" spc="130" kern="0" dirty="0">
                <a:solidFill>
                  <a:srgbClr val="B75D4B"/>
                </a:solidFill>
                <a:latin typeface="Inter" pitchFamily="34" charset="0"/>
                <a:ea typeface="Inter" pitchFamily="34" charset="-122"/>
                <a:cs typeface="Inter" pitchFamily="34" charset="-120"/>
              </a:rPr>
              <a:t>NON INCLUS</a:t>
            </a:r>
            <a:endParaRPr lang="en-US" sz="1100" dirty="0"/>
          </a:p>
        </p:txBody>
      </p:sp>
      <p:sp>
        <p:nvSpPr>
          <p:cNvPr id="27" name="Text 25"/>
          <p:cNvSpPr/>
          <p:nvPr/>
        </p:nvSpPr>
        <p:spPr>
          <a:xfrm>
            <a:off x="4709160" y="5550408"/>
            <a:ext cx="6473952" cy="347472"/>
          </a:xfrm>
          <a:prstGeom prst="rect">
            <a:avLst/>
          </a:prstGeom>
          <a:noFill/>
          <a:ln/>
        </p:spPr>
        <p:txBody>
          <a:bodyPr wrap="square" lIns="0" tIns="0" rIns="0" bIns="0" rtlCol="0" anchor="ctr">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Application mobile, compte client, essayage virtuel, personnalisation avancée.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03  /  EXPÉRIENCE TESTÉE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Une démonstration simple, observable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05</a:t>
            </a:r>
            <a:endParaRPr lang="en-US" sz="900" dirty="0"/>
          </a:p>
        </p:txBody>
      </p:sp>
      <p:sp>
        <p:nvSpPr>
          <p:cNvPr id="8" name="Text 6"/>
          <p:cNvSpPr/>
          <p:nvPr/>
        </p:nvSpPr>
        <p:spPr>
          <a:xfrm>
            <a:off x="621792" y="1801368"/>
            <a:ext cx="10698480" cy="457200"/>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Le PoC doit démontrer la chaîne image → suggestions, sans interface mobile.</a:t>
            </a:r>
            <a:endParaRPr lang="en-US" sz="1800" dirty="0"/>
          </a:p>
        </p:txBody>
      </p:sp>
      <p:sp>
        <p:nvSpPr>
          <p:cNvPr id="9" name="Shape 7"/>
          <p:cNvSpPr/>
          <p:nvPr/>
        </p:nvSpPr>
        <p:spPr>
          <a:xfrm>
            <a:off x="630936" y="2670048"/>
            <a:ext cx="2596896" cy="2542032"/>
          </a:xfrm>
          <a:prstGeom prst="roundRect">
            <a:avLst>
              <a:gd name="adj" fmla="val 5396"/>
            </a:avLst>
          </a:prstGeom>
          <a:solidFill>
            <a:srgbClr val="17221F"/>
          </a:solidFill>
          <a:ln w="12700">
            <a:solidFill>
              <a:srgbClr val="17221F">
                <a:alpha val="0"/>
              </a:srgbClr>
            </a:solidFill>
            <a:prstDash val="solid"/>
          </a:ln>
        </p:spPr>
      </p:sp>
      <p:sp>
        <p:nvSpPr>
          <p:cNvPr id="10" name="Shape 8"/>
          <p:cNvSpPr/>
          <p:nvPr/>
        </p:nvSpPr>
        <p:spPr>
          <a:xfrm>
            <a:off x="868680" y="2926080"/>
            <a:ext cx="521208" cy="521208"/>
          </a:xfrm>
          <a:prstGeom prst="ellipse">
            <a:avLst/>
          </a:prstGeom>
          <a:solidFill>
            <a:srgbClr val="D4F086"/>
          </a:solidFill>
          <a:ln w="12700">
            <a:solidFill>
              <a:srgbClr val="D4F086">
                <a:alpha val="0"/>
              </a:srgbClr>
            </a:solidFill>
            <a:prstDash val="solid"/>
          </a:ln>
        </p:spPr>
      </p:sp>
      <p:sp>
        <p:nvSpPr>
          <p:cNvPr id="11" name="Text 9"/>
          <p:cNvSpPr/>
          <p:nvPr/>
        </p:nvSpPr>
        <p:spPr>
          <a:xfrm>
            <a:off x="886968"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01</a:t>
            </a:r>
            <a:endParaRPr lang="en-US" sz="1200" dirty="0"/>
          </a:p>
        </p:txBody>
      </p:sp>
      <p:sp>
        <p:nvSpPr>
          <p:cNvPr id="12" name="Text 10"/>
          <p:cNvSpPr/>
          <p:nvPr/>
        </p:nvSpPr>
        <p:spPr>
          <a:xfrm>
            <a:off x="877824"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Inter" pitchFamily="34" charset="0"/>
                <a:ea typeface="Inter" pitchFamily="34" charset="-122"/>
                <a:cs typeface="Inter" pitchFamily="34" charset="-120"/>
              </a:rPr>
              <a:t>PHOTO TEST</a:t>
            </a:r>
            <a:endParaRPr lang="en-US" sz="1300" dirty="0"/>
          </a:p>
        </p:txBody>
      </p:sp>
      <p:sp>
        <p:nvSpPr>
          <p:cNvPr id="13" name="Text 11"/>
          <p:cNvSpPr/>
          <p:nvPr/>
        </p:nvSpPr>
        <p:spPr>
          <a:xfrm>
            <a:off x="877824"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E7EEE7"/>
                </a:solidFill>
                <a:latin typeface="Inter" pitchFamily="34" charset="0"/>
                <a:ea typeface="Inter" pitchFamily="34" charset="-122"/>
                <a:cs typeface="Inter" pitchFamily="34" charset="-120"/>
              </a:rPr>
              <a:t>Photo indépendante du catalogue montrant un jean ou un pantalon.</a:t>
            </a:r>
            <a:endParaRPr lang="en-US" sz="1220" dirty="0"/>
          </a:p>
        </p:txBody>
      </p:sp>
      <p:sp>
        <p:nvSpPr>
          <p:cNvPr id="14" name="Text 12"/>
          <p:cNvSpPr/>
          <p:nvPr/>
        </p:nvSpPr>
        <p:spPr>
          <a:xfrm>
            <a:off x="3227832"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15" name="Shape 13"/>
          <p:cNvSpPr/>
          <p:nvPr/>
        </p:nvSpPr>
        <p:spPr>
          <a:xfrm>
            <a:off x="3383280"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16" name="Shape 14"/>
          <p:cNvSpPr/>
          <p:nvPr/>
        </p:nvSpPr>
        <p:spPr>
          <a:xfrm>
            <a:off x="3621024" y="2926080"/>
            <a:ext cx="521208" cy="521208"/>
          </a:xfrm>
          <a:prstGeom prst="ellipse">
            <a:avLst/>
          </a:prstGeom>
          <a:solidFill>
            <a:srgbClr val="EFF1EA"/>
          </a:solidFill>
          <a:ln w="12700">
            <a:solidFill>
              <a:srgbClr val="EFF1EA">
                <a:alpha val="0"/>
              </a:srgbClr>
            </a:solidFill>
            <a:prstDash val="solid"/>
          </a:ln>
        </p:spPr>
      </p:sp>
      <p:sp>
        <p:nvSpPr>
          <p:cNvPr id="17" name="Text 15"/>
          <p:cNvSpPr/>
          <p:nvPr/>
        </p:nvSpPr>
        <p:spPr>
          <a:xfrm>
            <a:off x="3639312"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02</a:t>
            </a:r>
            <a:endParaRPr lang="en-US" sz="1200" dirty="0"/>
          </a:p>
        </p:txBody>
      </p:sp>
      <p:sp>
        <p:nvSpPr>
          <p:cNvPr id="18" name="Text 16"/>
          <p:cNvSpPr/>
          <p:nvPr/>
        </p:nvSpPr>
        <p:spPr>
          <a:xfrm>
            <a:off x="3630168"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REPRÉSENTATION</a:t>
            </a:r>
            <a:endParaRPr lang="en-US" sz="1300" dirty="0"/>
          </a:p>
        </p:txBody>
      </p:sp>
      <p:sp>
        <p:nvSpPr>
          <p:cNvPr id="19" name="Text 17"/>
          <p:cNvSpPr/>
          <p:nvPr/>
        </p:nvSpPr>
        <p:spPr>
          <a:xfrm>
            <a:off x="3630168"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Le modèle décrit le contenu visuel sous forme de vecteur.</a:t>
            </a:r>
            <a:endParaRPr lang="en-US" sz="1220" dirty="0"/>
          </a:p>
        </p:txBody>
      </p:sp>
      <p:sp>
        <p:nvSpPr>
          <p:cNvPr id="20" name="Text 18"/>
          <p:cNvSpPr/>
          <p:nvPr/>
        </p:nvSpPr>
        <p:spPr>
          <a:xfrm>
            <a:off x="5980176"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21" name="Shape 19"/>
          <p:cNvSpPr/>
          <p:nvPr/>
        </p:nvSpPr>
        <p:spPr>
          <a:xfrm>
            <a:off x="6135624"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22" name="Shape 20"/>
          <p:cNvSpPr/>
          <p:nvPr/>
        </p:nvSpPr>
        <p:spPr>
          <a:xfrm>
            <a:off x="6373368" y="2926080"/>
            <a:ext cx="521208" cy="521208"/>
          </a:xfrm>
          <a:prstGeom prst="ellipse">
            <a:avLst/>
          </a:prstGeom>
          <a:solidFill>
            <a:srgbClr val="EFF1EA"/>
          </a:solidFill>
          <a:ln w="12700">
            <a:solidFill>
              <a:srgbClr val="EFF1EA">
                <a:alpha val="0"/>
              </a:srgbClr>
            </a:solidFill>
            <a:prstDash val="solid"/>
          </a:ln>
        </p:spPr>
      </p:sp>
      <p:sp>
        <p:nvSpPr>
          <p:cNvPr id="23" name="Text 21"/>
          <p:cNvSpPr/>
          <p:nvPr/>
        </p:nvSpPr>
        <p:spPr>
          <a:xfrm>
            <a:off x="6391656"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03</a:t>
            </a:r>
            <a:endParaRPr lang="en-US" sz="1200" dirty="0"/>
          </a:p>
        </p:txBody>
      </p:sp>
      <p:sp>
        <p:nvSpPr>
          <p:cNvPr id="24" name="Text 22"/>
          <p:cNvSpPr/>
          <p:nvPr/>
        </p:nvSpPr>
        <p:spPr>
          <a:xfrm>
            <a:off x="6382512"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CLASSEMENT</a:t>
            </a:r>
            <a:endParaRPr lang="en-US" sz="1300" dirty="0"/>
          </a:p>
        </p:txBody>
      </p:sp>
      <p:sp>
        <p:nvSpPr>
          <p:cNvPr id="25" name="Text 23"/>
          <p:cNvSpPr/>
          <p:nvPr/>
        </p:nvSpPr>
        <p:spPr>
          <a:xfrm>
            <a:off x="6382512"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Recherche des références les plus proches parmi 120 produits.</a:t>
            </a:r>
            <a:endParaRPr lang="en-US" sz="1220" dirty="0"/>
          </a:p>
        </p:txBody>
      </p:sp>
      <p:sp>
        <p:nvSpPr>
          <p:cNvPr id="26" name="Text 24"/>
          <p:cNvSpPr/>
          <p:nvPr/>
        </p:nvSpPr>
        <p:spPr>
          <a:xfrm>
            <a:off x="8732520"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27" name="Shape 25"/>
          <p:cNvSpPr/>
          <p:nvPr/>
        </p:nvSpPr>
        <p:spPr>
          <a:xfrm>
            <a:off x="8897112"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28" name="Shape 26"/>
          <p:cNvSpPr/>
          <p:nvPr/>
        </p:nvSpPr>
        <p:spPr>
          <a:xfrm>
            <a:off x="9134856" y="2926080"/>
            <a:ext cx="521208" cy="521208"/>
          </a:xfrm>
          <a:prstGeom prst="ellipse">
            <a:avLst/>
          </a:prstGeom>
          <a:solidFill>
            <a:srgbClr val="EFF1EA"/>
          </a:solidFill>
          <a:ln w="12700">
            <a:solidFill>
              <a:srgbClr val="EFF1EA">
                <a:alpha val="0"/>
              </a:srgbClr>
            </a:solidFill>
            <a:prstDash val="solid"/>
          </a:ln>
        </p:spPr>
      </p:sp>
      <p:sp>
        <p:nvSpPr>
          <p:cNvPr id="29" name="Text 27"/>
          <p:cNvSpPr/>
          <p:nvPr/>
        </p:nvSpPr>
        <p:spPr>
          <a:xfrm>
            <a:off x="9153144"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04</a:t>
            </a:r>
            <a:endParaRPr lang="en-US" sz="1200" dirty="0"/>
          </a:p>
        </p:txBody>
      </p:sp>
      <p:sp>
        <p:nvSpPr>
          <p:cNvPr id="30" name="Text 28"/>
          <p:cNvSpPr/>
          <p:nvPr/>
        </p:nvSpPr>
        <p:spPr>
          <a:xfrm>
            <a:off x="9144000"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TOP 5</a:t>
            </a:r>
            <a:endParaRPr lang="en-US" sz="1300" dirty="0"/>
          </a:p>
        </p:txBody>
      </p:sp>
      <p:sp>
        <p:nvSpPr>
          <p:cNvPr id="31" name="Text 29"/>
          <p:cNvSpPr/>
          <p:nvPr/>
        </p:nvSpPr>
        <p:spPr>
          <a:xfrm>
            <a:off x="9144000"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Cinq produits distincts soumis à une évaluation métier.</a:t>
            </a:r>
            <a:endParaRPr lang="en-US" sz="1220" dirty="0"/>
          </a:p>
        </p:txBody>
      </p:sp>
      <p:sp>
        <p:nvSpPr>
          <p:cNvPr id="32" name="Shape 30"/>
          <p:cNvSpPr/>
          <p:nvPr/>
        </p:nvSpPr>
        <p:spPr>
          <a:xfrm>
            <a:off x="640080" y="5541264"/>
            <a:ext cx="10927080" cy="466344"/>
          </a:xfrm>
          <a:prstGeom prst="roundRect">
            <a:avLst>
              <a:gd name="adj" fmla="val 19608"/>
            </a:avLst>
          </a:prstGeom>
          <a:solidFill>
            <a:srgbClr val="EFF1EA"/>
          </a:solidFill>
          <a:ln w="12700">
            <a:solidFill>
              <a:srgbClr val="EFF1EA">
                <a:alpha val="0"/>
              </a:srgbClr>
            </a:solidFill>
            <a:prstDash val="solid"/>
          </a:ln>
        </p:spPr>
      </p:sp>
      <p:sp>
        <p:nvSpPr>
          <p:cNvPr id="33" name="Text 31"/>
          <p:cNvSpPr/>
          <p:nvPr/>
        </p:nvSpPr>
        <p:spPr>
          <a:xfrm>
            <a:off x="813816" y="5687568"/>
            <a:ext cx="10442448" cy="155448"/>
          </a:xfrm>
          <a:prstGeom prst="rect">
            <a:avLst/>
          </a:prstGeom>
          <a:noFill/>
          <a:ln/>
        </p:spPr>
        <p:txBody>
          <a:bodyPr wrap="square" lIns="0" tIns="0" rIns="0" bIns="0" rtlCol="0" anchor="ctr">
            <a:normAutofit/>
          </a:bodyPr>
          <a:lstStyle/>
          <a:p>
            <a:pPr algn="l" indent="0" marL="0">
              <a:buNone/>
            </a:pPr>
            <a:r>
              <a:rPr lang="en-US" sz="1150" i="1" dirty="0">
                <a:solidFill>
                  <a:srgbClr val="17221F"/>
                </a:solidFill>
                <a:latin typeface="Inter" pitchFamily="34" charset="0"/>
                <a:ea typeface="Inter" pitchFamily="34" charset="-122"/>
                <a:cs typeface="Inter" pitchFamily="34" charset="-120"/>
              </a:rPr>
              <a:t>Évaluation identique pour les méthodes comparées ; ne pas réutiliser les photos du catalogue comme photos de test.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04  /  DONNÉES ET QUALITÉ</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Les données sont le premier prérequis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06</a:t>
            </a:r>
            <a:endParaRPr lang="en-US" sz="900" dirty="0"/>
          </a:p>
        </p:txBody>
      </p:sp>
      <p:sp>
        <p:nvSpPr>
          <p:cNvPr id="8" name="Shape 6"/>
          <p:cNvSpPr/>
          <p:nvPr/>
        </p:nvSpPr>
        <p:spPr>
          <a:xfrm>
            <a:off x="621792"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9" name="Shape 7"/>
          <p:cNvSpPr/>
          <p:nvPr/>
        </p:nvSpPr>
        <p:spPr>
          <a:xfrm>
            <a:off x="804672"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0" name="Text 8"/>
          <p:cNvSpPr/>
          <p:nvPr/>
        </p:nvSpPr>
        <p:spPr>
          <a:xfrm>
            <a:off x="1024128"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CATALOGUE</a:t>
            </a:r>
            <a:endParaRPr lang="en-US" sz="1600" dirty="0"/>
          </a:p>
        </p:txBody>
      </p:sp>
      <p:sp>
        <p:nvSpPr>
          <p:cNvPr id="11" name="Text 9"/>
          <p:cNvSpPr/>
          <p:nvPr/>
        </p:nvSpPr>
        <p:spPr>
          <a:xfrm>
            <a:off x="896112"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120 références pilotes ; images sous plusieurs angles, descriptions et tags de style. Sources aujourd’hui dispersées.</a:t>
            </a:r>
            <a:endParaRPr lang="en-US" sz="1400" dirty="0"/>
          </a:p>
        </p:txBody>
      </p:sp>
      <p:sp>
        <p:nvSpPr>
          <p:cNvPr id="12" name="Shape 10"/>
          <p:cNvSpPr/>
          <p:nvPr/>
        </p:nvSpPr>
        <p:spPr>
          <a:xfrm>
            <a:off x="4379976"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13" name="Shape 11"/>
          <p:cNvSpPr/>
          <p:nvPr/>
        </p:nvSpPr>
        <p:spPr>
          <a:xfrm>
            <a:off x="4562856"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4" name="Text 12"/>
          <p:cNvSpPr/>
          <p:nvPr/>
        </p:nvSpPr>
        <p:spPr>
          <a:xfrm>
            <a:off x="4782312"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PHOTOS DE TEST</a:t>
            </a:r>
            <a:endParaRPr lang="en-US" sz="1600" dirty="0"/>
          </a:p>
        </p:txBody>
      </p:sp>
      <p:sp>
        <p:nvSpPr>
          <p:cNvPr id="15" name="Text 13"/>
          <p:cNvSpPr/>
          <p:nvPr/>
        </p:nvSpPr>
        <p:spPr>
          <a:xfrm>
            <a:off x="4654296"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40 photos indépendantes, représentatives des usages réels ; leur disponibilité et leurs droits restent à confirmer.</a:t>
            </a:r>
            <a:endParaRPr lang="en-US" sz="1400" dirty="0"/>
          </a:p>
        </p:txBody>
      </p:sp>
      <p:sp>
        <p:nvSpPr>
          <p:cNvPr id="16" name="Shape 14"/>
          <p:cNvSpPr/>
          <p:nvPr/>
        </p:nvSpPr>
        <p:spPr>
          <a:xfrm>
            <a:off x="8138160"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17" name="Shape 15"/>
          <p:cNvSpPr/>
          <p:nvPr/>
        </p:nvSpPr>
        <p:spPr>
          <a:xfrm>
            <a:off x="8321040"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8" name="Text 16"/>
          <p:cNvSpPr/>
          <p:nvPr/>
        </p:nvSpPr>
        <p:spPr>
          <a:xfrm>
            <a:off x="8540496"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JUGEMENTS MÉTIER</a:t>
            </a:r>
            <a:endParaRPr lang="en-US" sz="1600" dirty="0"/>
          </a:p>
        </p:txBody>
      </p:sp>
      <p:sp>
        <p:nvSpPr>
          <p:cNvPr id="19" name="Text 17"/>
          <p:cNvSpPr/>
          <p:nvPr/>
        </p:nvSpPr>
        <p:spPr>
          <a:xfrm>
            <a:off x="8412480"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Deux évaluateurs et une grille : coupe, couleur, matière apparente et style. Arbitrage des désaccords.</a:t>
            </a:r>
            <a:endParaRPr lang="en-US" sz="1400" dirty="0"/>
          </a:p>
        </p:txBody>
      </p:sp>
      <p:sp>
        <p:nvSpPr>
          <p:cNvPr id="20" name="Shape 18"/>
          <p:cNvSpPr/>
          <p:nvPr/>
        </p:nvSpPr>
        <p:spPr>
          <a:xfrm>
            <a:off x="621792" y="5001768"/>
            <a:ext cx="10954512" cy="923544"/>
          </a:xfrm>
          <a:prstGeom prst="roundRect">
            <a:avLst>
              <a:gd name="adj" fmla="val 13861"/>
            </a:avLst>
          </a:prstGeom>
          <a:solidFill>
            <a:srgbClr val="17221F"/>
          </a:solidFill>
          <a:ln w="12700">
            <a:solidFill>
              <a:srgbClr val="17221F">
                <a:alpha val="0"/>
              </a:srgbClr>
            </a:solidFill>
            <a:prstDash val="solid"/>
          </a:ln>
        </p:spPr>
      </p:sp>
      <p:sp>
        <p:nvSpPr>
          <p:cNvPr id="21" name="Text 19"/>
          <p:cNvSpPr/>
          <p:nvPr/>
        </p:nvSpPr>
        <p:spPr>
          <a:xfrm>
            <a:off x="886968" y="5184648"/>
            <a:ext cx="1837944" cy="457200"/>
          </a:xfrm>
          <a:prstGeom prst="rect">
            <a:avLst/>
          </a:prstGeom>
          <a:noFill/>
          <a:ln/>
        </p:spPr>
        <p:txBody>
          <a:bodyPr wrap="square" lIns="0" tIns="0" rIns="0" bIns="0" rtlCol="0" anchor="ctr">
            <a:normAutofit/>
          </a:bodyPr>
          <a:lstStyle/>
          <a:p>
            <a:pPr algn="l" indent="0" marL="0">
              <a:buNone/>
            </a:pPr>
            <a:r>
              <a:rPr lang="en-US" sz="2800" b="1" dirty="0">
                <a:solidFill>
                  <a:srgbClr val="D4F086"/>
                </a:solidFill>
                <a:latin typeface="Inter Display" pitchFamily="34" charset="0"/>
                <a:ea typeface="Inter Display" pitchFamily="34" charset="-122"/>
                <a:cs typeface="Inter Display" pitchFamily="34" charset="-120"/>
              </a:rPr>
              <a:t>3 J-H</a:t>
            </a:r>
            <a:endParaRPr lang="en-US" sz="2800" dirty="0"/>
          </a:p>
        </p:txBody>
      </p:sp>
      <p:sp>
        <p:nvSpPr>
          <p:cNvPr id="22" name="Text 20"/>
          <p:cNvSpPr/>
          <p:nvPr/>
        </p:nvSpPr>
        <p:spPr>
          <a:xfrm>
            <a:off x="2770632" y="5157216"/>
            <a:ext cx="8366760" cy="548640"/>
          </a:xfrm>
          <a:prstGeom prst="rect">
            <a:avLst/>
          </a:prstGeom>
          <a:noFill/>
          <a:ln/>
        </p:spPr>
        <p:txBody>
          <a:bodyPr wrap="square" lIns="0" tIns="0" rIns="0" bIns="0" rtlCol="0" anchor="ctr">
            <a:normAutofit/>
          </a:bodyPr>
          <a:lstStyle/>
          <a:p>
            <a:pPr algn="l" indent="0" marL="0">
              <a:buNone/>
            </a:pPr>
            <a:r>
              <a:rPr lang="en-US" sz="1250" dirty="0">
                <a:solidFill>
                  <a:srgbClr val="FFFFFF"/>
                </a:solidFill>
                <a:latin typeface="Inter" pitchFamily="34" charset="0"/>
                <a:ea typeface="Inter" pitchFamily="34" charset="-122"/>
                <a:cs typeface="Inter" pitchFamily="34" charset="-120"/>
              </a:rPr>
              <a:t>repère historique d’extraction des données sur l’ensemble du catalogue ;</a:t>
            </a:r>
            <a:endParaRPr lang="en-US" sz="1250" dirty="0"/>
          </a:p>
          <a:p>
            <a:pPr algn="l" indent="0" marL="0">
              <a:buNone/>
            </a:pPr>
            <a:r>
              <a:rPr lang="en-US" sz="1250" dirty="0">
                <a:solidFill>
                  <a:srgbClr val="FFFFFF"/>
                </a:solidFill>
                <a:latin typeface="Inter" pitchFamily="34" charset="0"/>
                <a:ea typeface="Inter" pitchFamily="34" charset="-122"/>
                <a:cs typeface="Inter" pitchFamily="34" charset="-120"/>
              </a:rPr>
              <a:t>pas une garantie de délai pour le PoC.</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05  /  FAISABILITÉ TECHNIQUE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Approche IA prioritaire : embeddings visuels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07</a:t>
            </a:r>
            <a:endParaRPr lang="en-US" sz="900" dirty="0"/>
          </a:p>
        </p:txBody>
      </p:sp>
      <p:sp>
        <p:nvSpPr>
          <p:cNvPr id="8" name="Text 6"/>
          <p:cNvSpPr/>
          <p:nvPr/>
        </p:nvSpPr>
        <p:spPr>
          <a:xfrm>
            <a:off x="621792" y="1783080"/>
            <a:ext cx="10881360" cy="429768"/>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Un modèle préentraîné compare visuellement la photo utilisateur et les images du catalogue.</a:t>
            </a:r>
            <a:endParaRPr lang="en-US" sz="1800" dirty="0"/>
          </a:p>
        </p:txBody>
      </p:sp>
      <p:sp>
        <p:nvSpPr>
          <p:cNvPr id="9" name="Shape 7"/>
          <p:cNvSpPr/>
          <p:nvPr/>
        </p:nvSpPr>
        <p:spPr>
          <a:xfrm>
            <a:off x="685800" y="2578608"/>
            <a:ext cx="2395728" cy="822960"/>
          </a:xfrm>
          <a:prstGeom prst="roundRect">
            <a:avLst>
              <a:gd name="adj" fmla="val 14444"/>
            </a:avLst>
          </a:prstGeom>
          <a:solidFill>
            <a:srgbClr val="17221F"/>
          </a:solidFill>
          <a:ln w="12700">
            <a:solidFill>
              <a:srgbClr val="17221F">
                <a:alpha val="0"/>
              </a:srgbClr>
            </a:solidFill>
            <a:prstDash val="solid"/>
          </a:ln>
        </p:spPr>
      </p:sp>
      <p:sp>
        <p:nvSpPr>
          <p:cNvPr id="10" name="Text 8"/>
          <p:cNvSpPr/>
          <p:nvPr/>
        </p:nvSpPr>
        <p:spPr>
          <a:xfrm>
            <a:off x="896112" y="2852928"/>
            <a:ext cx="2011680" cy="29260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Inter" pitchFamily="34" charset="0"/>
                <a:ea typeface="Inter" pitchFamily="34" charset="-122"/>
                <a:cs typeface="Inter" pitchFamily="34" charset="-120"/>
              </a:rPr>
              <a:t>IMAGES CATALOGUE</a:t>
            </a:r>
            <a:endParaRPr lang="en-US" sz="1300" dirty="0"/>
          </a:p>
        </p:txBody>
      </p:sp>
      <p:sp>
        <p:nvSpPr>
          <p:cNvPr id="11" name="Shape 9"/>
          <p:cNvSpPr/>
          <p:nvPr/>
        </p:nvSpPr>
        <p:spPr>
          <a:xfrm>
            <a:off x="685800" y="3749040"/>
            <a:ext cx="2395728" cy="822960"/>
          </a:xfrm>
          <a:prstGeom prst="roundRect">
            <a:avLst>
              <a:gd name="adj" fmla="val 14444"/>
            </a:avLst>
          </a:prstGeom>
          <a:solidFill>
            <a:srgbClr val="EFF1EA"/>
          </a:solidFill>
          <a:ln w="12700">
            <a:solidFill>
              <a:srgbClr val="EFF1EA">
                <a:alpha val="0"/>
              </a:srgbClr>
            </a:solidFill>
            <a:prstDash val="solid"/>
          </a:ln>
        </p:spPr>
      </p:sp>
      <p:sp>
        <p:nvSpPr>
          <p:cNvPr id="12" name="Text 10"/>
          <p:cNvSpPr/>
          <p:nvPr/>
        </p:nvSpPr>
        <p:spPr>
          <a:xfrm>
            <a:off x="877824" y="4032504"/>
            <a:ext cx="2002536" cy="292608"/>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PHOTO DE TEST</a:t>
            </a:r>
            <a:endParaRPr lang="en-US" sz="1300" dirty="0"/>
          </a:p>
        </p:txBody>
      </p:sp>
      <p:sp>
        <p:nvSpPr>
          <p:cNvPr id="13" name="Text 11"/>
          <p:cNvSpPr/>
          <p:nvPr/>
        </p:nvSpPr>
        <p:spPr>
          <a:xfrm>
            <a:off x="3127248" y="3246120"/>
            <a:ext cx="338328" cy="329184"/>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14" name="Shape 12"/>
          <p:cNvSpPr/>
          <p:nvPr/>
        </p:nvSpPr>
        <p:spPr>
          <a:xfrm>
            <a:off x="3566160" y="2935224"/>
            <a:ext cx="2130552" cy="1225296"/>
          </a:xfrm>
          <a:prstGeom prst="roundRect">
            <a:avLst>
              <a:gd name="adj" fmla="val 11940"/>
            </a:avLst>
          </a:prstGeom>
          <a:solidFill>
            <a:srgbClr val="FFFFFF"/>
          </a:solidFill>
          <a:ln w="12700">
            <a:solidFill>
              <a:srgbClr val="FFFFFF">
                <a:alpha val="0"/>
              </a:srgbClr>
            </a:solidFill>
            <a:prstDash val="solid"/>
          </a:ln>
        </p:spPr>
      </p:sp>
      <p:sp>
        <p:nvSpPr>
          <p:cNvPr id="15" name="Text 13"/>
          <p:cNvSpPr/>
          <p:nvPr/>
        </p:nvSpPr>
        <p:spPr>
          <a:xfrm>
            <a:off x="3758184" y="3209544"/>
            <a:ext cx="1755648" cy="621792"/>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MODÈLE VISUEL</a:t>
            </a:r>
            <a:endParaRPr lang="en-US" sz="1300" dirty="0"/>
          </a:p>
          <a:p>
            <a:pPr algn="ctr" indent="0" marL="0">
              <a:buNone/>
            </a:pPr>
            <a:r>
              <a:rPr lang="en-US" sz="1300" b="1" dirty="0">
                <a:solidFill>
                  <a:srgbClr val="17221F"/>
                </a:solidFill>
                <a:latin typeface="Inter" pitchFamily="34" charset="0"/>
                <a:ea typeface="Inter" pitchFamily="34" charset="-122"/>
                <a:cs typeface="Inter" pitchFamily="34" charset="-120"/>
              </a:rPr>
              <a:t>PRÉENTRAÎNÉ</a:t>
            </a:r>
            <a:endParaRPr lang="en-US" sz="1300" dirty="0"/>
          </a:p>
        </p:txBody>
      </p:sp>
      <p:sp>
        <p:nvSpPr>
          <p:cNvPr id="16" name="Text 14"/>
          <p:cNvSpPr/>
          <p:nvPr/>
        </p:nvSpPr>
        <p:spPr>
          <a:xfrm>
            <a:off x="5742432" y="3300984"/>
            <a:ext cx="310896" cy="365760"/>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17" name="Shape 15"/>
          <p:cNvSpPr/>
          <p:nvPr/>
        </p:nvSpPr>
        <p:spPr>
          <a:xfrm>
            <a:off x="6190488" y="2944368"/>
            <a:ext cx="2167128" cy="1225296"/>
          </a:xfrm>
          <a:prstGeom prst="roundRect">
            <a:avLst>
              <a:gd name="adj" fmla="val 11940"/>
            </a:avLst>
          </a:prstGeom>
          <a:solidFill>
            <a:srgbClr val="FFFFFF"/>
          </a:solidFill>
          <a:ln w="12700">
            <a:solidFill>
              <a:srgbClr val="FFFFFF">
                <a:alpha val="0"/>
              </a:srgbClr>
            </a:solidFill>
            <a:prstDash val="solid"/>
          </a:ln>
        </p:spPr>
      </p:sp>
      <p:sp>
        <p:nvSpPr>
          <p:cNvPr id="18" name="Text 16"/>
          <p:cNvSpPr/>
          <p:nvPr/>
        </p:nvSpPr>
        <p:spPr>
          <a:xfrm>
            <a:off x="6391656" y="3246120"/>
            <a:ext cx="1792224" cy="566928"/>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EMBEDDINGS</a:t>
            </a:r>
            <a:endParaRPr lang="en-US" sz="1300" dirty="0"/>
          </a:p>
          <a:p>
            <a:pPr algn="ctr" indent="0" marL="0">
              <a:buNone/>
            </a:pPr>
            <a:r>
              <a:rPr lang="en-US" sz="1300" b="1" dirty="0">
                <a:solidFill>
                  <a:srgbClr val="17221F"/>
                </a:solidFill>
                <a:latin typeface="Inter" pitchFamily="34" charset="0"/>
                <a:ea typeface="Inter" pitchFamily="34" charset="-122"/>
                <a:cs typeface="Inter" pitchFamily="34" charset="-120"/>
              </a:rPr>
              <a:t>&amp; COSINUS</a:t>
            </a:r>
            <a:endParaRPr lang="en-US" sz="1300" dirty="0"/>
          </a:p>
        </p:txBody>
      </p:sp>
      <p:sp>
        <p:nvSpPr>
          <p:cNvPr id="19" name="Text 17"/>
          <p:cNvSpPr/>
          <p:nvPr/>
        </p:nvSpPr>
        <p:spPr>
          <a:xfrm>
            <a:off x="8394192" y="3300984"/>
            <a:ext cx="320040" cy="365760"/>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20" name="Shape 18"/>
          <p:cNvSpPr/>
          <p:nvPr/>
        </p:nvSpPr>
        <p:spPr>
          <a:xfrm>
            <a:off x="8842248" y="2935224"/>
            <a:ext cx="2715768" cy="1225296"/>
          </a:xfrm>
          <a:prstGeom prst="roundRect">
            <a:avLst>
              <a:gd name="adj" fmla="val 11940"/>
            </a:avLst>
          </a:prstGeom>
          <a:solidFill>
            <a:srgbClr val="D4F086"/>
          </a:solidFill>
          <a:ln w="12700">
            <a:solidFill>
              <a:srgbClr val="D4F086">
                <a:alpha val="0"/>
              </a:srgbClr>
            </a:solidFill>
            <a:prstDash val="solid"/>
          </a:ln>
        </p:spPr>
      </p:sp>
      <p:sp>
        <p:nvSpPr>
          <p:cNvPr id="21" name="Text 19"/>
          <p:cNvSpPr/>
          <p:nvPr/>
        </p:nvSpPr>
        <p:spPr>
          <a:xfrm>
            <a:off x="9043416" y="3246120"/>
            <a:ext cx="2331720" cy="566928"/>
          </a:xfrm>
          <a:prstGeom prst="rect">
            <a:avLst/>
          </a:prstGeom>
          <a:noFill/>
          <a:ln/>
        </p:spPr>
        <p:txBody>
          <a:bodyPr wrap="square" lIns="0" tIns="0" rIns="0" bIns="0" rtlCol="0" anchor="ctr">
            <a:normAutofit/>
          </a:bodyPr>
          <a:lstStyle/>
          <a:p>
            <a:pPr algn="ctr" indent="0" marL="0">
              <a:buNone/>
            </a:pPr>
            <a:r>
              <a:rPr lang="en-US" sz="1400" b="1" dirty="0">
                <a:solidFill>
                  <a:srgbClr val="17221F"/>
                </a:solidFill>
                <a:latin typeface="Inter" pitchFamily="34" charset="0"/>
                <a:ea typeface="Inter" pitchFamily="34" charset="-122"/>
                <a:cs typeface="Inter" pitchFamily="34" charset="-120"/>
              </a:rPr>
              <a:t>TOP 5</a:t>
            </a:r>
            <a:endParaRPr lang="en-US" sz="1400" dirty="0"/>
          </a:p>
          <a:p>
            <a:pPr algn="ctr" indent="0" marL="0">
              <a:buNone/>
            </a:pPr>
            <a:r>
              <a:rPr lang="en-US" sz="1400" b="1" dirty="0">
                <a:solidFill>
                  <a:srgbClr val="17221F"/>
                </a:solidFill>
                <a:latin typeface="Inter" pitchFamily="34" charset="0"/>
                <a:ea typeface="Inter" pitchFamily="34" charset="-122"/>
                <a:cs typeface="Inter" pitchFamily="34" charset="-120"/>
              </a:rPr>
              <a:t>DE PRODUITS</a:t>
            </a:r>
            <a:endParaRPr lang="en-US" sz="1400" dirty="0"/>
          </a:p>
        </p:txBody>
      </p:sp>
      <p:sp>
        <p:nvSpPr>
          <p:cNvPr id="22" name="Shape 20"/>
          <p:cNvSpPr/>
          <p:nvPr/>
        </p:nvSpPr>
        <p:spPr>
          <a:xfrm>
            <a:off x="640080" y="5001768"/>
            <a:ext cx="10908792" cy="877824"/>
          </a:xfrm>
          <a:prstGeom prst="roundRect">
            <a:avLst>
              <a:gd name="adj" fmla="val 13542"/>
            </a:avLst>
          </a:prstGeom>
          <a:solidFill>
            <a:srgbClr val="EFF1EA"/>
          </a:solidFill>
          <a:ln w="12700">
            <a:solidFill>
              <a:srgbClr val="EFF1EA">
                <a:alpha val="0"/>
              </a:srgbClr>
            </a:solidFill>
            <a:prstDash val="solid"/>
          </a:ln>
        </p:spPr>
      </p:sp>
      <p:sp>
        <p:nvSpPr>
          <p:cNvPr id="23" name="Text 21"/>
          <p:cNvSpPr/>
          <p:nvPr/>
        </p:nvSpPr>
        <p:spPr>
          <a:xfrm>
            <a:off x="886968" y="5166360"/>
            <a:ext cx="3822192" cy="219456"/>
          </a:xfrm>
          <a:prstGeom prst="rect">
            <a:avLst/>
          </a:prstGeom>
          <a:noFill/>
          <a:ln/>
        </p:spPr>
        <p:txBody>
          <a:bodyPr wrap="square" lIns="0" tIns="0" rIns="0" bIns="0" rtlCol="0" anchor="ctr">
            <a:normAutofit/>
          </a:bodyPr>
          <a:lstStyle/>
          <a:p>
            <a:pPr algn="l" indent="0" marL="0">
              <a:buNone/>
            </a:pPr>
            <a:r>
              <a:rPr lang="en-US" sz="1100" b="1" spc="100" kern="0" dirty="0">
                <a:solidFill>
                  <a:srgbClr val="17221F"/>
                </a:solidFill>
                <a:latin typeface="Inter" pitchFamily="34" charset="0"/>
                <a:ea typeface="Inter" pitchFamily="34" charset="-122"/>
                <a:cs typeface="Inter" pitchFamily="34" charset="-120"/>
              </a:rPr>
              <a:t>ENVIRONNEMENT MICROSOFT AZURE</a:t>
            </a:r>
            <a:endParaRPr lang="en-US" sz="1100" dirty="0"/>
          </a:p>
        </p:txBody>
      </p:sp>
      <p:sp>
        <p:nvSpPr>
          <p:cNvPr id="24" name="Text 22"/>
          <p:cNvSpPr/>
          <p:nvPr/>
        </p:nvSpPr>
        <p:spPr>
          <a:xfrm>
            <a:off x="886968" y="5477256"/>
            <a:ext cx="10241280" cy="192024"/>
          </a:xfrm>
          <a:prstGeom prst="rect">
            <a:avLst/>
          </a:prstGeom>
          <a:noFill/>
          <a:ln/>
        </p:spPr>
        <p:txBody>
          <a:bodyPr wrap="square" lIns="0" tIns="0" rIns="0" bIns="0" rtlCol="0" anchor="ctr">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Blob Storage : photos  ·  Azure Machine Learning : expérimentation  ·  Azure AI Search : optionnel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06  /  CHOIX TECHNOLOGIQUES</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Deux voies techniques — un test prioritaire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08</a:t>
            </a:r>
            <a:endParaRPr lang="en-US" sz="900" dirty="0"/>
          </a:p>
        </p:txBody>
      </p:sp>
      <p:sp>
        <p:nvSpPr>
          <p:cNvPr id="8" name="Shape 6"/>
          <p:cNvSpPr/>
          <p:nvPr/>
        </p:nvSpPr>
        <p:spPr>
          <a:xfrm>
            <a:off x="621792" y="1911096"/>
            <a:ext cx="5303520" cy="3209544"/>
          </a:xfrm>
          <a:prstGeom prst="roundRect">
            <a:avLst>
              <a:gd name="adj" fmla="val 5128"/>
            </a:avLst>
          </a:prstGeom>
          <a:solidFill>
            <a:srgbClr val="17221F"/>
          </a:solidFill>
          <a:ln w="12700">
            <a:solidFill>
              <a:srgbClr val="17221F">
                <a:alpha val="0"/>
              </a:srgbClr>
            </a:solidFill>
            <a:prstDash val="solid"/>
          </a:ln>
        </p:spPr>
      </p:sp>
      <p:sp>
        <p:nvSpPr>
          <p:cNvPr id="9" name="Shape 7"/>
          <p:cNvSpPr/>
          <p:nvPr/>
        </p:nvSpPr>
        <p:spPr>
          <a:xfrm>
            <a:off x="886968" y="2157984"/>
            <a:ext cx="2569464" cy="301752"/>
          </a:xfrm>
          <a:prstGeom prst="roundRect">
            <a:avLst>
              <a:gd name="adj" fmla="val 48485"/>
            </a:avLst>
          </a:prstGeom>
          <a:solidFill>
            <a:srgbClr val="D4F086"/>
          </a:solidFill>
          <a:ln w="12700">
            <a:solidFill>
              <a:srgbClr val="D4F086">
                <a:alpha val="0"/>
              </a:srgbClr>
            </a:solidFill>
            <a:prstDash val="solid"/>
          </a:ln>
        </p:spPr>
      </p:sp>
      <p:sp>
        <p:nvSpPr>
          <p:cNvPr id="10" name="Text 8"/>
          <p:cNvSpPr/>
          <p:nvPr/>
        </p:nvSpPr>
        <p:spPr>
          <a:xfrm>
            <a:off x="987552" y="2176272"/>
            <a:ext cx="2368296" cy="256032"/>
          </a:xfrm>
          <a:prstGeom prst="rect">
            <a:avLst/>
          </a:prstGeom>
          <a:noFill/>
          <a:ln/>
        </p:spPr>
        <p:txBody>
          <a:bodyPr wrap="square" lIns="0" tIns="0" rIns="0" bIns="0" rtlCol="0" anchor="ctr">
            <a:normAutofit/>
          </a:bodyPr>
          <a:lstStyle/>
          <a:p>
            <a:pPr algn="l" indent="0" marL="0">
              <a:buNone/>
            </a:pPr>
            <a:r>
              <a:rPr lang="en-US" sz="1000" b="1" spc="100" kern="0" dirty="0">
                <a:solidFill>
                  <a:srgbClr val="17221F"/>
                </a:solidFill>
                <a:latin typeface="Inter" pitchFamily="34" charset="0"/>
                <a:ea typeface="Inter" pitchFamily="34" charset="-122"/>
                <a:cs typeface="Inter" pitchFamily="34" charset="-120"/>
              </a:rPr>
              <a:t>OPTION A  /  PRIORITAIRE</a:t>
            </a:r>
            <a:endParaRPr lang="en-US" sz="1000" dirty="0"/>
          </a:p>
        </p:txBody>
      </p:sp>
      <p:sp>
        <p:nvSpPr>
          <p:cNvPr id="11" name="Text 9"/>
          <p:cNvSpPr/>
          <p:nvPr/>
        </p:nvSpPr>
        <p:spPr>
          <a:xfrm>
            <a:off x="886968" y="2697480"/>
            <a:ext cx="4718304" cy="429768"/>
          </a:xfrm>
          <a:prstGeom prst="rect">
            <a:avLst/>
          </a:prstGeom>
          <a:noFill/>
          <a:ln/>
        </p:spPr>
        <p:txBody>
          <a:bodyPr wrap="square" lIns="0" tIns="0" rIns="0" bIns="0" rtlCol="0" anchor="ctr">
            <a:normAutofit/>
          </a:bodyPr>
          <a:lstStyle/>
          <a:p>
            <a:pPr algn="l" indent="0" marL="0">
              <a:buNone/>
            </a:pPr>
            <a:r>
              <a:rPr lang="en-US" sz="2100" b="1" dirty="0">
                <a:solidFill>
                  <a:srgbClr val="FFFFFF"/>
                </a:solidFill>
                <a:latin typeface="Inter Display" pitchFamily="34" charset="0"/>
                <a:ea typeface="Inter Display" pitchFamily="34" charset="-122"/>
                <a:cs typeface="Inter Display" pitchFamily="34" charset="-120"/>
              </a:rPr>
              <a:t>Embeddings visuels</a:t>
            </a:r>
            <a:endParaRPr lang="en-US" sz="2100" dirty="0"/>
          </a:p>
        </p:txBody>
      </p:sp>
      <p:sp>
        <p:nvSpPr>
          <p:cNvPr id="12" name="Text 10"/>
          <p:cNvSpPr/>
          <p:nvPr/>
        </p:nvSpPr>
        <p:spPr>
          <a:xfrm>
            <a:off x="886968" y="3209544"/>
            <a:ext cx="4562856" cy="356616"/>
          </a:xfrm>
          <a:prstGeom prst="rect">
            <a:avLst/>
          </a:prstGeom>
          <a:noFill/>
          <a:ln/>
        </p:spPr>
        <p:txBody>
          <a:bodyPr wrap="square" lIns="0" tIns="0" rIns="0" bIns="0" rtlCol="0" anchor="ctr">
            <a:normAutofit/>
          </a:bodyPr>
          <a:lstStyle/>
          <a:p>
            <a:pPr algn="l" indent="0" marL="0">
              <a:buNone/>
            </a:pPr>
            <a:r>
              <a:rPr lang="en-US" sz="1400" dirty="0">
                <a:solidFill>
                  <a:srgbClr val="E5EEE3"/>
                </a:solidFill>
                <a:latin typeface="Inter" pitchFamily="34" charset="0"/>
                <a:ea typeface="Inter" pitchFamily="34" charset="-122"/>
                <a:cs typeface="Inter" pitchFamily="34" charset="-120"/>
              </a:rPr>
              <a:t>CLIP / OpenCLIP + similarité cosinus</a:t>
            </a:r>
            <a:endParaRPr lang="en-US" sz="1400" dirty="0"/>
          </a:p>
        </p:txBody>
      </p:sp>
      <p:sp>
        <p:nvSpPr>
          <p:cNvPr id="13" name="Shape 11"/>
          <p:cNvSpPr/>
          <p:nvPr/>
        </p:nvSpPr>
        <p:spPr>
          <a:xfrm>
            <a:off x="886968" y="3721608"/>
            <a:ext cx="4700016" cy="0"/>
          </a:xfrm>
          <a:prstGeom prst="line">
            <a:avLst/>
          </a:prstGeom>
          <a:noFill/>
          <a:ln w="12700">
            <a:solidFill>
              <a:srgbClr val="52655A"/>
            </a:solidFill>
            <a:prstDash val="solid"/>
            <a:headEnd type="none"/>
            <a:tailEnd type="none"/>
          </a:ln>
        </p:spPr>
      </p:sp>
      <p:sp>
        <p:nvSpPr>
          <p:cNvPr id="14" name="Text 12"/>
          <p:cNvSpPr/>
          <p:nvPr/>
        </p:nvSpPr>
        <p:spPr>
          <a:xfrm>
            <a:off x="886968" y="3904488"/>
            <a:ext cx="4572000" cy="941832"/>
          </a:xfrm>
          <a:prstGeom prst="rect">
            <a:avLst/>
          </a:prstGeom>
          <a:noFill/>
          <a:ln/>
        </p:spPr>
        <p:txBody>
          <a:bodyPr wrap="square" lIns="0" tIns="0" rIns="0" bIns="0" rtlCol="0" anchor="t">
            <a:normAutofit/>
          </a:bodyPr>
          <a:lstStyle/>
          <a:p>
            <a:pPr algn="l" indent="0" marL="0">
              <a:buNone/>
            </a:pPr>
            <a:r>
              <a:rPr lang="en-US" sz="1270" dirty="0">
                <a:solidFill>
                  <a:srgbClr val="FFFFFF"/>
                </a:solidFill>
                <a:latin typeface="Inter" pitchFamily="34" charset="0"/>
                <a:ea typeface="Inter" pitchFamily="34" charset="-122"/>
                <a:cs typeface="Inter" pitchFamily="34" charset="-120"/>
              </a:rPr>
              <a:t>+ Rapide à expérimenter</a:t>
            </a:r>
            <a:endParaRPr lang="en-US" sz="1270" dirty="0"/>
          </a:p>
          <a:p>
            <a:pPr algn="l" indent="0" marL="0">
              <a:buNone/>
            </a:pPr>
            <a:r>
              <a:rPr lang="en-US" sz="1270" dirty="0">
                <a:solidFill>
                  <a:srgbClr val="FFFFFF"/>
                </a:solidFill>
                <a:latin typeface="Inter" pitchFamily="34" charset="0"/>
                <a:ea typeface="Inter" pitchFamily="34" charset="-122"/>
                <a:cs typeface="Inter" pitchFamily="34" charset="-120"/>
              </a:rPr>
              <a:t>+ Sans entraînement initial lourd</a:t>
            </a:r>
            <a:endParaRPr lang="en-US" sz="1270" dirty="0"/>
          </a:p>
          <a:p>
            <a:pPr algn="l" indent="0" marL="0">
              <a:buNone/>
            </a:pPr>
            <a:r>
              <a:rPr lang="en-US" sz="1270" dirty="0">
                <a:solidFill>
                  <a:srgbClr val="FFFFFF"/>
                </a:solidFill>
                <a:latin typeface="Inter" pitchFamily="34" charset="0"/>
                <a:ea typeface="Inter" pitchFamily="34" charset="-122"/>
                <a:cs typeface="Inter" pitchFamily="34" charset="-120"/>
              </a:rPr>
              <a:t>– Style parfois confondu avec couleur ou décor</a:t>
            </a:r>
            <a:endParaRPr lang="en-US" sz="1270" dirty="0"/>
          </a:p>
        </p:txBody>
      </p:sp>
      <p:sp>
        <p:nvSpPr>
          <p:cNvPr id="15" name="Shape 13"/>
          <p:cNvSpPr/>
          <p:nvPr/>
        </p:nvSpPr>
        <p:spPr>
          <a:xfrm>
            <a:off x="6190488" y="1911096"/>
            <a:ext cx="5376672" cy="3209544"/>
          </a:xfrm>
          <a:prstGeom prst="roundRect">
            <a:avLst>
              <a:gd name="adj" fmla="val 5128"/>
            </a:avLst>
          </a:prstGeom>
          <a:solidFill>
            <a:srgbClr val="FFFFFF"/>
          </a:solidFill>
          <a:ln w="12700">
            <a:solidFill>
              <a:srgbClr val="FFFFFF">
                <a:alpha val="0"/>
              </a:srgbClr>
            </a:solidFill>
            <a:prstDash val="solid"/>
          </a:ln>
        </p:spPr>
      </p:sp>
      <p:sp>
        <p:nvSpPr>
          <p:cNvPr id="16" name="Shape 14"/>
          <p:cNvSpPr/>
          <p:nvPr/>
        </p:nvSpPr>
        <p:spPr>
          <a:xfrm>
            <a:off x="6455664" y="2157984"/>
            <a:ext cx="2743200" cy="301752"/>
          </a:xfrm>
          <a:prstGeom prst="roundRect">
            <a:avLst>
              <a:gd name="adj" fmla="val 48485"/>
            </a:avLst>
          </a:prstGeom>
          <a:solidFill>
            <a:srgbClr val="EFF1EA"/>
          </a:solidFill>
          <a:ln w="12700">
            <a:solidFill>
              <a:srgbClr val="EFF1EA">
                <a:alpha val="0"/>
              </a:srgbClr>
            </a:solidFill>
            <a:prstDash val="solid"/>
          </a:ln>
        </p:spPr>
      </p:sp>
      <p:sp>
        <p:nvSpPr>
          <p:cNvPr id="17" name="Text 15"/>
          <p:cNvSpPr/>
          <p:nvPr/>
        </p:nvSpPr>
        <p:spPr>
          <a:xfrm>
            <a:off x="6556248" y="2176272"/>
            <a:ext cx="2542032" cy="256032"/>
          </a:xfrm>
          <a:prstGeom prst="rect">
            <a:avLst/>
          </a:prstGeom>
          <a:noFill/>
          <a:ln/>
        </p:spPr>
        <p:txBody>
          <a:bodyPr wrap="square" lIns="0" tIns="0" rIns="0" bIns="0" rtlCol="0" anchor="ctr">
            <a:normAutofit/>
          </a:bodyPr>
          <a:lstStyle/>
          <a:p>
            <a:pPr algn="l" indent="0" marL="0">
              <a:buNone/>
            </a:pPr>
            <a:r>
              <a:rPr lang="en-US" sz="1000" b="1" spc="100" kern="0" dirty="0">
                <a:solidFill>
                  <a:srgbClr val="17221F"/>
                </a:solidFill>
                <a:latin typeface="Inter" pitchFamily="34" charset="0"/>
                <a:ea typeface="Inter" pitchFamily="34" charset="-122"/>
                <a:cs typeface="Inter" pitchFamily="34" charset="-120"/>
              </a:rPr>
              <a:t>OPTION B  /  ALTERNATIVE</a:t>
            </a:r>
            <a:endParaRPr lang="en-US" sz="1000" dirty="0"/>
          </a:p>
        </p:txBody>
      </p:sp>
      <p:sp>
        <p:nvSpPr>
          <p:cNvPr id="18" name="Text 16"/>
          <p:cNvSpPr/>
          <p:nvPr/>
        </p:nvSpPr>
        <p:spPr>
          <a:xfrm>
            <a:off x="6455664" y="2697480"/>
            <a:ext cx="4809744" cy="429768"/>
          </a:xfrm>
          <a:prstGeom prst="rect">
            <a:avLst/>
          </a:prstGeom>
          <a:noFill/>
          <a:ln/>
        </p:spPr>
        <p:txBody>
          <a:bodyPr wrap="square" lIns="0" tIns="0" rIns="0" bIns="0" rtlCol="0" anchor="ctr">
            <a:normAutofit/>
          </a:bodyPr>
          <a:lstStyle/>
          <a:p>
            <a:pPr algn="l" indent="0" marL="0">
              <a:buNone/>
            </a:pPr>
            <a:r>
              <a:rPr lang="en-US" sz="2100" b="1" dirty="0">
                <a:solidFill>
                  <a:srgbClr val="17221F"/>
                </a:solidFill>
                <a:latin typeface="Inter Display" pitchFamily="34" charset="0"/>
                <a:ea typeface="Inter Display" pitchFamily="34" charset="-122"/>
                <a:cs typeface="Inter Display" pitchFamily="34" charset="-120"/>
              </a:rPr>
              <a:t>Vision-langage</a:t>
            </a:r>
            <a:endParaRPr lang="en-US" sz="2100" dirty="0"/>
          </a:p>
        </p:txBody>
      </p:sp>
      <p:sp>
        <p:nvSpPr>
          <p:cNvPr id="19" name="Text 17"/>
          <p:cNvSpPr/>
          <p:nvPr/>
        </p:nvSpPr>
        <p:spPr>
          <a:xfrm>
            <a:off x="6455664" y="3209544"/>
            <a:ext cx="4736592" cy="356616"/>
          </a:xfrm>
          <a:prstGeom prst="rect">
            <a:avLst/>
          </a:prstGeom>
          <a:noFill/>
          <a:ln/>
        </p:spPr>
        <p:txBody>
          <a:bodyPr wrap="square" lIns="0" tIns="0" rIns="0" bIns="0" rtlCol="0" anchor="ctr">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Modèle multimodal + attributs produit</a:t>
            </a:r>
            <a:endParaRPr lang="en-US" sz="1400" dirty="0"/>
          </a:p>
        </p:txBody>
      </p:sp>
      <p:sp>
        <p:nvSpPr>
          <p:cNvPr id="20" name="Shape 18"/>
          <p:cNvSpPr/>
          <p:nvPr/>
        </p:nvSpPr>
        <p:spPr>
          <a:xfrm>
            <a:off x="6455664" y="3721608"/>
            <a:ext cx="4782312" cy="0"/>
          </a:xfrm>
          <a:prstGeom prst="line">
            <a:avLst/>
          </a:prstGeom>
          <a:noFill/>
          <a:ln w="12700">
            <a:solidFill>
              <a:srgbClr val="D9DED4"/>
            </a:solidFill>
            <a:prstDash val="solid"/>
            <a:headEnd type="none"/>
            <a:tailEnd type="none"/>
          </a:ln>
        </p:spPr>
      </p:sp>
      <p:sp>
        <p:nvSpPr>
          <p:cNvPr id="21" name="Text 19"/>
          <p:cNvSpPr/>
          <p:nvPr/>
        </p:nvSpPr>
        <p:spPr>
          <a:xfrm>
            <a:off x="6455664" y="3904488"/>
            <a:ext cx="4617720" cy="941832"/>
          </a:xfrm>
          <a:prstGeom prst="rect">
            <a:avLst/>
          </a:prstGeom>
          <a:noFill/>
          <a:ln/>
        </p:spPr>
        <p:txBody>
          <a:bodyPr wrap="square" lIns="0" tIns="0" rIns="0" bIns="0" rtlCol="0" anchor="t">
            <a:normAutofit/>
          </a:bodyPr>
          <a:lstStyle/>
          <a:p>
            <a:pPr algn="l" indent="0" marL="0">
              <a:buNone/>
            </a:pPr>
            <a:r>
              <a:rPr lang="en-US" sz="1270" dirty="0">
                <a:solidFill>
                  <a:srgbClr val="17221F"/>
                </a:solidFill>
                <a:latin typeface="Inter" pitchFamily="34" charset="0"/>
                <a:ea typeface="Inter" pitchFamily="34" charset="-122"/>
                <a:cs typeface="Inter" pitchFamily="34" charset="-120"/>
              </a:rPr>
              <a:t>+ Explications par coupe, style, couleur</a:t>
            </a:r>
            <a:endParaRPr lang="en-US" sz="1270" dirty="0"/>
          </a:p>
          <a:p>
            <a:pPr algn="l" indent="0" marL="0">
              <a:buNone/>
            </a:pPr>
            <a:r>
              <a:rPr lang="en-US" sz="1270" dirty="0">
                <a:solidFill>
                  <a:srgbClr val="17221F"/>
                </a:solidFill>
                <a:latin typeface="Inter" pitchFamily="34" charset="0"/>
                <a:ea typeface="Inter" pitchFamily="34" charset="-122"/>
                <a:cs typeface="Inter" pitchFamily="34" charset="-120"/>
              </a:rPr>
              <a:t>– Risque d’attributs inexacts</a:t>
            </a:r>
            <a:endParaRPr lang="en-US" sz="1270" dirty="0"/>
          </a:p>
          <a:p>
            <a:pPr algn="l" indent="0" marL="0">
              <a:buNone/>
            </a:pPr>
            <a:r>
              <a:rPr lang="en-US" sz="1270" dirty="0">
                <a:solidFill>
                  <a:srgbClr val="17221F"/>
                </a:solidFill>
                <a:latin typeface="Inter" pitchFamily="34" charset="0"/>
                <a:ea typeface="Inter" pitchFamily="34" charset="-122"/>
                <a:cs typeface="Inter" pitchFamily="34" charset="-120"/>
              </a:rPr>
              <a:t>– Coût / accès à confirmer</a:t>
            </a:r>
            <a:endParaRPr lang="en-US" sz="1270" dirty="0"/>
          </a:p>
        </p:txBody>
      </p:sp>
      <p:sp>
        <p:nvSpPr>
          <p:cNvPr id="22" name="Shape 20"/>
          <p:cNvSpPr/>
          <p:nvPr/>
        </p:nvSpPr>
        <p:spPr>
          <a:xfrm>
            <a:off x="630936" y="5431536"/>
            <a:ext cx="10936224" cy="576072"/>
          </a:xfrm>
          <a:prstGeom prst="roundRect">
            <a:avLst>
              <a:gd name="adj" fmla="val 22222"/>
            </a:avLst>
          </a:prstGeom>
          <a:solidFill>
            <a:srgbClr val="D4F086"/>
          </a:solidFill>
          <a:ln w="12700">
            <a:solidFill>
              <a:srgbClr val="D4F086">
                <a:alpha val="0"/>
              </a:srgbClr>
            </a:solidFill>
            <a:prstDash val="solid"/>
          </a:ln>
        </p:spPr>
      </p:sp>
      <p:sp>
        <p:nvSpPr>
          <p:cNvPr id="23" name="Text 21"/>
          <p:cNvSpPr/>
          <p:nvPr/>
        </p:nvSpPr>
        <p:spPr>
          <a:xfrm>
            <a:off x="877824" y="5623560"/>
            <a:ext cx="10378440" cy="182880"/>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Comparer également une méthode SANS IA fondée sur les tags : elle sert de point de référence.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07  /  ÉVALUATION &amp; CRITÈRES DE SUCCÈS</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Le succès sera défini avant l’expérience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09</a:t>
            </a:r>
            <a:endParaRPr lang="en-US" sz="900" dirty="0"/>
          </a:p>
        </p:txBody>
      </p:sp>
      <p:sp>
        <p:nvSpPr>
          <p:cNvPr id="8" name="Text 6"/>
          <p:cNvSpPr/>
          <p:nvPr/>
        </p:nvSpPr>
        <p:spPr>
          <a:xfrm>
            <a:off x="621792" y="1773936"/>
            <a:ext cx="10817352" cy="402336"/>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40 photos × 5 propositions = 200 recommandations jugées par les métiers.</a:t>
            </a:r>
            <a:endParaRPr lang="en-US" sz="1800" dirty="0"/>
          </a:p>
        </p:txBody>
      </p:sp>
      <p:sp>
        <p:nvSpPr>
          <p:cNvPr id="9" name="Shape 7"/>
          <p:cNvSpPr/>
          <p:nvPr/>
        </p:nvSpPr>
        <p:spPr>
          <a:xfrm>
            <a:off x="630936" y="2578608"/>
            <a:ext cx="3493008" cy="2377440"/>
          </a:xfrm>
          <a:prstGeom prst="roundRect">
            <a:avLst>
              <a:gd name="adj" fmla="val 6923"/>
            </a:avLst>
          </a:prstGeom>
          <a:solidFill>
            <a:srgbClr val="17221F"/>
          </a:solidFill>
          <a:ln w="12700">
            <a:solidFill>
              <a:srgbClr val="17221F">
                <a:alpha val="0"/>
              </a:srgbClr>
            </a:solidFill>
            <a:prstDash val="solid"/>
          </a:ln>
        </p:spPr>
      </p:sp>
      <p:sp>
        <p:nvSpPr>
          <p:cNvPr id="10" name="Text 8"/>
          <p:cNvSpPr/>
          <p:nvPr/>
        </p:nvSpPr>
        <p:spPr>
          <a:xfrm>
            <a:off x="905256"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D4F086"/>
                </a:solidFill>
                <a:latin typeface="Inter Display" pitchFamily="34" charset="0"/>
                <a:ea typeface="Inter Display" pitchFamily="34" charset="-122"/>
                <a:cs typeface="Inter Display" pitchFamily="34" charset="-120"/>
              </a:rPr>
              <a:t>≥ 60 %</a:t>
            </a:r>
            <a:endParaRPr lang="en-US" sz="2900" dirty="0"/>
          </a:p>
        </p:txBody>
      </p:sp>
      <p:sp>
        <p:nvSpPr>
          <p:cNvPr id="11" name="Text 9"/>
          <p:cNvSpPr/>
          <p:nvPr/>
        </p:nvSpPr>
        <p:spPr>
          <a:xfrm>
            <a:off x="914400"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FFFFFF"/>
                </a:solidFill>
                <a:latin typeface="Inter" pitchFamily="34" charset="0"/>
                <a:ea typeface="Inter" pitchFamily="34" charset="-122"/>
                <a:cs typeface="Inter" pitchFamily="34" charset="-120"/>
              </a:rPr>
              <a:t>PRECISION@5</a:t>
            </a:r>
            <a:endParaRPr lang="en-US" sz="1200" dirty="0"/>
          </a:p>
        </p:txBody>
      </p:sp>
      <p:sp>
        <p:nvSpPr>
          <p:cNvPr id="12" name="Text 10"/>
          <p:cNvSpPr/>
          <p:nvPr/>
        </p:nvSpPr>
        <p:spPr>
          <a:xfrm>
            <a:off x="914400"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E5EEE5"/>
                </a:solidFill>
                <a:latin typeface="Inter" pitchFamily="34" charset="0"/>
                <a:ea typeface="Inter" pitchFamily="34" charset="-122"/>
                <a:cs typeface="Inter" pitchFamily="34" charset="-120"/>
              </a:rPr>
              <a:t>Au moins 120 recommandations pertinentes sur 200.</a:t>
            </a:r>
            <a:endParaRPr lang="en-US" sz="1200" dirty="0"/>
          </a:p>
        </p:txBody>
      </p:sp>
      <p:sp>
        <p:nvSpPr>
          <p:cNvPr id="13" name="Shape 11"/>
          <p:cNvSpPr/>
          <p:nvPr/>
        </p:nvSpPr>
        <p:spPr>
          <a:xfrm>
            <a:off x="4352544" y="2578608"/>
            <a:ext cx="3493008" cy="2377440"/>
          </a:xfrm>
          <a:prstGeom prst="roundRect">
            <a:avLst>
              <a:gd name="adj" fmla="val 6923"/>
            </a:avLst>
          </a:prstGeom>
          <a:solidFill>
            <a:srgbClr val="FFFFFF"/>
          </a:solidFill>
          <a:ln w="12700">
            <a:solidFill>
              <a:srgbClr val="FFFFFF">
                <a:alpha val="0"/>
              </a:srgbClr>
            </a:solidFill>
            <a:prstDash val="solid"/>
          </a:ln>
        </p:spPr>
      </p:sp>
      <p:sp>
        <p:nvSpPr>
          <p:cNvPr id="14" name="Text 12"/>
          <p:cNvSpPr/>
          <p:nvPr/>
        </p:nvSpPr>
        <p:spPr>
          <a:xfrm>
            <a:off x="4626864"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17221F"/>
                </a:solidFill>
                <a:latin typeface="Inter Display" pitchFamily="34" charset="0"/>
                <a:ea typeface="Inter Display" pitchFamily="34" charset="-122"/>
                <a:cs typeface="Inter Display" pitchFamily="34" charset="-120"/>
              </a:rPr>
              <a:t>≥ 80 %</a:t>
            </a:r>
            <a:endParaRPr lang="en-US" sz="2900" dirty="0"/>
          </a:p>
        </p:txBody>
      </p:sp>
      <p:sp>
        <p:nvSpPr>
          <p:cNvPr id="15" name="Text 13"/>
          <p:cNvSpPr/>
          <p:nvPr/>
        </p:nvSpPr>
        <p:spPr>
          <a:xfrm>
            <a:off x="4636008"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17221F"/>
                </a:solidFill>
                <a:latin typeface="Inter" pitchFamily="34" charset="0"/>
                <a:ea typeface="Inter" pitchFamily="34" charset="-122"/>
                <a:cs typeface="Inter" pitchFamily="34" charset="-120"/>
              </a:rPr>
              <a:t>SUCCESS@5</a:t>
            </a:r>
            <a:endParaRPr lang="en-US" sz="1200" dirty="0"/>
          </a:p>
        </p:txBody>
      </p:sp>
      <p:sp>
        <p:nvSpPr>
          <p:cNvPr id="16" name="Text 14"/>
          <p:cNvSpPr/>
          <p:nvPr/>
        </p:nvSpPr>
        <p:spPr>
          <a:xfrm>
            <a:off x="4636008"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Au moins une suggestion pertinente pour 32 photos sur 40.</a:t>
            </a:r>
            <a:endParaRPr lang="en-US" sz="1200" dirty="0"/>
          </a:p>
        </p:txBody>
      </p:sp>
      <p:sp>
        <p:nvSpPr>
          <p:cNvPr id="17" name="Shape 15"/>
          <p:cNvSpPr/>
          <p:nvPr/>
        </p:nvSpPr>
        <p:spPr>
          <a:xfrm>
            <a:off x="8092440" y="2578608"/>
            <a:ext cx="3493008" cy="2377440"/>
          </a:xfrm>
          <a:prstGeom prst="roundRect">
            <a:avLst>
              <a:gd name="adj" fmla="val 6923"/>
            </a:avLst>
          </a:prstGeom>
          <a:solidFill>
            <a:srgbClr val="FFFFFF"/>
          </a:solidFill>
          <a:ln w="12700">
            <a:solidFill>
              <a:srgbClr val="FFFFFF">
                <a:alpha val="0"/>
              </a:srgbClr>
            </a:solidFill>
            <a:prstDash val="solid"/>
          </a:ln>
        </p:spPr>
      </p:sp>
      <p:sp>
        <p:nvSpPr>
          <p:cNvPr id="18" name="Text 16"/>
          <p:cNvSpPr/>
          <p:nvPr/>
        </p:nvSpPr>
        <p:spPr>
          <a:xfrm>
            <a:off x="8366760"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17221F"/>
                </a:solidFill>
                <a:latin typeface="Inter Display" pitchFamily="34" charset="0"/>
                <a:ea typeface="Inter Display" pitchFamily="34" charset="-122"/>
                <a:cs typeface="Inter Display" pitchFamily="34" charset="-120"/>
              </a:rPr>
              <a:t>≥ +10 pts</a:t>
            </a:r>
            <a:endParaRPr lang="en-US" sz="2900" dirty="0"/>
          </a:p>
        </p:txBody>
      </p:sp>
      <p:sp>
        <p:nvSpPr>
          <p:cNvPr id="19" name="Text 17"/>
          <p:cNvSpPr/>
          <p:nvPr/>
        </p:nvSpPr>
        <p:spPr>
          <a:xfrm>
            <a:off x="8375904"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17221F"/>
                </a:solidFill>
                <a:latin typeface="Inter" pitchFamily="34" charset="0"/>
                <a:ea typeface="Inter" pitchFamily="34" charset="-122"/>
                <a:cs typeface="Inter" pitchFamily="34" charset="-120"/>
              </a:rPr>
              <a:t>GAIN P@5 VS TAGS</a:t>
            </a:r>
            <a:endParaRPr lang="en-US" sz="1200" dirty="0"/>
          </a:p>
        </p:txBody>
      </p:sp>
      <p:sp>
        <p:nvSpPr>
          <p:cNvPr id="20" name="Text 18"/>
          <p:cNvSpPr/>
          <p:nvPr/>
        </p:nvSpPr>
        <p:spPr>
          <a:xfrm>
            <a:off x="8375904"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Supériorité face au système de référence sans IA.</a:t>
            </a:r>
            <a:endParaRPr lang="en-US" sz="1200" dirty="0"/>
          </a:p>
        </p:txBody>
      </p:sp>
      <p:sp>
        <p:nvSpPr>
          <p:cNvPr id="21" name="Shape 19"/>
          <p:cNvSpPr/>
          <p:nvPr/>
        </p:nvSpPr>
        <p:spPr>
          <a:xfrm>
            <a:off x="649224" y="5312664"/>
            <a:ext cx="10917936" cy="685800"/>
          </a:xfrm>
          <a:prstGeom prst="roundRect">
            <a:avLst>
              <a:gd name="adj" fmla="val 18667"/>
            </a:avLst>
          </a:prstGeom>
          <a:solidFill>
            <a:srgbClr val="EFF1EA"/>
          </a:solidFill>
          <a:ln w="12700">
            <a:solidFill>
              <a:srgbClr val="EFF1EA">
                <a:alpha val="0"/>
              </a:srgbClr>
            </a:solidFill>
            <a:prstDash val="solid"/>
          </a:ln>
        </p:spPr>
      </p:sp>
      <p:sp>
        <p:nvSpPr>
          <p:cNvPr id="22" name="Text 20"/>
          <p:cNvSpPr/>
          <p:nvPr/>
        </p:nvSpPr>
        <p:spPr>
          <a:xfrm>
            <a:off x="868680" y="5532120"/>
            <a:ext cx="10378440" cy="237744"/>
          </a:xfrm>
          <a:prstGeom prst="rect">
            <a:avLst/>
          </a:prstGeom>
          <a:noFill/>
          <a:ln/>
        </p:spPr>
        <p:txBody>
          <a:bodyPr wrap="square" lIns="0" tIns="0" rIns="0" bIns="0" rtlCol="0" anchor="ctr">
            <a:normAutofit/>
          </a:bodyPr>
          <a:lstStyle/>
          <a:p>
            <a:pPr algn="l" indent="0" marL="0">
              <a:buNone/>
            </a:pPr>
            <a:r>
              <a:rPr lang="en-US" sz="1250" b="1" dirty="0">
                <a:solidFill>
                  <a:srgbClr val="17221F"/>
                </a:solidFill>
                <a:latin typeface="Inter" pitchFamily="34" charset="0"/>
                <a:ea typeface="Inter" pitchFamily="34" charset="-122"/>
                <a:cs typeface="Inter" pitchFamily="34" charset="-120"/>
              </a:rPr>
              <a:t>Test comparatif sur les mêmes photos ; double jugement métier ; seuils proposés à valider avec Alicia.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08  /  PLANIFICATION DU POC</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calendrier court, avec trois jalons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10</a:t>
            </a:r>
            <a:endParaRPr lang="en-US" sz="900" dirty="0"/>
          </a:p>
        </p:txBody>
      </p:sp>
      <p:sp>
        <p:nvSpPr>
          <p:cNvPr id="8" name="Text 6"/>
          <p:cNvSpPr/>
          <p:nvPr/>
        </p:nvSpPr>
        <p:spPr>
          <a:xfrm>
            <a:off x="612648" y="1810512"/>
            <a:ext cx="10881360" cy="347472"/>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15 jours ouvrés après autorisation COMEX  ·  trois semaines de réalisation.</a:t>
            </a:r>
            <a:endParaRPr lang="en-US" sz="1800" dirty="0"/>
          </a:p>
        </p:txBody>
      </p:sp>
      <p:sp>
        <p:nvSpPr>
          <p:cNvPr id="9" name="Shape 7"/>
          <p:cNvSpPr/>
          <p:nvPr/>
        </p:nvSpPr>
        <p:spPr>
          <a:xfrm>
            <a:off x="630936"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10" name="Shape 8"/>
          <p:cNvSpPr/>
          <p:nvPr/>
        </p:nvSpPr>
        <p:spPr>
          <a:xfrm>
            <a:off x="630936" y="2487168"/>
            <a:ext cx="3429000" cy="128016"/>
          </a:xfrm>
          <a:prstGeom prst="roundRect">
            <a:avLst>
              <a:gd name="adj" fmla="val 28571"/>
            </a:avLst>
          </a:prstGeom>
          <a:solidFill>
            <a:srgbClr val="82AE99"/>
          </a:solidFill>
          <a:ln w="12700">
            <a:solidFill>
              <a:srgbClr val="82AE99">
                <a:alpha val="0"/>
              </a:srgbClr>
            </a:solidFill>
            <a:prstDash val="solid"/>
          </a:ln>
        </p:spPr>
      </p:sp>
      <p:sp>
        <p:nvSpPr>
          <p:cNvPr id="11" name="Text 9"/>
          <p:cNvSpPr/>
          <p:nvPr/>
        </p:nvSpPr>
        <p:spPr>
          <a:xfrm>
            <a:off x="886968"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S1</a:t>
            </a:r>
            <a:endParaRPr lang="en-US" sz="2200" dirty="0"/>
          </a:p>
        </p:txBody>
      </p:sp>
      <p:sp>
        <p:nvSpPr>
          <p:cNvPr id="12" name="Text 10"/>
          <p:cNvSpPr/>
          <p:nvPr/>
        </p:nvSpPr>
        <p:spPr>
          <a:xfrm>
            <a:off x="1773936"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J1 → J5</a:t>
            </a:r>
            <a:endParaRPr lang="en-US" sz="1300" dirty="0"/>
          </a:p>
        </p:txBody>
      </p:sp>
      <p:sp>
        <p:nvSpPr>
          <p:cNvPr id="13" name="Text 11"/>
          <p:cNvSpPr/>
          <p:nvPr/>
        </p:nvSpPr>
        <p:spPr>
          <a:xfrm>
            <a:off x="886968"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DONNÉES &amp; PROTOCOLE</a:t>
            </a:r>
            <a:endParaRPr lang="en-US" sz="1220" dirty="0"/>
          </a:p>
        </p:txBody>
      </p:sp>
      <p:sp>
        <p:nvSpPr>
          <p:cNvPr id="14" name="Text 12"/>
          <p:cNvSpPr/>
          <p:nvPr/>
        </p:nvSpPr>
        <p:spPr>
          <a:xfrm>
            <a:off x="905256"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Extraction et contrôle qualité</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Photos test et droits</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Accès Azure, grille métier</a:t>
            </a:r>
            <a:endParaRPr lang="en-US" sz="1250" dirty="0"/>
          </a:p>
        </p:txBody>
      </p:sp>
      <p:sp>
        <p:nvSpPr>
          <p:cNvPr id="15" name="Shape 13"/>
          <p:cNvSpPr/>
          <p:nvPr/>
        </p:nvSpPr>
        <p:spPr>
          <a:xfrm>
            <a:off x="850392"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16" name="Text 14"/>
          <p:cNvSpPr/>
          <p:nvPr/>
        </p:nvSpPr>
        <p:spPr>
          <a:xfrm>
            <a:off x="987552"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J1  •  données validées</a:t>
            </a:r>
            <a:endParaRPr lang="en-US" sz="1000" dirty="0"/>
          </a:p>
        </p:txBody>
      </p:sp>
      <p:sp>
        <p:nvSpPr>
          <p:cNvPr id="17" name="Shape 15"/>
          <p:cNvSpPr/>
          <p:nvPr/>
        </p:nvSpPr>
        <p:spPr>
          <a:xfrm>
            <a:off x="4379976"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18" name="Shape 16"/>
          <p:cNvSpPr/>
          <p:nvPr/>
        </p:nvSpPr>
        <p:spPr>
          <a:xfrm>
            <a:off x="4379976" y="2487168"/>
            <a:ext cx="3429000" cy="128016"/>
          </a:xfrm>
          <a:prstGeom prst="roundRect">
            <a:avLst>
              <a:gd name="adj" fmla="val 28571"/>
            </a:avLst>
          </a:prstGeom>
          <a:solidFill>
            <a:srgbClr val="D5BD8D"/>
          </a:solidFill>
          <a:ln w="12700">
            <a:solidFill>
              <a:srgbClr val="D5BD8D">
                <a:alpha val="0"/>
              </a:srgbClr>
            </a:solidFill>
            <a:prstDash val="solid"/>
          </a:ln>
        </p:spPr>
      </p:sp>
      <p:sp>
        <p:nvSpPr>
          <p:cNvPr id="19" name="Text 17"/>
          <p:cNvSpPr/>
          <p:nvPr/>
        </p:nvSpPr>
        <p:spPr>
          <a:xfrm>
            <a:off x="4636008"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S2</a:t>
            </a:r>
            <a:endParaRPr lang="en-US" sz="2200" dirty="0"/>
          </a:p>
        </p:txBody>
      </p:sp>
      <p:sp>
        <p:nvSpPr>
          <p:cNvPr id="20" name="Text 18"/>
          <p:cNvSpPr/>
          <p:nvPr/>
        </p:nvSpPr>
        <p:spPr>
          <a:xfrm>
            <a:off x="5522976"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J6 → J10</a:t>
            </a:r>
            <a:endParaRPr lang="en-US" sz="1300" dirty="0"/>
          </a:p>
        </p:txBody>
      </p:sp>
      <p:sp>
        <p:nvSpPr>
          <p:cNvPr id="21" name="Text 19"/>
          <p:cNvSpPr/>
          <p:nvPr/>
        </p:nvSpPr>
        <p:spPr>
          <a:xfrm>
            <a:off x="4636008"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EXPÉRIMENTATIONS</a:t>
            </a:r>
            <a:endParaRPr lang="en-US" sz="1220" dirty="0"/>
          </a:p>
        </p:txBody>
      </p:sp>
      <p:sp>
        <p:nvSpPr>
          <p:cNvPr id="22" name="Text 20"/>
          <p:cNvSpPr/>
          <p:nvPr/>
        </p:nvSpPr>
        <p:spPr>
          <a:xfrm>
            <a:off x="4654296"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Baseline sans IA</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Embeddings et Top 5</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Alternative multimodale limitée</a:t>
            </a:r>
            <a:endParaRPr lang="en-US" sz="1250" dirty="0"/>
          </a:p>
        </p:txBody>
      </p:sp>
      <p:sp>
        <p:nvSpPr>
          <p:cNvPr id="23" name="Shape 21"/>
          <p:cNvSpPr/>
          <p:nvPr/>
        </p:nvSpPr>
        <p:spPr>
          <a:xfrm>
            <a:off x="4599432"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24" name="Text 22"/>
          <p:cNvSpPr/>
          <p:nvPr/>
        </p:nvSpPr>
        <p:spPr>
          <a:xfrm>
            <a:off x="4736592"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J2  •  premiers scores</a:t>
            </a:r>
            <a:endParaRPr lang="en-US" sz="1000" dirty="0"/>
          </a:p>
        </p:txBody>
      </p:sp>
      <p:sp>
        <p:nvSpPr>
          <p:cNvPr id="25" name="Shape 23"/>
          <p:cNvSpPr/>
          <p:nvPr/>
        </p:nvSpPr>
        <p:spPr>
          <a:xfrm>
            <a:off x="8138160"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26" name="Shape 24"/>
          <p:cNvSpPr/>
          <p:nvPr/>
        </p:nvSpPr>
        <p:spPr>
          <a:xfrm>
            <a:off x="8138160" y="2487168"/>
            <a:ext cx="3429000" cy="128016"/>
          </a:xfrm>
          <a:prstGeom prst="roundRect">
            <a:avLst>
              <a:gd name="adj" fmla="val 28571"/>
            </a:avLst>
          </a:prstGeom>
          <a:solidFill>
            <a:srgbClr val="D4F086"/>
          </a:solidFill>
          <a:ln w="12700">
            <a:solidFill>
              <a:srgbClr val="D4F086">
                <a:alpha val="0"/>
              </a:srgbClr>
            </a:solidFill>
            <a:prstDash val="solid"/>
          </a:ln>
        </p:spPr>
      </p:sp>
      <p:sp>
        <p:nvSpPr>
          <p:cNvPr id="27" name="Text 25"/>
          <p:cNvSpPr/>
          <p:nvPr/>
        </p:nvSpPr>
        <p:spPr>
          <a:xfrm>
            <a:off x="8394192"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S3</a:t>
            </a:r>
            <a:endParaRPr lang="en-US" sz="2200" dirty="0"/>
          </a:p>
        </p:txBody>
      </p:sp>
      <p:sp>
        <p:nvSpPr>
          <p:cNvPr id="28" name="Text 26"/>
          <p:cNvSpPr/>
          <p:nvPr/>
        </p:nvSpPr>
        <p:spPr>
          <a:xfrm>
            <a:off x="9281160"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J11 → J15</a:t>
            </a:r>
            <a:endParaRPr lang="en-US" sz="1300" dirty="0"/>
          </a:p>
        </p:txBody>
      </p:sp>
      <p:sp>
        <p:nvSpPr>
          <p:cNvPr id="29" name="Text 27"/>
          <p:cNvSpPr/>
          <p:nvPr/>
        </p:nvSpPr>
        <p:spPr>
          <a:xfrm>
            <a:off x="8394192"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MESURE &amp; DÉCISION</a:t>
            </a:r>
            <a:endParaRPr lang="en-US" sz="1220" dirty="0"/>
          </a:p>
        </p:txBody>
      </p:sp>
      <p:sp>
        <p:nvSpPr>
          <p:cNvPr id="30" name="Text 28"/>
          <p:cNvSpPr/>
          <p:nvPr/>
        </p:nvSpPr>
        <p:spPr>
          <a:xfrm>
            <a:off x="8412480"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Annotations métier</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Analyse des échecs / risques</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Recommandation Go / No-Go</a:t>
            </a:r>
            <a:endParaRPr lang="en-US" sz="1250" dirty="0"/>
          </a:p>
        </p:txBody>
      </p:sp>
      <p:sp>
        <p:nvSpPr>
          <p:cNvPr id="31" name="Shape 29"/>
          <p:cNvSpPr/>
          <p:nvPr/>
        </p:nvSpPr>
        <p:spPr>
          <a:xfrm>
            <a:off x="8357616"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32" name="Text 30"/>
          <p:cNvSpPr/>
          <p:nvPr/>
        </p:nvSpPr>
        <p:spPr>
          <a:xfrm>
            <a:off x="8494776"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J3  •  restitution</a:t>
            </a:r>
            <a:endParaRPr lang="en-US" sz="1000" dirty="0"/>
          </a:p>
        </p:txBody>
      </p:sp>
      <p:sp>
        <p:nvSpPr>
          <p:cNvPr id="33" name="Shape 31"/>
          <p:cNvSpPr/>
          <p:nvPr/>
        </p:nvSpPr>
        <p:spPr>
          <a:xfrm>
            <a:off x="640080" y="5504688"/>
            <a:ext cx="10927080" cy="502920"/>
          </a:xfrm>
          <a:prstGeom prst="roundRect">
            <a:avLst>
              <a:gd name="adj" fmla="val 23636"/>
            </a:avLst>
          </a:prstGeom>
          <a:solidFill>
            <a:srgbClr val="17221F"/>
          </a:solidFill>
          <a:ln w="12700">
            <a:solidFill>
              <a:srgbClr val="17221F">
                <a:alpha val="0"/>
              </a:srgbClr>
            </a:solidFill>
            <a:prstDash val="solid"/>
          </a:ln>
        </p:spPr>
      </p:sp>
      <p:sp>
        <p:nvSpPr>
          <p:cNvPr id="34" name="Text 32"/>
          <p:cNvSpPr/>
          <p:nvPr/>
        </p:nvSpPr>
        <p:spPr>
          <a:xfrm>
            <a:off x="877824" y="5650992"/>
            <a:ext cx="10442448" cy="201168"/>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Inter" pitchFamily="34" charset="0"/>
                <a:ea typeface="Inter" pitchFamily="34" charset="-122"/>
                <a:cs typeface="Inter" pitchFamily="34" charset="-120"/>
              </a:rPr>
              <a:t>NE PAS CONFONDRE : 3 semaines de préparation du cadrage avant COMEX ≠ 3 semaines de PoC après accord.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09  /  CHARGE ET GOUVERNANCE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30 jours-homme répartis sur six profils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11</a:t>
            </a:r>
            <a:endParaRPr lang="en-US" sz="900" dirty="0"/>
          </a:p>
        </p:txBody>
      </p:sp>
      <p:sp>
        <p:nvSpPr>
          <p:cNvPr id="8" name="Text 6"/>
          <p:cNvSpPr/>
          <p:nvPr/>
        </p:nvSpPr>
        <p:spPr>
          <a:xfrm>
            <a:off x="640080" y="1984248"/>
            <a:ext cx="3438144" cy="265176"/>
          </a:xfrm>
          <a:prstGeom prst="rect">
            <a:avLst/>
          </a:prstGeom>
          <a:noFill/>
          <a:ln/>
        </p:spPr>
        <p:txBody>
          <a:bodyPr wrap="square" lIns="0" tIns="0" rIns="0" bIns="0" rtlCol="0" anchor="ctr">
            <a:normAutofit/>
          </a:bodyPr>
          <a:lstStyle/>
          <a:p>
            <a:pPr algn="l" indent="0" marL="0">
              <a:buNone/>
            </a:pPr>
            <a:r>
              <a:rPr lang="en-US" sz="1250" b="1" dirty="0">
                <a:solidFill>
                  <a:srgbClr val="17221F"/>
                </a:solidFill>
                <a:latin typeface="Inter" pitchFamily="34" charset="0"/>
                <a:ea typeface="Inter" pitchFamily="34" charset="-122"/>
                <a:cs typeface="Inter" pitchFamily="34" charset="-120"/>
              </a:rPr>
              <a:t>Data Scientist / ML Engineer</a:t>
            </a:r>
            <a:endParaRPr lang="en-US" sz="1250" dirty="0"/>
          </a:p>
        </p:txBody>
      </p:sp>
      <p:sp>
        <p:nvSpPr>
          <p:cNvPr id="9" name="Shape 7"/>
          <p:cNvSpPr/>
          <p:nvPr/>
        </p:nvSpPr>
        <p:spPr>
          <a:xfrm>
            <a:off x="4114800" y="2016252"/>
            <a:ext cx="6135624" cy="201168"/>
          </a:xfrm>
          <a:prstGeom prst="roundRect">
            <a:avLst>
              <a:gd name="adj" fmla="val 31818"/>
            </a:avLst>
          </a:prstGeom>
          <a:solidFill>
            <a:srgbClr val="EFF1EA"/>
          </a:solidFill>
          <a:ln w="12700">
            <a:solidFill>
              <a:srgbClr val="EFF1EA">
                <a:alpha val="0"/>
              </a:srgbClr>
            </a:solidFill>
            <a:prstDash val="solid"/>
          </a:ln>
        </p:spPr>
      </p:sp>
      <p:sp>
        <p:nvSpPr>
          <p:cNvPr id="10" name="Shape 8"/>
          <p:cNvSpPr/>
          <p:nvPr/>
        </p:nvSpPr>
        <p:spPr>
          <a:xfrm>
            <a:off x="4114800" y="2016252"/>
            <a:ext cx="6135624" cy="201168"/>
          </a:xfrm>
          <a:prstGeom prst="roundRect">
            <a:avLst>
              <a:gd name="adj" fmla="val 31818"/>
            </a:avLst>
          </a:prstGeom>
          <a:solidFill>
            <a:srgbClr val="17221F"/>
          </a:solidFill>
          <a:ln w="12700">
            <a:solidFill>
              <a:srgbClr val="17221F">
                <a:alpha val="0"/>
              </a:srgbClr>
            </a:solidFill>
            <a:prstDash val="solid"/>
          </a:ln>
        </p:spPr>
      </p:sp>
      <p:sp>
        <p:nvSpPr>
          <p:cNvPr id="11" name="Text 9"/>
          <p:cNvSpPr/>
          <p:nvPr/>
        </p:nvSpPr>
        <p:spPr>
          <a:xfrm>
            <a:off x="10433304" y="1984248"/>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12 j-h</a:t>
            </a:r>
            <a:endParaRPr lang="en-US" sz="1250" dirty="0"/>
          </a:p>
        </p:txBody>
      </p:sp>
      <p:sp>
        <p:nvSpPr>
          <p:cNvPr id="12" name="Text 10"/>
          <p:cNvSpPr/>
          <p:nvPr/>
        </p:nvSpPr>
        <p:spPr>
          <a:xfrm>
            <a:off x="640080" y="2505456"/>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Chef de projet IA / Product</a:t>
            </a:r>
            <a:endParaRPr lang="en-US" sz="1250" dirty="0"/>
          </a:p>
        </p:txBody>
      </p:sp>
      <p:sp>
        <p:nvSpPr>
          <p:cNvPr id="13" name="Shape 11"/>
          <p:cNvSpPr/>
          <p:nvPr/>
        </p:nvSpPr>
        <p:spPr>
          <a:xfrm>
            <a:off x="4114800" y="2537460"/>
            <a:ext cx="6135624" cy="201168"/>
          </a:xfrm>
          <a:prstGeom prst="roundRect">
            <a:avLst>
              <a:gd name="adj" fmla="val 31818"/>
            </a:avLst>
          </a:prstGeom>
          <a:solidFill>
            <a:srgbClr val="EFF1EA"/>
          </a:solidFill>
          <a:ln w="12700">
            <a:solidFill>
              <a:srgbClr val="EFF1EA">
                <a:alpha val="0"/>
              </a:srgbClr>
            </a:solidFill>
            <a:prstDash val="solid"/>
          </a:ln>
        </p:spPr>
      </p:sp>
      <p:sp>
        <p:nvSpPr>
          <p:cNvPr id="14" name="Shape 12"/>
          <p:cNvSpPr/>
          <p:nvPr/>
        </p:nvSpPr>
        <p:spPr>
          <a:xfrm>
            <a:off x="4114800" y="2537460"/>
            <a:ext cx="2556510" cy="201168"/>
          </a:xfrm>
          <a:prstGeom prst="roundRect">
            <a:avLst>
              <a:gd name="adj" fmla="val 31818"/>
            </a:avLst>
          </a:prstGeom>
          <a:solidFill>
            <a:srgbClr val="82AE99"/>
          </a:solidFill>
          <a:ln w="12700">
            <a:solidFill>
              <a:srgbClr val="82AE99">
                <a:alpha val="0"/>
              </a:srgbClr>
            </a:solidFill>
            <a:prstDash val="solid"/>
          </a:ln>
        </p:spPr>
      </p:sp>
      <p:sp>
        <p:nvSpPr>
          <p:cNvPr id="15" name="Text 13"/>
          <p:cNvSpPr/>
          <p:nvPr/>
        </p:nvSpPr>
        <p:spPr>
          <a:xfrm>
            <a:off x="10433304" y="2505456"/>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5 j-h</a:t>
            </a:r>
            <a:endParaRPr lang="en-US" sz="1250" dirty="0"/>
          </a:p>
        </p:txBody>
      </p:sp>
      <p:sp>
        <p:nvSpPr>
          <p:cNvPr id="16" name="Text 14"/>
          <p:cNvSpPr/>
          <p:nvPr/>
        </p:nvSpPr>
        <p:spPr>
          <a:xfrm>
            <a:off x="640080" y="3026664"/>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Data Engineer</a:t>
            </a:r>
            <a:endParaRPr lang="en-US" sz="1250" dirty="0"/>
          </a:p>
        </p:txBody>
      </p:sp>
      <p:sp>
        <p:nvSpPr>
          <p:cNvPr id="17" name="Shape 15"/>
          <p:cNvSpPr/>
          <p:nvPr/>
        </p:nvSpPr>
        <p:spPr>
          <a:xfrm>
            <a:off x="4114800" y="3058668"/>
            <a:ext cx="6135624" cy="201168"/>
          </a:xfrm>
          <a:prstGeom prst="roundRect">
            <a:avLst>
              <a:gd name="adj" fmla="val 31818"/>
            </a:avLst>
          </a:prstGeom>
          <a:solidFill>
            <a:srgbClr val="EFF1EA"/>
          </a:solidFill>
          <a:ln w="12700">
            <a:solidFill>
              <a:srgbClr val="EFF1EA">
                <a:alpha val="0"/>
              </a:srgbClr>
            </a:solidFill>
            <a:prstDash val="solid"/>
          </a:ln>
        </p:spPr>
      </p:sp>
      <p:sp>
        <p:nvSpPr>
          <p:cNvPr id="18" name="Shape 16"/>
          <p:cNvSpPr/>
          <p:nvPr/>
        </p:nvSpPr>
        <p:spPr>
          <a:xfrm>
            <a:off x="4114800" y="3058668"/>
            <a:ext cx="2045208" cy="201168"/>
          </a:xfrm>
          <a:prstGeom prst="roundRect">
            <a:avLst>
              <a:gd name="adj" fmla="val 31818"/>
            </a:avLst>
          </a:prstGeom>
          <a:solidFill>
            <a:srgbClr val="82AE99"/>
          </a:solidFill>
          <a:ln w="12700">
            <a:solidFill>
              <a:srgbClr val="82AE99">
                <a:alpha val="0"/>
              </a:srgbClr>
            </a:solidFill>
            <a:prstDash val="solid"/>
          </a:ln>
        </p:spPr>
      </p:sp>
      <p:sp>
        <p:nvSpPr>
          <p:cNvPr id="19" name="Text 17"/>
          <p:cNvSpPr/>
          <p:nvPr/>
        </p:nvSpPr>
        <p:spPr>
          <a:xfrm>
            <a:off x="10433304" y="3026664"/>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4 j-h</a:t>
            </a:r>
            <a:endParaRPr lang="en-US" sz="1250" dirty="0"/>
          </a:p>
        </p:txBody>
      </p:sp>
      <p:sp>
        <p:nvSpPr>
          <p:cNvPr id="20" name="Text 18"/>
          <p:cNvSpPr/>
          <p:nvPr/>
        </p:nvSpPr>
        <p:spPr>
          <a:xfrm>
            <a:off x="640080" y="3547872"/>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Expert métier e-commerce</a:t>
            </a:r>
            <a:endParaRPr lang="en-US" sz="1250" dirty="0"/>
          </a:p>
        </p:txBody>
      </p:sp>
      <p:sp>
        <p:nvSpPr>
          <p:cNvPr id="21" name="Shape 19"/>
          <p:cNvSpPr/>
          <p:nvPr/>
        </p:nvSpPr>
        <p:spPr>
          <a:xfrm>
            <a:off x="4114800" y="3579876"/>
            <a:ext cx="6135624" cy="201168"/>
          </a:xfrm>
          <a:prstGeom prst="roundRect">
            <a:avLst>
              <a:gd name="adj" fmla="val 31818"/>
            </a:avLst>
          </a:prstGeom>
          <a:solidFill>
            <a:srgbClr val="EFF1EA"/>
          </a:solidFill>
          <a:ln w="12700">
            <a:solidFill>
              <a:srgbClr val="EFF1EA">
                <a:alpha val="0"/>
              </a:srgbClr>
            </a:solidFill>
            <a:prstDash val="solid"/>
          </a:ln>
        </p:spPr>
      </p:sp>
      <p:sp>
        <p:nvSpPr>
          <p:cNvPr id="22" name="Shape 20"/>
          <p:cNvSpPr/>
          <p:nvPr/>
        </p:nvSpPr>
        <p:spPr>
          <a:xfrm>
            <a:off x="4114800" y="3579876"/>
            <a:ext cx="2045208" cy="201168"/>
          </a:xfrm>
          <a:prstGeom prst="roundRect">
            <a:avLst>
              <a:gd name="adj" fmla="val 31818"/>
            </a:avLst>
          </a:prstGeom>
          <a:solidFill>
            <a:srgbClr val="82AE99"/>
          </a:solidFill>
          <a:ln w="12700">
            <a:solidFill>
              <a:srgbClr val="82AE99">
                <a:alpha val="0"/>
              </a:srgbClr>
            </a:solidFill>
            <a:prstDash val="solid"/>
          </a:ln>
        </p:spPr>
      </p:sp>
      <p:sp>
        <p:nvSpPr>
          <p:cNvPr id="23" name="Text 21"/>
          <p:cNvSpPr/>
          <p:nvPr/>
        </p:nvSpPr>
        <p:spPr>
          <a:xfrm>
            <a:off x="10433304" y="3547872"/>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4 j-h</a:t>
            </a:r>
            <a:endParaRPr lang="en-US" sz="1250" dirty="0"/>
          </a:p>
        </p:txBody>
      </p:sp>
      <p:sp>
        <p:nvSpPr>
          <p:cNvPr id="24" name="Text 22"/>
          <p:cNvSpPr/>
          <p:nvPr/>
        </p:nvSpPr>
        <p:spPr>
          <a:xfrm>
            <a:off x="640080" y="4069080"/>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Ingénieur Azure / Cloud</a:t>
            </a:r>
            <a:endParaRPr lang="en-US" sz="1250" dirty="0"/>
          </a:p>
        </p:txBody>
      </p:sp>
      <p:sp>
        <p:nvSpPr>
          <p:cNvPr id="25" name="Shape 23"/>
          <p:cNvSpPr/>
          <p:nvPr/>
        </p:nvSpPr>
        <p:spPr>
          <a:xfrm>
            <a:off x="4114800" y="4101084"/>
            <a:ext cx="6135624" cy="201168"/>
          </a:xfrm>
          <a:prstGeom prst="roundRect">
            <a:avLst>
              <a:gd name="adj" fmla="val 31818"/>
            </a:avLst>
          </a:prstGeom>
          <a:solidFill>
            <a:srgbClr val="EFF1EA"/>
          </a:solidFill>
          <a:ln w="12700">
            <a:solidFill>
              <a:srgbClr val="EFF1EA">
                <a:alpha val="0"/>
              </a:srgbClr>
            </a:solidFill>
            <a:prstDash val="solid"/>
          </a:ln>
        </p:spPr>
      </p:sp>
      <p:sp>
        <p:nvSpPr>
          <p:cNvPr id="26" name="Shape 24"/>
          <p:cNvSpPr/>
          <p:nvPr/>
        </p:nvSpPr>
        <p:spPr>
          <a:xfrm>
            <a:off x="4114800" y="4101084"/>
            <a:ext cx="1533906" cy="201168"/>
          </a:xfrm>
          <a:prstGeom prst="roundRect">
            <a:avLst>
              <a:gd name="adj" fmla="val 31818"/>
            </a:avLst>
          </a:prstGeom>
          <a:solidFill>
            <a:srgbClr val="82AE99"/>
          </a:solidFill>
          <a:ln w="12700">
            <a:solidFill>
              <a:srgbClr val="82AE99">
                <a:alpha val="0"/>
              </a:srgbClr>
            </a:solidFill>
            <a:prstDash val="solid"/>
          </a:ln>
        </p:spPr>
      </p:sp>
      <p:sp>
        <p:nvSpPr>
          <p:cNvPr id="27" name="Text 25"/>
          <p:cNvSpPr/>
          <p:nvPr/>
        </p:nvSpPr>
        <p:spPr>
          <a:xfrm>
            <a:off x="10433304" y="4069080"/>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3 j-h</a:t>
            </a:r>
            <a:endParaRPr lang="en-US" sz="1250" dirty="0"/>
          </a:p>
        </p:txBody>
      </p:sp>
      <p:sp>
        <p:nvSpPr>
          <p:cNvPr id="28" name="Text 26"/>
          <p:cNvSpPr/>
          <p:nvPr/>
        </p:nvSpPr>
        <p:spPr>
          <a:xfrm>
            <a:off x="640080" y="4590288"/>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Référent RGPD / sécurité</a:t>
            </a:r>
            <a:endParaRPr lang="en-US" sz="1250" dirty="0"/>
          </a:p>
        </p:txBody>
      </p:sp>
      <p:sp>
        <p:nvSpPr>
          <p:cNvPr id="29" name="Shape 27"/>
          <p:cNvSpPr/>
          <p:nvPr/>
        </p:nvSpPr>
        <p:spPr>
          <a:xfrm>
            <a:off x="4114800" y="4622292"/>
            <a:ext cx="6135624" cy="201168"/>
          </a:xfrm>
          <a:prstGeom prst="roundRect">
            <a:avLst>
              <a:gd name="adj" fmla="val 31818"/>
            </a:avLst>
          </a:prstGeom>
          <a:solidFill>
            <a:srgbClr val="EFF1EA"/>
          </a:solidFill>
          <a:ln w="12700">
            <a:solidFill>
              <a:srgbClr val="EFF1EA">
                <a:alpha val="0"/>
              </a:srgbClr>
            </a:solidFill>
            <a:prstDash val="solid"/>
          </a:ln>
        </p:spPr>
      </p:sp>
      <p:sp>
        <p:nvSpPr>
          <p:cNvPr id="30" name="Shape 28"/>
          <p:cNvSpPr/>
          <p:nvPr/>
        </p:nvSpPr>
        <p:spPr>
          <a:xfrm>
            <a:off x="4114800" y="4622292"/>
            <a:ext cx="1022604" cy="201168"/>
          </a:xfrm>
          <a:prstGeom prst="roundRect">
            <a:avLst>
              <a:gd name="adj" fmla="val 31818"/>
            </a:avLst>
          </a:prstGeom>
          <a:solidFill>
            <a:srgbClr val="82AE99"/>
          </a:solidFill>
          <a:ln w="12700">
            <a:solidFill>
              <a:srgbClr val="82AE99">
                <a:alpha val="0"/>
              </a:srgbClr>
            </a:solidFill>
            <a:prstDash val="solid"/>
          </a:ln>
        </p:spPr>
      </p:sp>
      <p:sp>
        <p:nvSpPr>
          <p:cNvPr id="31" name="Text 29"/>
          <p:cNvSpPr/>
          <p:nvPr/>
        </p:nvSpPr>
        <p:spPr>
          <a:xfrm>
            <a:off x="10433304" y="4590288"/>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2 j-h</a:t>
            </a:r>
            <a:endParaRPr lang="en-US" sz="1250" dirty="0"/>
          </a:p>
        </p:txBody>
      </p:sp>
      <p:sp>
        <p:nvSpPr>
          <p:cNvPr id="32" name="Shape 30"/>
          <p:cNvSpPr/>
          <p:nvPr/>
        </p:nvSpPr>
        <p:spPr>
          <a:xfrm>
            <a:off x="621792" y="5266944"/>
            <a:ext cx="10954512" cy="685800"/>
          </a:xfrm>
          <a:prstGeom prst="roundRect">
            <a:avLst>
              <a:gd name="adj" fmla="val 18667"/>
            </a:avLst>
          </a:prstGeom>
          <a:solidFill>
            <a:srgbClr val="17221F"/>
          </a:solidFill>
          <a:ln w="12700">
            <a:solidFill>
              <a:srgbClr val="17221F">
                <a:alpha val="0"/>
              </a:srgbClr>
            </a:solidFill>
            <a:prstDash val="solid"/>
          </a:ln>
        </p:spPr>
      </p:sp>
      <p:sp>
        <p:nvSpPr>
          <p:cNvPr id="33" name="Text 31"/>
          <p:cNvSpPr/>
          <p:nvPr/>
        </p:nvSpPr>
        <p:spPr>
          <a:xfrm>
            <a:off x="905256" y="5486400"/>
            <a:ext cx="4846320" cy="182880"/>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Inter" pitchFamily="34" charset="0"/>
                <a:ea typeface="Inter" pitchFamily="34" charset="-122"/>
                <a:cs typeface="Inter" pitchFamily="34" charset="-120"/>
              </a:rPr>
              <a:t>Alicia : sponsor &amp; arbitrages</a:t>
            </a:r>
            <a:endParaRPr lang="en-US" sz="1300" dirty="0"/>
          </a:p>
        </p:txBody>
      </p:sp>
      <p:sp>
        <p:nvSpPr>
          <p:cNvPr id="34" name="Text 32"/>
          <p:cNvSpPr/>
          <p:nvPr/>
        </p:nvSpPr>
        <p:spPr>
          <a:xfrm>
            <a:off x="5010912" y="5468112"/>
            <a:ext cx="6263640" cy="228600"/>
          </a:xfrm>
          <a:prstGeom prst="rect">
            <a:avLst/>
          </a:prstGeom>
          <a:noFill/>
          <a:ln/>
        </p:spPr>
        <p:txBody>
          <a:bodyPr wrap="square" lIns="0" tIns="0" rIns="0" bIns="0" rtlCol="0" anchor="ctr">
            <a:normAutofit/>
          </a:bodyPr>
          <a:lstStyle/>
          <a:p>
            <a:pPr algn="r" indent="0" marL="0">
              <a:buNone/>
            </a:pPr>
            <a:r>
              <a:rPr lang="en-US" sz="1140" dirty="0">
                <a:solidFill>
                  <a:srgbClr val="DFE8DF"/>
                </a:solidFill>
                <a:latin typeface="Inter" pitchFamily="34" charset="0"/>
                <a:ea typeface="Inter" pitchFamily="34" charset="-122"/>
                <a:cs typeface="Inter" pitchFamily="34" charset="-120"/>
              </a:rPr>
              <a:t>Budget € = coûts journaliers × charges + consommation Azure (à chiffrer)</a:t>
            </a:r>
            <a:endParaRPr lang="en-US" sz="11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10  /  RISQUES &amp; MAÎTRISE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Cinq risques à neutraliser dès le départ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12</a:t>
            </a:r>
            <a:endParaRPr lang="en-US" sz="900" dirty="0"/>
          </a:p>
        </p:txBody>
      </p:sp>
      <p:sp>
        <p:nvSpPr>
          <p:cNvPr id="8" name="Shape 6"/>
          <p:cNvSpPr/>
          <p:nvPr/>
        </p:nvSpPr>
        <p:spPr>
          <a:xfrm>
            <a:off x="621792" y="1975104"/>
            <a:ext cx="10963656" cy="649224"/>
          </a:xfrm>
          <a:prstGeom prst="roundRect">
            <a:avLst>
              <a:gd name="adj" fmla="val 14085"/>
            </a:avLst>
          </a:prstGeom>
          <a:solidFill>
            <a:srgbClr val="EFF1EA"/>
          </a:solidFill>
          <a:ln w="12700">
            <a:solidFill>
              <a:srgbClr val="EFF1EA">
                <a:alpha val="0"/>
              </a:srgbClr>
            </a:solidFill>
            <a:prstDash val="solid"/>
          </a:ln>
        </p:spPr>
      </p:sp>
      <p:sp>
        <p:nvSpPr>
          <p:cNvPr id="9" name="Shape 7"/>
          <p:cNvSpPr/>
          <p:nvPr/>
        </p:nvSpPr>
        <p:spPr>
          <a:xfrm>
            <a:off x="850392" y="2139696"/>
            <a:ext cx="320040" cy="320040"/>
          </a:xfrm>
          <a:prstGeom prst="ellipse">
            <a:avLst/>
          </a:prstGeom>
          <a:solidFill>
            <a:srgbClr val="D4F086"/>
          </a:solidFill>
          <a:ln w="12700">
            <a:solidFill>
              <a:srgbClr val="D4F086">
                <a:alpha val="0"/>
              </a:srgbClr>
            </a:solidFill>
            <a:prstDash val="solid"/>
          </a:ln>
        </p:spPr>
      </p:sp>
      <p:sp>
        <p:nvSpPr>
          <p:cNvPr id="10" name="Text 8"/>
          <p:cNvSpPr/>
          <p:nvPr/>
        </p:nvSpPr>
        <p:spPr>
          <a:xfrm>
            <a:off x="877824" y="2221992"/>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1</a:t>
            </a:r>
            <a:endParaRPr lang="en-US" sz="1000" dirty="0"/>
          </a:p>
        </p:txBody>
      </p:sp>
      <p:sp>
        <p:nvSpPr>
          <p:cNvPr id="11" name="Text 9"/>
          <p:cNvSpPr/>
          <p:nvPr/>
        </p:nvSpPr>
        <p:spPr>
          <a:xfrm>
            <a:off x="1316736" y="2139696"/>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Données dispersées</a:t>
            </a:r>
            <a:endParaRPr lang="en-US" sz="1400" dirty="0"/>
          </a:p>
        </p:txBody>
      </p:sp>
      <p:sp>
        <p:nvSpPr>
          <p:cNvPr id="12" name="Shape 10"/>
          <p:cNvSpPr/>
          <p:nvPr/>
        </p:nvSpPr>
        <p:spPr>
          <a:xfrm>
            <a:off x="4590288" y="2112264"/>
            <a:ext cx="0" cy="356616"/>
          </a:xfrm>
          <a:prstGeom prst="line">
            <a:avLst/>
          </a:prstGeom>
          <a:noFill/>
          <a:ln w="10160">
            <a:solidFill>
              <a:srgbClr val="D9DED4"/>
            </a:solidFill>
            <a:prstDash val="solid"/>
            <a:headEnd type="none"/>
            <a:tailEnd type="none"/>
          </a:ln>
        </p:spPr>
      </p:sp>
      <p:sp>
        <p:nvSpPr>
          <p:cNvPr id="13" name="Text 11"/>
          <p:cNvSpPr/>
          <p:nvPr/>
        </p:nvSpPr>
        <p:spPr>
          <a:xfrm>
            <a:off x="4828032" y="2139696"/>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Extraire une catégorie et contrôler images / tags</a:t>
            </a:r>
            <a:endParaRPr lang="en-US" sz="1270" dirty="0"/>
          </a:p>
        </p:txBody>
      </p:sp>
      <p:sp>
        <p:nvSpPr>
          <p:cNvPr id="14" name="Shape 12"/>
          <p:cNvSpPr/>
          <p:nvPr/>
        </p:nvSpPr>
        <p:spPr>
          <a:xfrm>
            <a:off x="621792" y="2734056"/>
            <a:ext cx="10963656" cy="649224"/>
          </a:xfrm>
          <a:prstGeom prst="roundRect">
            <a:avLst>
              <a:gd name="adj" fmla="val 14085"/>
            </a:avLst>
          </a:prstGeom>
          <a:solidFill>
            <a:srgbClr val="FFFFFF"/>
          </a:solidFill>
          <a:ln w="12700">
            <a:solidFill>
              <a:srgbClr val="FFFFFF">
                <a:alpha val="0"/>
              </a:srgbClr>
            </a:solidFill>
            <a:prstDash val="solid"/>
          </a:ln>
        </p:spPr>
      </p:sp>
      <p:sp>
        <p:nvSpPr>
          <p:cNvPr id="15" name="Shape 13"/>
          <p:cNvSpPr/>
          <p:nvPr/>
        </p:nvSpPr>
        <p:spPr>
          <a:xfrm>
            <a:off x="850392" y="2898648"/>
            <a:ext cx="320040" cy="320040"/>
          </a:xfrm>
          <a:prstGeom prst="ellipse">
            <a:avLst/>
          </a:prstGeom>
          <a:solidFill>
            <a:srgbClr val="D4F086"/>
          </a:solidFill>
          <a:ln w="12700">
            <a:solidFill>
              <a:srgbClr val="D4F086">
                <a:alpha val="0"/>
              </a:srgbClr>
            </a:solidFill>
            <a:prstDash val="solid"/>
          </a:ln>
        </p:spPr>
      </p:sp>
      <p:sp>
        <p:nvSpPr>
          <p:cNvPr id="16" name="Text 14"/>
          <p:cNvSpPr/>
          <p:nvPr/>
        </p:nvSpPr>
        <p:spPr>
          <a:xfrm>
            <a:off x="877824" y="2980944"/>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2</a:t>
            </a:r>
            <a:endParaRPr lang="en-US" sz="1000" dirty="0"/>
          </a:p>
        </p:txBody>
      </p:sp>
      <p:sp>
        <p:nvSpPr>
          <p:cNvPr id="17" name="Text 15"/>
          <p:cNvSpPr/>
          <p:nvPr/>
        </p:nvSpPr>
        <p:spPr>
          <a:xfrm>
            <a:off x="1316736" y="2898648"/>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Photos non représentatives</a:t>
            </a:r>
            <a:endParaRPr lang="en-US" sz="1400" dirty="0"/>
          </a:p>
        </p:txBody>
      </p:sp>
      <p:sp>
        <p:nvSpPr>
          <p:cNvPr id="18" name="Shape 16"/>
          <p:cNvSpPr/>
          <p:nvPr/>
        </p:nvSpPr>
        <p:spPr>
          <a:xfrm>
            <a:off x="4590288" y="2871216"/>
            <a:ext cx="0" cy="356616"/>
          </a:xfrm>
          <a:prstGeom prst="line">
            <a:avLst/>
          </a:prstGeom>
          <a:noFill/>
          <a:ln w="10160">
            <a:solidFill>
              <a:srgbClr val="D9DED4"/>
            </a:solidFill>
            <a:prstDash val="solid"/>
            <a:headEnd type="none"/>
            <a:tailEnd type="none"/>
          </a:ln>
        </p:spPr>
      </p:sp>
      <p:sp>
        <p:nvSpPr>
          <p:cNvPr id="19" name="Text 17"/>
          <p:cNvSpPr/>
          <p:nvPr/>
        </p:nvSpPr>
        <p:spPr>
          <a:xfrm>
            <a:off x="4828032" y="2898648"/>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40 vues variées, sans fuite depuis le catalogue</a:t>
            </a:r>
            <a:endParaRPr lang="en-US" sz="1270" dirty="0"/>
          </a:p>
        </p:txBody>
      </p:sp>
      <p:sp>
        <p:nvSpPr>
          <p:cNvPr id="20" name="Shape 18"/>
          <p:cNvSpPr/>
          <p:nvPr/>
        </p:nvSpPr>
        <p:spPr>
          <a:xfrm>
            <a:off x="621792" y="3493008"/>
            <a:ext cx="10963656" cy="649224"/>
          </a:xfrm>
          <a:prstGeom prst="roundRect">
            <a:avLst>
              <a:gd name="adj" fmla="val 14085"/>
            </a:avLst>
          </a:prstGeom>
          <a:solidFill>
            <a:srgbClr val="EFF1EA"/>
          </a:solidFill>
          <a:ln w="12700">
            <a:solidFill>
              <a:srgbClr val="EFF1EA">
                <a:alpha val="0"/>
              </a:srgbClr>
            </a:solidFill>
            <a:prstDash val="solid"/>
          </a:ln>
        </p:spPr>
      </p:sp>
      <p:sp>
        <p:nvSpPr>
          <p:cNvPr id="21" name="Shape 19"/>
          <p:cNvSpPr/>
          <p:nvPr/>
        </p:nvSpPr>
        <p:spPr>
          <a:xfrm>
            <a:off x="850392" y="3657600"/>
            <a:ext cx="320040" cy="320040"/>
          </a:xfrm>
          <a:prstGeom prst="ellipse">
            <a:avLst/>
          </a:prstGeom>
          <a:solidFill>
            <a:srgbClr val="D4F086"/>
          </a:solidFill>
          <a:ln w="12700">
            <a:solidFill>
              <a:srgbClr val="D4F086">
                <a:alpha val="0"/>
              </a:srgbClr>
            </a:solidFill>
            <a:prstDash val="solid"/>
          </a:ln>
        </p:spPr>
      </p:sp>
      <p:sp>
        <p:nvSpPr>
          <p:cNvPr id="22" name="Text 20"/>
          <p:cNvSpPr/>
          <p:nvPr/>
        </p:nvSpPr>
        <p:spPr>
          <a:xfrm>
            <a:off x="877824" y="3739896"/>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3</a:t>
            </a:r>
            <a:endParaRPr lang="en-US" sz="1000" dirty="0"/>
          </a:p>
        </p:txBody>
      </p:sp>
      <p:sp>
        <p:nvSpPr>
          <p:cNvPr id="23" name="Text 21"/>
          <p:cNvSpPr/>
          <p:nvPr/>
        </p:nvSpPr>
        <p:spPr>
          <a:xfrm>
            <a:off x="1316736" y="3657600"/>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“Même style” subjectif</a:t>
            </a:r>
            <a:endParaRPr lang="en-US" sz="1400" dirty="0"/>
          </a:p>
        </p:txBody>
      </p:sp>
      <p:sp>
        <p:nvSpPr>
          <p:cNvPr id="24" name="Shape 22"/>
          <p:cNvSpPr/>
          <p:nvPr/>
        </p:nvSpPr>
        <p:spPr>
          <a:xfrm>
            <a:off x="4590288" y="3630168"/>
            <a:ext cx="0" cy="356616"/>
          </a:xfrm>
          <a:prstGeom prst="line">
            <a:avLst/>
          </a:prstGeom>
          <a:noFill/>
          <a:ln w="10160">
            <a:solidFill>
              <a:srgbClr val="D9DED4"/>
            </a:solidFill>
            <a:prstDash val="solid"/>
            <a:headEnd type="none"/>
            <a:tailEnd type="none"/>
          </a:ln>
        </p:spPr>
      </p:sp>
      <p:sp>
        <p:nvSpPr>
          <p:cNvPr id="25" name="Text 23"/>
          <p:cNvSpPr/>
          <p:nvPr/>
        </p:nvSpPr>
        <p:spPr>
          <a:xfrm>
            <a:off x="4828032" y="3657600"/>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Grille métier commune et arbitrage à deux</a:t>
            </a:r>
            <a:endParaRPr lang="en-US" sz="1270" dirty="0"/>
          </a:p>
        </p:txBody>
      </p:sp>
      <p:sp>
        <p:nvSpPr>
          <p:cNvPr id="26" name="Shape 24"/>
          <p:cNvSpPr/>
          <p:nvPr/>
        </p:nvSpPr>
        <p:spPr>
          <a:xfrm>
            <a:off x="621792" y="4251960"/>
            <a:ext cx="10963656" cy="649224"/>
          </a:xfrm>
          <a:prstGeom prst="roundRect">
            <a:avLst>
              <a:gd name="adj" fmla="val 14085"/>
            </a:avLst>
          </a:prstGeom>
          <a:solidFill>
            <a:srgbClr val="FFFFFF"/>
          </a:solidFill>
          <a:ln w="12700">
            <a:solidFill>
              <a:srgbClr val="FFFFFF">
                <a:alpha val="0"/>
              </a:srgbClr>
            </a:solidFill>
            <a:prstDash val="solid"/>
          </a:ln>
        </p:spPr>
      </p:sp>
      <p:sp>
        <p:nvSpPr>
          <p:cNvPr id="27" name="Shape 25"/>
          <p:cNvSpPr/>
          <p:nvPr/>
        </p:nvSpPr>
        <p:spPr>
          <a:xfrm>
            <a:off x="850392" y="4416552"/>
            <a:ext cx="320040" cy="320040"/>
          </a:xfrm>
          <a:prstGeom prst="ellipse">
            <a:avLst/>
          </a:prstGeom>
          <a:solidFill>
            <a:srgbClr val="F3D1C1"/>
          </a:solidFill>
          <a:ln w="12700">
            <a:solidFill>
              <a:srgbClr val="F3D1C1">
                <a:alpha val="0"/>
              </a:srgbClr>
            </a:solidFill>
            <a:prstDash val="solid"/>
          </a:ln>
        </p:spPr>
      </p:sp>
      <p:sp>
        <p:nvSpPr>
          <p:cNvPr id="28" name="Text 26"/>
          <p:cNvSpPr/>
          <p:nvPr/>
        </p:nvSpPr>
        <p:spPr>
          <a:xfrm>
            <a:off x="877824" y="4498848"/>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4</a:t>
            </a:r>
            <a:endParaRPr lang="en-US" sz="1000" dirty="0"/>
          </a:p>
        </p:txBody>
      </p:sp>
      <p:sp>
        <p:nvSpPr>
          <p:cNvPr id="29" name="Text 27"/>
          <p:cNvSpPr/>
          <p:nvPr/>
        </p:nvSpPr>
        <p:spPr>
          <a:xfrm>
            <a:off x="1316736" y="4416552"/>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RGPD et droits des images</a:t>
            </a:r>
            <a:endParaRPr lang="en-US" sz="1400" dirty="0"/>
          </a:p>
        </p:txBody>
      </p:sp>
      <p:sp>
        <p:nvSpPr>
          <p:cNvPr id="30" name="Shape 28"/>
          <p:cNvSpPr/>
          <p:nvPr/>
        </p:nvSpPr>
        <p:spPr>
          <a:xfrm>
            <a:off x="4590288" y="4389120"/>
            <a:ext cx="0" cy="356616"/>
          </a:xfrm>
          <a:prstGeom prst="line">
            <a:avLst/>
          </a:prstGeom>
          <a:noFill/>
          <a:ln w="10160">
            <a:solidFill>
              <a:srgbClr val="D9DED4"/>
            </a:solidFill>
            <a:prstDash val="solid"/>
            <a:headEnd type="none"/>
            <a:tailEnd type="none"/>
          </a:ln>
        </p:spPr>
      </p:sp>
      <p:sp>
        <p:nvSpPr>
          <p:cNvPr id="31" name="Text 29"/>
          <p:cNvSpPr/>
          <p:nvPr/>
        </p:nvSpPr>
        <p:spPr>
          <a:xfrm>
            <a:off x="4828032" y="4416552"/>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Minimisation, accès restreints, suppression</a:t>
            </a:r>
            <a:endParaRPr lang="en-US" sz="1270" dirty="0"/>
          </a:p>
        </p:txBody>
      </p:sp>
      <p:sp>
        <p:nvSpPr>
          <p:cNvPr id="32" name="Shape 30"/>
          <p:cNvSpPr/>
          <p:nvPr/>
        </p:nvSpPr>
        <p:spPr>
          <a:xfrm>
            <a:off x="621792" y="5010912"/>
            <a:ext cx="10963656" cy="649224"/>
          </a:xfrm>
          <a:prstGeom prst="roundRect">
            <a:avLst>
              <a:gd name="adj" fmla="val 14085"/>
            </a:avLst>
          </a:prstGeom>
          <a:solidFill>
            <a:srgbClr val="EFF1EA"/>
          </a:solidFill>
          <a:ln w="12700">
            <a:solidFill>
              <a:srgbClr val="EFF1EA">
                <a:alpha val="0"/>
              </a:srgbClr>
            </a:solidFill>
            <a:prstDash val="solid"/>
          </a:ln>
        </p:spPr>
      </p:sp>
      <p:sp>
        <p:nvSpPr>
          <p:cNvPr id="33" name="Shape 31"/>
          <p:cNvSpPr/>
          <p:nvPr/>
        </p:nvSpPr>
        <p:spPr>
          <a:xfrm>
            <a:off x="850392" y="5175504"/>
            <a:ext cx="320040" cy="320040"/>
          </a:xfrm>
          <a:prstGeom prst="ellipse">
            <a:avLst/>
          </a:prstGeom>
          <a:solidFill>
            <a:srgbClr val="D4F086"/>
          </a:solidFill>
          <a:ln w="12700">
            <a:solidFill>
              <a:srgbClr val="D4F086">
                <a:alpha val="0"/>
              </a:srgbClr>
            </a:solidFill>
            <a:prstDash val="solid"/>
          </a:ln>
        </p:spPr>
      </p:sp>
      <p:sp>
        <p:nvSpPr>
          <p:cNvPr id="34" name="Text 32"/>
          <p:cNvSpPr/>
          <p:nvPr/>
        </p:nvSpPr>
        <p:spPr>
          <a:xfrm>
            <a:off x="877824" y="5257800"/>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5</a:t>
            </a:r>
            <a:endParaRPr lang="en-US" sz="1000" dirty="0"/>
          </a:p>
        </p:txBody>
      </p:sp>
      <p:sp>
        <p:nvSpPr>
          <p:cNvPr id="35" name="Text 33"/>
          <p:cNvSpPr/>
          <p:nvPr/>
        </p:nvSpPr>
        <p:spPr>
          <a:xfrm>
            <a:off x="1316736" y="5175504"/>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Dérive coût / périmètre</a:t>
            </a:r>
            <a:endParaRPr lang="en-US" sz="1400" dirty="0"/>
          </a:p>
        </p:txBody>
      </p:sp>
      <p:sp>
        <p:nvSpPr>
          <p:cNvPr id="36" name="Shape 34"/>
          <p:cNvSpPr/>
          <p:nvPr/>
        </p:nvSpPr>
        <p:spPr>
          <a:xfrm>
            <a:off x="4590288" y="5148072"/>
            <a:ext cx="0" cy="356616"/>
          </a:xfrm>
          <a:prstGeom prst="line">
            <a:avLst/>
          </a:prstGeom>
          <a:noFill/>
          <a:ln w="10160">
            <a:solidFill>
              <a:srgbClr val="D9DED4"/>
            </a:solidFill>
            <a:prstDash val="solid"/>
            <a:headEnd type="none"/>
            <a:tailEnd type="none"/>
          </a:ln>
        </p:spPr>
      </p:sp>
      <p:sp>
        <p:nvSpPr>
          <p:cNvPr id="37" name="Text 35"/>
          <p:cNvSpPr/>
          <p:nvPr/>
        </p:nvSpPr>
        <p:spPr>
          <a:xfrm>
            <a:off x="4828032" y="5175504"/>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Plafond Azure, jalons et périmètre gelé</a:t>
            </a:r>
            <a:endParaRPr lang="en-US" sz="1270" dirty="0"/>
          </a:p>
        </p:txBody>
      </p:sp>
      <p:sp>
        <p:nvSpPr>
          <p:cNvPr id="38" name="Text 36"/>
          <p:cNvSpPr/>
          <p:nvPr/>
        </p:nvSpPr>
        <p:spPr>
          <a:xfrm>
            <a:off x="694944" y="6035040"/>
            <a:ext cx="10607040" cy="192024"/>
          </a:xfrm>
          <a:prstGeom prst="rect">
            <a:avLst/>
          </a:prstGeom>
          <a:noFill/>
          <a:ln/>
        </p:spPr>
        <p:txBody>
          <a:bodyPr wrap="square" lIns="0" tIns="0" rIns="0" bIns="0" rtlCol="0" anchor="ctr">
            <a:normAutofit/>
          </a:bodyPr>
          <a:lstStyle/>
          <a:p>
            <a:pPr algn="l" indent="0" marL="0">
              <a:buNone/>
            </a:pPr>
            <a:r>
              <a:rPr lang="en-US" sz="900" i="1" dirty="0">
                <a:solidFill>
                  <a:srgbClr val="607069"/>
                </a:solidFill>
                <a:latin typeface="Inter" pitchFamily="34" charset="0"/>
                <a:ea typeface="Inter" pitchFamily="34" charset="-122"/>
                <a:cs typeface="Inter" pitchFamily="34" charset="-120"/>
              </a:rPr>
              <a:t>Les photos de personnes identifiables nécessitent un traitement conforme au RGPD ; pas de collecte personnelle implicite.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221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D4F086"/>
          </a:solidFill>
          <a:ln w="12700">
            <a:solidFill>
              <a:srgbClr val="D4F086">
                <a:alpha val="0"/>
              </a:srgbClr>
            </a:solidFill>
            <a:prstDash val="solid"/>
          </a:ln>
        </p:spPr>
      </p:sp>
      <p:sp>
        <p:nvSpPr>
          <p:cNvPr id="3" name="Text 1"/>
          <p:cNvSpPr/>
          <p:nvPr/>
        </p:nvSpPr>
        <p:spPr>
          <a:xfrm>
            <a:off x="640080" y="429768"/>
            <a:ext cx="7315200" cy="274320"/>
          </a:xfrm>
          <a:prstGeom prst="rect">
            <a:avLst/>
          </a:prstGeom>
          <a:noFill/>
          <a:ln/>
        </p:spPr>
        <p:txBody>
          <a:bodyPr wrap="square" lIns="0" tIns="0" rIns="0" bIns="0" rtlCol="0" anchor="ctr">
            <a:normAutofit/>
          </a:bodyPr>
          <a:lstStyle/>
          <a:p>
            <a:pPr algn="l" indent="0" marL="0">
              <a:buNone/>
            </a:pPr>
            <a:r>
              <a:rPr lang="en-US" sz="1100" b="1" spc="180" kern="0" dirty="0">
                <a:solidFill>
                  <a:srgbClr val="D4F086"/>
                </a:solidFill>
                <a:latin typeface="Inter" pitchFamily="34" charset="0"/>
                <a:ea typeface="Inter" pitchFamily="34" charset="-122"/>
                <a:cs typeface="Inter" pitchFamily="34" charset="-120"/>
              </a:rPr>
              <a:t>11   /   GO — NO-GO</a:t>
            </a:r>
            <a:endParaRPr lang="en-US" sz="1100" dirty="0"/>
          </a:p>
        </p:txBody>
      </p:sp>
      <p:sp>
        <p:nvSpPr>
          <p:cNvPr id="4" name="Text 2"/>
          <p:cNvSpPr/>
          <p:nvPr/>
        </p:nvSpPr>
        <p:spPr>
          <a:xfrm>
            <a:off x="640080" y="987552"/>
            <a:ext cx="10735056" cy="1783080"/>
          </a:xfrm>
          <a:prstGeom prst="rect">
            <a:avLst/>
          </a:prstGeom>
          <a:noFill/>
          <a:ln/>
        </p:spPr>
        <p:txBody>
          <a:bodyPr wrap="square" lIns="0" tIns="0" rIns="0" bIns="0" rtlCol="0" anchor="ctr">
            <a:normAutofit/>
          </a:bodyPr>
          <a:lstStyle/>
          <a:p>
            <a:pPr algn="l" indent="0" marL="0">
              <a:buNone/>
            </a:pPr>
            <a:r>
              <a:rPr lang="en-US" sz="4300" b="1" dirty="0">
                <a:solidFill>
                  <a:srgbClr val="FFFFFF"/>
                </a:solidFill>
                <a:latin typeface="Inter Display" pitchFamily="34" charset="0"/>
                <a:ea typeface="Inter Display" pitchFamily="34" charset="-122"/>
                <a:cs typeface="Inter Display" pitchFamily="34" charset="-120"/>
              </a:rPr>
              <a:t>TESTER PETIT.</a:t>
            </a:r>
            <a:endParaRPr lang="en-US" sz="4300" dirty="0"/>
          </a:p>
          <a:p>
            <a:pPr algn="l" indent="0" marL="0">
              <a:buNone/>
            </a:pPr>
            <a:r>
              <a:rPr lang="en-US" sz="4300" b="1" dirty="0">
                <a:solidFill>
                  <a:srgbClr val="FFFFFF"/>
                </a:solidFill>
                <a:latin typeface="Inter Display" pitchFamily="34" charset="0"/>
                <a:ea typeface="Inter Display" pitchFamily="34" charset="-122"/>
                <a:cs typeface="Inter Display" pitchFamily="34" charset="-120"/>
              </a:rPr>
              <a:t>DÉCIDER VITE.</a:t>
            </a:r>
            <a:endParaRPr lang="en-US" sz="4300" dirty="0"/>
          </a:p>
        </p:txBody>
      </p:sp>
      <p:sp>
        <p:nvSpPr>
          <p:cNvPr id="5" name="Shape 3"/>
          <p:cNvSpPr/>
          <p:nvPr/>
        </p:nvSpPr>
        <p:spPr>
          <a:xfrm>
            <a:off x="640080" y="3044952"/>
            <a:ext cx="10844784" cy="0"/>
          </a:xfrm>
          <a:prstGeom prst="line">
            <a:avLst/>
          </a:prstGeom>
          <a:noFill/>
          <a:ln w="12700">
            <a:solidFill>
              <a:srgbClr val="4B675A"/>
            </a:solidFill>
            <a:prstDash val="solid"/>
            <a:headEnd type="none"/>
            <a:tailEnd type="none"/>
          </a:ln>
        </p:spPr>
      </p:sp>
      <p:sp>
        <p:nvSpPr>
          <p:cNvPr id="6" name="Text 4"/>
          <p:cNvSpPr/>
          <p:nvPr/>
        </p:nvSpPr>
        <p:spPr>
          <a:xfrm>
            <a:off x="640080" y="3346704"/>
            <a:ext cx="2130552" cy="384048"/>
          </a:xfrm>
          <a:prstGeom prst="rect">
            <a:avLst/>
          </a:prstGeom>
          <a:noFill/>
          <a:ln/>
        </p:spPr>
        <p:txBody>
          <a:bodyPr wrap="square" lIns="0" tIns="0" rIns="0" bIns="0" rtlCol="0" anchor="ctr">
            <a:normAutofit/>
          </a:bodyPr>
          <a:lstStyle/>
          <a:p>
            <a:pPr algn="l" indent="0" marL="0">
              <a:buNone/>
            </a:pPr>
            <a:r>
              <a:rPr lang="en-US" sz="1800" b="1" dirty="0">
                <a:solidFill>
                  <a:srgbClr val="D4F086"/>
                </a:solidFill>
                <a:latin typeface="Inter" pitchFamily="34" charset="0"/>
                <a:ea typeface="Inter" pitchFamily="34" charset="-122"/>
                <a:cs typeface="Inter" pitchFamily="34" charset="-120"/>
              </a:rPr>
              <a:t>GO SI…</a:t>
            </a:r>
            <a:endParaRPr lang="en-US" sz="1800" dirty="0"/>
          </a:p>
        </p:txBody>
      </p:sp>
      <p:sp>
        <p:nvSpPr>
          <p:cNvPr id="7" name="Shape 5"/>
          <p:cNvSpPr/>
          <p:nvPr/>
        </p:nvSpPr>
        <p:spPr>
          <a:xfrm>
            <a:off x="2990088" y="3364992"/>
            <a:ext cx="192024" cy="192024"/>
          </a:xfrm>
          <a:prstGeom prst="ellipse">
            <a:avLst/>
          </a:prstGeom>
          <a:solidFill>
            <a:srgbClr val="D4F086"/>
          </a:solidFill>
          <a:ln w="12700">
            <a:solidFill>
              <a:srgbClr val="D4F086">
                <a:alpha val="0"/>
              </a:srgbClr>
            </a:solidFill>
            <a:prstDash val="solid"/>
          </a:ln>
        </p:spPr>
      </p:sp>
      <p:sp>
        <p:nvSpPr>
          <p:cNvPr id="8" name="Text 6"/>
          <p:cNvSpPr/>
          <p:nvPr/>
        </p:nvSpPr>
        <p:spPr>
          <a:xfrm>
            <a:off x="3017520" y="339516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9" name="Text 7"/>
          <p:cNvSpPr/>
          <p:nvPr/>
        </p:nvSpPr>
        <p:spPr>
          <a:xfrm>
            <a:off x="3355848" y="333756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Precision@5 ≥ 60 %</a:t>
            </a:r>
            <a:endParaRPr lang="en-US" sz="1410" dirty="0"/>
          </a:p>
        </p:txBody>
      </p:sp>
      <p:sp>
        <p:nvSpPr>
          <p:cNvPr id="10" name="Shape 8"/>
          <p:cNvSpPr/>
          <p:nvPr/>
        </p:nvSpPr>
        <p:spPr>
          <a:xfrm>
            <a:off x="2990088" y="3776472"/>
            <a:ext cx="192024" cy="192024"/>
          </a:xfrm>
          <a:prstGeom prst="ellipse">
            <a:avLst/>
          </a:prstGeom>
          <a:solidFill>
            <a:srgbClr val="D4F086"/>
          </a:solidFill>
          <a:ln w="12700">
            <a:solidFill>
              <a:srgbClr val="D4F086">
                <a:alpha val="0"/>
              </a:srgbClr>
            </a:solidFill>
            <a:prstDash val="solid"/>
          </a:ln>
        </p:spPr>
      </p:sp>
      <p:sp>
        <p:nvSpPr>
          <p:cNvPr id="11" name="Text 9"/>
          <p:cNvSpPr/>
          <p:nvPr/>
        </p:nvSpPr>
        <p:spPr>
          <a:xfrm>
            <a:off x="3017520" y="380664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2" name="Text 10"/>
          <p:cNvSpPr/>
          <p:nvPr/>
        </p:nvSpPr>
        <p:spPr>
          <a:xfrm>
            <a:off x="3355848" y="374904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Success@5 ≥ 80 %</a:t>
            </a:r>
            <a:endParaRPr lang="en-US" sz="1410" dirty="0"/>
          </a:p>
        </p:txBody>
      </p:sp>
      <p:sp>
        <p:nvSpPr>
          <p:cNvPr id="13" name="Shape 11"/>
          <p:cNvSpPr/>
          <p:nvPr/>
        </p:nvSpPr>
        <p:spPr>
          <a:xfrm>
            <a:off x="2990088" y="4187952"/>
            <a:ext cx="192024" cy="192024"/>
          </a:xfrm>
          <a:prstGeom prst="ellipse">
            <a:avLst/>
          </a:prstGeom>
          <a:solidFill>
            <a:srgbClr val="D4F086"/>
          </a:solidFill>
          <a:ln w="12700">
            <a:solidFill>
              <a:srgbClr val="D4F086">
                <a:alpha val="0"/>
              </a:srgbClr>
            </a:solidFill>
            <a:prstDash val="solid"/>
          </a:ln>
        </p:spPr>
      </p:sp>
      <p:sp>
        <p:nvSpPr>
          <p:cNvPr id="14" name="Text 12"/>
          <p:cNvSpPr/>
          <p:nvPr/>
        </p:nvSpPr>
        <p:spPr>
          <a:xfrm>
            <a:off x="3017520" y="421812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5" name="Text 13"/>
          <p:cNvSpPr/>
          <p:nvPr/>
        </p:nvSpPr>
        <p:spPr>
          <a:xfrm>
            <a:off x="3355848" y="416052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Gain ≥ +10 pts face aux tags</a:t>
            </a:r>
            <a:endParaRPr lang="en-US" sz="1410" dirty="0"/>
          </a:p>
        </p:txBody>
      </p:sp>
      <p:sp>
        <p:nvSpPr>
          <p:cNvPr id="16" name="Shape 14"/>
          <p:cNvSpPr/>
          <p:nvPr/>
        </p:nvSpPr>
        <p:spPr>
          <a:xfrm>
            <a:off x="2990088" y="4599432"/>
            <a:ext cx="192024" cy="192024"/>
          </a:xfrm>
          <a:prstGeom prst="ellipse">
            <a:avLst/>
          </a:prstGeom>
          <a:solidFill>
            <a:srgbClr val="D4F086"/>
          </a:solidFill>
          <a:ln w="12700">
            <a:solidFill>
              <a:srgbClr val="D4F086">
                <a:alpha val="0"/>
              </a:srgbClr>
            </a:solidFill>
            <a:prstDash val="solid"/>
          </a:ln>
        </p:spPr>
      </p:sp>
      <p:sp>
        <p:nvSpPr>
          <p:cNvPr id="17" name="Text 15"/>
          <p:cNvSpPr/>
          <p:nvPr/>
        </p:nvSpPr>
        <p:spPr>
          <a:xfrm>
            <a:off x="3017520" y="462960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8" name="Text 16"/>
          <p:cNvSpPr/>
          <p:nvPr/>
        </p:nvSpPr>
        <p:spPr>
          <a:xfrm>
            <a:off x="3355848" y="457200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Résultats reproductibles et données utilisables</a:t>
            </a:r>
            <a:endParaRPr lang="en-US" sz="1410" dirty="0"/>
          </a:p>
        </p:txBody>
      </p:sp>
      <p:sp>
        <p:nvSpPr>
          <p:cNvPr id="19" name="Shape 17"/>
          <p:cNvSpPr/>
          <p:nvPr/>
        </p:nvSpPr>
        <p:spPr>
          <a:xfrm>
            <a:off x="2990088" y="5010912"/>
            <a:ext cx="192024" cy="192024"/>
          </a:xfrm>
          <a:prstGeom prst="ellipse">
            <a:avLst/>
          </a:prstGeom>
          <a:solidFill>
            <a:srgbClr val="D4F086"/>
          </a:solidFill>
          <a:ln w="12700">
            <a:solidFill>
              <a:srgbClr val="D4F086">
                <a:alpha val="0"/>
              </a:srgbClr>
            </a:solidFill>
            <a:prstDash val="solid"/>
          </a:ln>
        </p:spPr>
      </p:sp>
      <p:sp>
        <p:nvSpPr>
          <p:cNvPr id="20" name="Text 18"/>
          <p:cNvSpPr/>
          <p:nvPr/>
        </p:nvSpPr>
        <p:spPr>
          <a:xfrm>
            <a:off x="3017520" y="504108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21" name="Text 19"/>
          <p:cNvSpPr/>
          <p:nvPr/>
        </p:nvSpPr>
        <p:spPr>
          <a:xfrm>
            <a:off x="3355848" y="498348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Aucun blocage de droits, sécurité ou RGPD</a:t>
            </a:r>
            <a:endParaRPr lang="en-US" sz="1410" dirty="0"/>
          </a:p>
        </p:txBody>
      </p:sp>
      <p:sp>
        <p:nvSpPr>
          <p:cNvPr id="22" name="Shape 20"/>
          <p:cNvSpPr/>
          <p:nvPr/>
        </p:nvSpPr>
        <p:spPr>
          <a:xfrm>
            <a:off x="630936" y="5788152"/>
            <a:ext cx="10936224" cy="493776"/>
          </a:xfrm>
          <a:prstGeom prst="roundRect">
            <a:avLst>
              <a:gd name="adj" fmla="val 24074"/>
            </a:avLst>
          </a:prstGeom>
          <a:solidFill>
            <a:srgbClr val="D4F086"/>
          </a:solidFill>
          <a:ln w="12700">
            <a:solidFill>
              <a:srgbClr val="D4F086">
                <a:alpha val="0"/>
              </a:srgbClr>
            </a:solidFill>
            <a:prstDash val="solid"/>
          </a:ln>
        </p:spPr>
      </p:sp>
      <p:sp>
        <p:nvSpPr>
          <p:cNvPr id="23" name="Text 21"/>
          <p:cNvSpPr/>
          <p:nvPr/>
        </p:nvSpPr>
        <p:spPr>
          <a:xfrm>
            <a:off x="877824" y="5943600"/>
            <a:ext cx="10396728" cy="164592"/>
          </a:xfrm>
          <a:prstGeom prst="rect">
            <a:avLst/>
          </a:prstGeom>
          <a:noFill/>
          <a:ln/>
        </p:spPr>
        <p:txBody>
          <a:bodyPr wrap="square" lIns="0" tIns="0" rIns="0" bIns="0" rtlCol="0" anchor="ctr">
            <a:normAutofit/>
          </a:bodyPr>
          <a:lstStyle/>
          <a:p>
            <a:pPr algn="l" indent="0" marL="0">
              <a:buNone/>
            </a:pPr>
            <a:r>
              <a:rPr lang="en-US" sz="1200" b="1" spc="30" kern="0" dirty="0">
                <a:solidFill>
                  <a:srgbClr val="17221F"/>
                </a:solidFill>
                <a:latin typeface="Inter" pitchFamily="34" charset="0"/>
                <a:ea typeface="Inter" pitchFamily="34" charset="-122"/>
                <a:cs typeface="Inter" pitchFamily="34" charset="-120"/>
              </a:rPr>
              <a:t>DEMANDE AU COMEX  →  FEU VERT CONDITIONNEL POUR UN POC DE 15 JOURS OUVRÉS</a:t>
            </a:r>
            <a:endParaRPr lang="en-US" sz="1200" dirty="0"/>
          </a:p>
        </p:txBody>
      </p:sp>
      <p:sp>
        <p:nvSpPr>
          <p:cNvPr id="24" name="Text 22"/>
          <p:cNvSpPr/>
          <p:nvPr/>
        </p:nvSpPr>
        <p:spPr>
          <a:xfrm>
            <a:off x="640080" y="6528816"/>
            <a:ext cx="10058400" cy="128016"/>
          </a:xfrm>
          <a:prstGeom prst="rect">
            <a:avLst/>
          </a:prstGeom>
          <a:noFill/>
          <a:ln/>
        </p:spPr>
        <p:txBody>
          <a:bodyPr wrap="square" lIns="0" tIns="0" rIns="0" bIns="0" rtlCol="0" anchor="ctr">
            <a:normAutofit/>
          </a:bodyPr>
          <a:lstStyle/>
          <a:p>
            <a:pPr algn="l" indent="0" marL="0">
              <a:buNone/>
            </a:pPr>
            <a:r>
              <a:rPr lang="en-US" sz="890" spc="80" kern="0" dirty="0">
                <a:solidFill>
                  <a:srgbClr val="A7BCA9"/>
                </a:solidFill>
                <a:latin typeface="Inter" pitchFamily="34" charset="0"/>
                <a:ea typeface="Inter" pitchFamily="34" charset="-122"/>
                <a:cs typeface="Inter" pitchFamily="34" charset="-120"/>
              </a:rPr>
              <a:t>HYPOTHÈSES DE CADRAGE — SEUILS ET MOYENS À VALIDER AVANT LANCEMENT</a:t>
            </a:r>
            <a:endParaRPr lang="en-US" sz="89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ANNEXE  /  TRAÇABILITÉ</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Annexe — hypothèses et sources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14</a:t>
            </a:r>
            <a:endParaRPr lang="en-US" sz="900" dirty="0"/>
          </a:p>
        </p:txBody>
      </p:sp>
      <p:sp>
        <p:nvSpPr>
          <p:cNvPr id="8" name="Text 6"/>
          <p:cNvSpPr/>
          <p:nvPr/>
        </p:nvSpPr>
        <p:spPr>
          <a:xfrm>
            <a:off x="621792" y="1892808"/>
            <a:ext cx="5193792" cy="365760"/>
          </a:xfrm>
          <a:prstGeom prst="rect">
            <a:avLst/>
          </a:prstGeom>
          <a:noFill/>
          <a:ln/>
        </p:spPr>
        <p:txBody>
          <a:bodyPr wrap="square" lIns="0" tIns="0" rIns="0" bIns="0" rtlCol="0" anchor="ctr">
            <a:normAutofit/>
          </a:bodyPr>
          <a:lstStyle/>
          <a:p>
            <a:pPr algn="l" indent="0" marL="0">
              <a:buNone/>
            </a:pPr>
            <a:r>
              <a:rPr lang="en-US" sz="1900" b="1" dirty="0">
                <a:solidFill>
                  <a:srgbClr val="17221F"/>
                </a:solidFill>
                <a:latin typeface="Inter" pitchFamily="34" charset="0"/>
                <a:ea typeface="Inter" pitchFamily="34" charset="-122"/>
                <a:cs typeface="Inter" pitchFamily="34" charset="-120"/>
              </a:rPr>
              <a:t>Données métier communiquées</a:t>
            </a:r>
            <a:endParaRPr lang="en-US" sz="1900" dirty="0"/>
          </a:p>
        </p:txBody>
      </p:sp>
      <p:sp>
        <p:nvSpPr>
          <p:cNvPr id="9" name="Shape 7"/>
          <p:cNvSpPr/>
          <p:nvPr/>
        </p:nvSpPr>
        <p:spPr>
          <a:xfrm>
            <a:off x="676656" y="2542032"/>
            <a:ext cx="109728" cy="109728"/>
          </a:xfrm>
          <a:prstGeom prst="ellipse">
            <a:avLst/>
          </a:prstGeom>
          <a:solidFill>
            <a:srgbClr val="82AE99"/>
          </a:solidFill>
          <a:ln w="12700">
            <a:solidFill>
              <a:srgbClr val="82AE99">
                <a:alpha val="0"/>
              </a:srgbClr>
            </a:solidFill>
            <a:prstDash val="solid"/>
          </a:ln>
        </p:spPr>
      </p:sp>
      <p:sp>
        <p:nvSpPr>
          <p:cNvPr id="10" name="Text 8"/>
          <p:cNvSpPr/>
          <p:nvPr/>
        </p:nvSpPr>
        <p:spPr>
          <a:xfrm>
            <a:off x="905256" y="2478024"/>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Expression des besoins Fashion-Insta (Alicia) : chiffres 2024, besoins, données disponibles, 3 j-h d’extraction.</a:t>
            </a:r>
            <a:endParaRPr lang="en-US" sz="1160" dirty="0"/>
          </a:p>
        </p:txBody>
      </p:sp>
      <p:sp>
        <p:nvSpPr>
          <p:cNvPr id="11" name="Shape 9"/>
          <p:cNvSpPr/>
          <p:nvPr/>
        </p:nvSpPr>
        <p:spPr>
          <a:xfrm>
            <a:off x="676656" y="3054096"/>
            <a:ext cx="109728" cy="109728"/>
          </a:xfrm>
          <a:prstGeom prst="ellipse">
            <a:avLst/>
          </a:prstGeom>
          <a:solidFill>
            <a:srgbClr val="82AE99"/>
          </a:solidFill>
          <a:ln w="12700">
            <a:solidFill>
              <a:srgbClr val="82AE99">
                <a:alpha val="0"/>
              </a:srgbClr>
            </a:solidFill>
            <a:prstDash val="solid"/>
          </a:ln>
        </p:spPr>
      </p:sp>
      <p:sp>
        <p:nvSpPr>
          <p:cNvPr id="12" name="Text 10"/>
          <p:cNvSpPr/>
          <p:nvPr/>
        </p:nvSpPr>
        <p:spPr>
          <a:xfrm>
            <a:off x="905256" y="2990088"/>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docs/01_analyse_besoins_metier.md</a:t>
            </a:r>
            <a:endParaRPr lang="en-US" sz="1160" dirty="0"/>
          </a:p>
        </p:txBody>
      </p:sp>
      <p:sp>
        <p:nvSpPr>
          <p:cNvPr id="13" name="Shape 11"/>
          <p:cNvSpPr/>
          <p:nvPr/>
        </p:nvSpPr>
        <p:spPr>
          <a:xfrm>
            <a:off x="676656" y="3566160"/>
            <a:ext cx="109728" cy="109728"/>
          </a:xfrm>
          <a:prstGeom prst="ellipse">
            <a:avLst/>
          </a:prstGeom>
          <a:solidFill>
            <a:srgbClr val="82AE99"/>
          </a:solidFill>
          <a:ln w="12700">
            <a:solidFill>
              <a:srgbClr val="82AE99">
                <a:alpha val="0"/>
              </a:srgbClr>
            </a:solidFill>
            <a:prstDash val="solid"/>
          </a:ln>
        </p:spPr>
      </p:sp>
      <p:sp>
        <p:nvSpPr>
          <p:cNvPr id="14" name="Text 12"/>
          <p:cNvSpPr/>
          <p:nvPr/>
        </p:nvSpPr>
        <p:spPr>
          <a:xfrm>
            <a:off x="905256" y="3502152"/>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docs/02_perimetre_poc.md</a:t>
            </a:r>
            <a:endParaRPr lang="en-US" sz="1160" dirty="0"/>
          </a:p>
        </p:txBody>
      </p:sp>
      <p:sp>
        <p:nvSpPr>
          <p:cNvPr id="15" name="Shape 13"/>
          <p:cNvSpPr/>
          <p:nvPr/>
        </p:nvSpPr>
        <p:spPr>
          <a:xfrm>
            <a:off x="676656" y="4078224"/>
            <a:ext cx="109728" cy="109728"/>
          </a:xfrm>
          <a:prstGeom prst="ellipse">
            <a:avLst/>
          </a:prstGeom>
          <a:solidFill>
            <a:srgbClr val="82AE99"/>
          </a:solidFill>
          <a:ln w="12700">
            <a:solidFill>
              <a:srgbClr val="82AE99">
                <a:alpha val="0"/>
              </a:srgbClr>
            </a:solidFill>
            <a:prstDash val="solid"/>
          </a:ln>
        </p:spPr>
      </p:sp>
      <p:sp>
        <p:nvSpPr>
          <p:cNvPr id="16" name="Text 14"/>
          <p:cNvSpPr/>
          <p:nvPr/>
        </p:nvSpPr>
        <p:spPr>
          <a:xfrm>
            <a:off x="905256" y="4014216"/>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docs/03_approches_techniques_poc.md</a:t>
            </a:r>
            <a:endParaRPr lang="en-US" sz="1160" dirty="0"/>
          </a:p>
        </p:txBody>
      </p:sp>
      <p:sp>
        <p:nvSpPr>
          <p:cNvPr id="17" name="Shape 15"/>
          <p:cNvSpPr/>
          <p:nvPr/>
        </p:nvSpPr>
        <p:spPr>
          <a:xfrm>
            <a:off x="676656" y="4590288"/>
            <a:ext cx="109728" cy="109728"/>
          </a:xfrm>
          <a:prstGeom prst="ellipse">
            <a:avLst/>
          </a:prstGeom>
          <a:solidFill>
            <a:srgbClr val="82AE99"/>
          </a:solidFill>
          <a:ln w="12700">
            <a:solidFill>
              <a:srgbClr val="82AE99">
                <a:alpha val="0"/>
              </a:srgbClr>
            </a:solidFill>
            <a:prstDash val="solid"/>
          </a:ln>
        </p:spPr>
      </p:sp>
      <p:sp>
        <p:nvSpPr>
          <p:cNvPr id="18" name="Text 16"/>
          <p:cNvSpPr/>
          <p:nvPr/>
        </p:nvSpPr>
        <p:spPr>
          <a:xfrm>
            <a:off x="905256" y="4526280"/>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docs/04_criteres_succes_ressources_planification.md</a:t>
            </a:r>
            <a:endParaRPr lang="en-US" sz="1160" dirty="0"/>
          </a:p>
        </p:txBody>
      </p:sp>
      <p:sp>
        <p:nvSpPr>
          <p:cNvPr id="19" name="Text 17"/>
          <p:cNvSpPr/>
          <p:nvPr/>
        </p:nvSpPr>
        <p:spPr>
          <a:xfrm>
            <a:off x="621792" y="5148072"/>
            <a:ext cx="7525512" cy="32004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Références techniques Microsoft</a:t>
            </a:r>
            <a:endParaRPr lang="en-US" sz="1600" dirty="0"/>
          </a:p>
        </p:txBody>
      </p:sp>
      <p:sp>
        <p:nvSpPr>
          <p:cNvPr id="20" name="Text 18"/>
          <p:cNvSpPr/>
          <p:nvPr/>
        </p:nvSpPr>
        <p:spPr>
          <a:xfrm>
            <a:off x="667512" y="5550408"/>
            <a:ext cx="10927080" cy="210312"/>
          </a:xfrm>
          <a:prstGeom prst="rect">
            <a:avLst/>
          </a:prstGeom>
          <a:noFill/>
          <a:ln/>
        </p:spPr>
        <p:txBody>
          <a:bodyPr wrap="square" lIns="0" tIns="0" rIns="0" bIns="0" rtlCol="0" anchor="ctr">
            <a:normAutofit/>
          </a:bodyPr>
          <a:lstStyle/>
          <a:p>
            <a:pPr algn="l" indent="0" marL="0">
              <a:buNone/>
            </a:pPr>
            <a:r>
              <a:rPr lang="en-US" sz="970" dirty="0">
                <a:solidFill>
                  <a:srgbClr val="607069"/>
                </a:solidFill>
                <a:latin typeface="Inter" pitchFamily="34" charset="0"/>
                <a:ea typeface="Inter" pitchFamily="34" charset="-122"/>
                <a:cs typeface="Inter" pitchFamily="34" charset="-120"/>
              </a:rPr>
              <a:t>Azure Machine Learning : https://learn.microsoft.com/azure/machine-learning/how-to-deploy-online-endpoints</a:t>
            </a:r>
            <a:endParaRPr lang="en-US" sz="970" dirty="0"/>
          </a:p>
        </p:txBody>
      </p:sp>
      <p:sp>
        <p:nvSpPr>
          <p:cNvPr id="21" name="Text 19"/>
          <p:cNvSpPr/>
          <p:nvPr/>
        </p:nvSpPr>
        <p:spPr>
          <a:xfrm>
            <a:off x="667512" y="5833872"/>
            <a:ext cx="10835640" cy="210312"/>
          </a:xfrm>
          <a:prstGeom prst="rect">
            <a:avLst/>
          </a:prstGeom>
          <a:noFill/>
          <a:ln/>
        </p:spPr>
        <p:txBody>
          <a:bodyPr wrap="square" lIns="0" tIns="0" rIns="0" bIns="0" rtlCol="0" anchor="ctr">
            <a:normAutofit/>
          </a:bodyPr>
          <a:lstStyle/>
          <a:p>
            <a:pPr algn="l" indent="0" marL="0">
              <a:buNone/>
            </a:pPr>
            <a:r>
              <a:rPr lang="en-US" sz="970" dirty="0">
                <a:solidFill>
                  <a:srgbClr val="607069"/>
                </a:solidFill>
                <a:latin typeface="Inter" pitchFamily="34" charset="0"/>
                <a:ea typeface="Inter" pitchFamily="34" charset="-122"/>
                <a:cs typeface="Inter" pitchFamily="34" charset="-120"/>
              </a:rPr>
              <a:t>Azure AI Search : https://learn.microsoft.com/fr-fr/azure/search/vector-search-how-to-query</a:t>
            </a:r>
            <a:endParaRPr lang="en-US" sz="97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Fashion-Insta (cas pédagogique)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Fashion-Insta | Cadrage du PoC IA – recommandation visuelle</dc:title>
  <dc:subject>Cadrage pour autorisation d’un Proof of Concept IA</dc:subject>
  <dc:creator>Projet OpenClassrooms P11 – Fashion-Insta</dc:creator>
  <cp:lastModifiedBy>Projet OpenClassrooms P11 – Fashion-Insta</cp:lastModifiedBy>
  <cp:revision>1</cp:revision>
  <dcterms:created xsi:type="dcterms:W3CDTF">2026-10-20T09:29:57Z</dcterms:created>
  <dcterms:modified xsi:type="dcterms:W3CDTF">2026-10-20T09:29:57Z</dcterms:modified>
</cp:coreProperties>
</file>