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72" r:id="rId23"/>
    <p:sldId id="278" r:id="rId29"/>
    <p:sldId id="274" r:id="rId25"/>
    <p:sldId id="275" r:id="rId26"/>
    <p:sldId id="276" r:id="rId27"/>
    <p:sldId id="277" r:id="rId28"/>
    <p:sldId id="279" r:id="rId30"/>
    <p:sldId id="280" r:id="rId31"/>
    <p:sldId id="281" r:id="rId32"/>
    <p:sldId id="282" r:id="rId33"/>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17.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p>
          <a:p>
            <a:r>
              <a:t>Compléments Partie 2 : P11_Profils_Data.pdf, System Design Azure AI Search, Azure ML, Azure Data Factory, Azure Monitor.</a:t>
            </a:r>
          </a:p>
          <a:p>
            <a:r>
              <a:t>Partie 2 / timeline : propositions basées sur P11_DS_Template_Timeline.pptx, durées PoC = 3 sem, MVP = 10 sem, Run initial = 4 sem, à valider.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architecture cible de production, distincte du PoC de 120 pantalons/jeans. Le flux utilisateur démarre par la photo et les préférences. Le frontend/compte/achats sont acquis, non chiffrés. Images utilisateur traitées après consentement, minimisation et contrôles d’accès. L’API de recommandation prépare l’image, invoque un modèle multimodal d’embeddings hébergé sur Azure ML, interroge Azure AI Search où sont indexées des images catalogue à l’aide du même modèle, puis classe et filtre par stock/tags/préférences. Retour Top 5, suivi avis et clics/achats agrégés. Pour la fonctionnalité essayage sur photo et variations, évaluer une brique spécialisée de génération d’images et non supposer que Stable Diffusion de base garantit une fidélité produit. Flux hors ligne : sources catalogue/images/prix/tags/stocks &gt; Data Factory &gt; stockage Blob + Azure SQL &gt; Azure ML batch &gt; index Azure AI Search. L’ajout de préférences blogs/tendances doit respecter droits d’accès et de réutilisation. Environ 400k utilisateurs actifs annuels estimés (au moins une fois par an), pas 400k MAU. Prévoir pics d’usage, appels par session, temps de réponse, monitoring et coût à la requête. Sources : https://learn.microsoft.com/en-us/azure/search/multimodal-search-overview ; https://learn.microsoft.com/en-us/azure/machine-learning/how-to-deploy-managed-online-endpoints ; https://learn.microsoft.com/en-us/azure/data-factory/concepts-pipelines-activities ; https://learn.microsoft.com/en-us/azure/machine-learning/concept-model-monitoring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Effectifs et coûts salariaux par jour extraits de P11_Profils_Data.pdf : 3 Data Scientists (350 €/j chacun), 2 Data Engineers (370 €/j chacun), 1 Tech Lead Data (400 €/j), 1 MLOps (360 €/j). Le tableau attribue les pilotes construction et exploitation, mais les participations exactes seront dimensionnées en jours-homme dans les étapes suivantes. Éléments purement software acquis / hors estimation : comptes, frontend mobile, e-commerce. Séparation de responsabilités : le Data Engineer construit l’ingestion et garantit la qualité, le Data Scientist conçoit et évalue la recommandation et les options génératives, le Tech Lead définit l’architecture et arbitre les risques et les coûts, le MLOps est responsable des déploiements, de l’industrialisation et du monitoring. La gouvernance des données personnelles relève également des fonctions juridiques / DPO et du Product en transversal ; aucun personnel DPO n’est comptabilisé dans les effectifs Data. Sourcing : P11_Profils_Data.pdf, document officiel du projet.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taux affichés correspondent à la charge moyenne par personne et par phase. Les sept collaborateurs n’interviennent pas tous à temps plein. Le Copil réunit Alicia, représentants métiers, Tech Lead et décideurs, tandis que le Coproj hebdomadaire est opérationnel. Les cérémonies S3/S8/S13/S17 incluent une validation de la pertinence métier.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 profils Fashion-Insta, documents 05 et 06. Calculs en euros : PoC 10 860 + 400 = 11 260 ; MVP 65 400 + 2 500 = 67 900 ; Run initial 13 100 + 700 = 13 800 ; lancement 92 960. Le coût de Run stabilisé est postérieur à la semaine 17, avec 6 560 € de ressources humaines et 1 800 € de cloud par mois. Ventilation de 1 800 € : Compute et capacité managée = ML online 700 + ML batch 150 + AI Search 300 + Azure SQL 180 + Data Factory 120 = 1 450 €. Stockage Blob = 100 €. Services transverses = Monitor/Key Vault 100 + réseau 150 = 250 €. Les SKU Azure, engagements, haute disponibilité et volumes de photos ne sont pas validés. Le stockage inclus dans SQL/Search est intégré à leurs forfaits et non isolé. Aucun coût d’essayage virtuel génératif ni de mobile. Documentation Microsoft: https://learn.microsoft.com/en-us/azure/machine-learning/concept-endpoints?view=azureml-api-2 ; https://azure.microsoft.com/fr-fr/pricing/calculator/.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fournies : 5,2 M€ CA web +14% = 728 000 € ; magasins +4% = 208 000 €, soit 936 000 € de CA annualisé additionnel à 24 mois. Modèle central : marge contributive 30%, taux moyen de réalisation 25%,75%,100%,100%,100%; coût initial 92 960€, puis 35 semaines sur 52 de Run la première année (soit 67 523€), et 100 320€/an ensuite. En fin A2 : marge cumulée 280 800€, coûts cumulés 260 803€, solde +19 997€. Le résultat est illustratif, ni devis, ni rentabilité totale de l’application. Pour sensibilité, 20% de marge: -73 603€ en A2. Azure à 4 000€/mois au lieu de 1 800€/mois, en gardant le reste fixe : Run annuel 126 720€, seuil de rentabilité plus tardif. Le trafic peut augmenter et forcer un re-dimensionnement Compute/Storage. Sources: docs/05, 06, 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explicite notre hypothèse de trafic : 400 000 utilisateurs annuels, cinq recommandations par personne, soit deux millions par an. Le facteur de pointe x20 est un test exploratoire et non une mesure. Les décisions de SKU, autoscaling, tolérance aux pannes et SLA doivent être appuyées par des tests lors du MVP.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sensibilité montre que l'estimation de la rentabilité en année 2 dépend fortement de la marge commerciale et du coût Azure. L'étude ne porte que sur Data/IA, le développement de l'application mobile et la génération d'images n'étant pas budgétés. Les montants ne sont pas des devis officiels.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profil n’est à 100 % : cela évite d’engager une ressource entière sans justification. Le MLOps atteint 70 % durant la stabilisation, mais le risque de point de défaillance unique doit être explicité et compensé par la documentation des astreintes, l’automatisation et l’appui Tech Lead. Le mode shadow ne change pas les résultats vus par les clients ; puis une diffusion canary pilote un faible segment, avec rollback possible. Les taux sont à confirmer par le responsable RH/Tech Lead.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txBody>
          <a:bodyPr/>
          <a:p/>
        </p:txBody>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txBody>
          <a:bodyPr/>
          <a:p/>
        </p:txBody>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 PoC et trajectoire Data /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txBody>
          <a:bodyPr/>
          <a:p/>
        </p:txBody>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txBody>
          <a:bodyPr/>
          <a:p/>
        </p:txBody>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txBody>
          <a:bodyPr/>
          <a:p/>
        </p:txBody>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txBody>
          <a:bodyPr/>
          <a:p/>
        </p:txBody>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mobilisant quatre profils Data.</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txBody>
          <a:bodyPr/>
          <a:p/>
        </p:txBody>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r>
              <a:t>À valider : données, accès Azure, enveloppe Data/IA, marge contributive et trajectoire des ventes.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
        <p:nvSpPr>
          <p:cNvPr id="23" name="TextBox 22"/>
          <p:cNvSpPr txBox="1"/>
          <p:nvPr/>
        </p:nvSpPr>
        <p:spPr>
          <a:xfrm>
            <a:off x="914400" y="5129784"/>
            <a:ext cx="10698480" cy="182880"/>
          </a:xfrm>
          <a:prstGeom prst="rect">
            <a:avLst/>
          </a:prstGeom>
          <a:noFill/>
        </p:spPr>
        <p:txBody>
          <a:bodyPr wrap="square" lIns="18288" rIns="18288" tIns="9144" bIns="0">
            <a:spAutoFit/>
          </a:bodyPr>
          <a:lstStyle/>
          <a:p>
            <a:pPr>
              <a:defRPr sz="1120" b="1">
                <a:solidFill>
                  <a:srgbClr val="17221F"/>
                </a:solidFill>
                <a:latin typeface="Inter"/>
              </a:defRPr>
            </a:pPr>
            <a:r>
              <a:t>11 magasins   ·   950 000 visiteurs web uniques/an   ·   875 références / 9 catégories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Catalogue encodé en BATCH ; photo utilisateur encodée à la demande pour la recherche en ligne.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txBody>
          <a:bodyPr/>
          <a:p/>
        </p:txBody>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txBody>
          <a:bodyPr/>
          <a:p/>
        </p:txBody>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txBody>
          <a:bodyPr/>
          <a:p/>
        </p:txBody>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txBody>
          <a:bodyPr/>
          <a:p/>
        </p:txBody>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sur les quatre profils Data</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(3)</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0" name="Shape 8"/>
          <p:cNvSpPr/>
          <p:nvPr/>
        </p:nvSpPr>
        <p:spPr>
          <a:xfrm>
            <a:off x="4114800" y="2016252"/>
            <a:ext cx="6126480" cy="201168"/>
          </a:xfrm>
          <a:prstGeom prst="roundRect">
            <a:avLst>
              <a:gd name="adj" fmla="val 31818"/>
            </a:avLst>
          </a:prstGeom>
          <a:solidFill>
            <a:srgbClr val="17221F"/>
          </a:solidFill>
          <a:ln w="12700">
            <a:solidFill>
              <a:srgbClr val="17221F">
                <a:alpha val="0"/>
              </a:srgbClr>
            </a:solidFill>
            <a:prstDash val="solid"/>
          </a:ln>
        </p:spPr>
        <p:txBody>
          <a:bodyPr/>
          <a:p/>
        </p:txBody>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16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 (2)</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4" name="Shape 12"/>
          <p:cNvSpPr/>
          <p:nvPr/>
        </p:nvSpPr>
        <p:spPr>
          <a:xfrm>
            <a:off x="4114800" y="2537460"/>
            <a:ext cx="2295144"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6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Tech Lead Data (1)</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8" name="Shape 16"/>
          <p:cNvSpPr/>
          <p:nvPr/>
        </p:nvSpPr>
        <p:spPr>
          <a:xfrm>
            <a:off x="4114800" y="3058668"/>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MLOps Engineer (1)</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2" name="Shape 20"/>
          <p:cNvSpPr/>
          <p:nvPr/>
        </p:nvSpPr>
        <p:spPr>
          <a:xfrm>
            <a:off x="4114800" y="3579876"/>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Alicia / évaluateurs métier</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6" name="Shape 24"/>
          <p:cNvSpPr/>
          <p:nvPr/>
        </p:nvSpPr>
        <p:spPr>
          <a:xfrm>
            <a:off x="4114800" y="4101084"/>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7" name="Text 25"/>
          <p:cNvSpPr/>
          <p:nvPr/>
        </p:nvSpPr>
        <p:spPr>
          <a:xfrm>
            <a:off x="9784080" y="4069080"/>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DPO / sécurité / produit</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30" name="Shape 28"/>
          <p:cNvSpPr/>
          <p:nvPr/>
        </p:nvSpPr>
        <p:spPr>
          <a:xfrm>
            <a:off x="4114800" y="4622292"/>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31" name="Text 29"/>
          <p:cNvSpPr/>
          <p:nvPr/>
        </p:nvSpPr>
        <p:spPr>
          <a:xfrm>
            <a:off x="9784080" y="4590288"/>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txBody>
          <a:bodyPr/>
          <a:p/>
        </p:txBody>
      </p:sp>
      <p:sp>
        <p:nvSpPr>
          <p:cNvPr id="33" name="Text 31"/>
          <p:cNvSpPr/>
          <p:nvPr/>
        </p:nvSpPr>
        <p:spPr>
          <a:xfrm>
            <a:off x="786384" y="5486400"/>
            <a:ext cx="6492240" cy="182880"/>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Inter" pitchFamily="34" charset="0"/>
                <a:ea typeface="Inter" pitchFamily="34" charset="-122"/>
                <a:cs typeface="Inter" pitchFamily="34" charset="-120"/>
              </a:rPr>
              <a:t>Fonctions métier, RGPD et produit : hors chiffrage Data/IA</a:t>
            </a:r>
            <a:endParaRPr lang="en-US" sz="1300" dirty="0"/>
          </a:p>
        </p:txBody>
      </p:sp>
      <p:sp>
        <p:nvSpPr>
          <p:cNvPr id="34" name="Text 32"/>
          <p:cNvSpPr/>
          <p:nvPr/>
        </p:nvSpPr>
        <p:spPr>
          <a:xfrm>
            <a:off x="7360920" y="5468112"/>
            <a:ext cx="3886200" cy="228600"/>
          </a:xfrm>
          <a:prstGeom prst="rect">
            <a:avLst/>
          </a:prstGeom>
          <a:noFill/>
          <a:ln/>
        </p:spPr>
        <p:txBody>
          <a:bodyPr wrap="square" lIns="0" tIns="0" rIns="0" bIns="0" rtlCol="0" anchor="ctr">
            <a:normAutofit/>
          </a:bodyPr>
          <a:lstStyle/>
          <a:p>
            <a:pPr algn="r" indent="0" marL="0">
              <a:buNone/>
            </a:pPr>
            <a:r>
              <a:rPr lang="en-US" sz="1000" dirty="0">
                <a:solidFill>
                  <a:srgbClr val="DFE8DF"/>
                </a:solidFill>
                <a:latin typeface="Inter" pitchFamily="34" charset="0"/>
                <a:ea typeface="Inter" pitchFamily="34" charset="-122"/>
                <a:cs typeface="Inter" pitchFamily="34" charset="-120"/>
              </a:rPr>
              <a:t>PoC : 10 860 € d’équipe Data ; Azure estimatif : +400 €</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12  /  ARCHITECTURE DE PRODUCTION</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chaîne Data / IA de bout en bout</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Flux ONLINE : réponse aux photos clients   |   Flux BATCH : préparation et mise à jour du catalogue.</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14</a:t>
            </a:r>
          </a:p>
        </p:txBody>
      </p:sp>
      <p:sp>
        <p:nvSpPr>
          <p:cNvPr id="9" name="TextBox 8"/>
          <p:cNvSpPr txBox="1"/>
          <p:nvPr/>
        </p:nvSpPr>
        <p:spPr>
          <a:xfrm>
            <a:off x="621792" y="2112264"/>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EN LIGNE — DE LA PHOTO À LA RECOMMANDATION</a:t>
            </a:r>
          </a:p>
        </p:txBody>
      </p:sp>
      <p:sp>
        <p:nvSpPr>
          <p:cNvPr id="10" name="Rounded Rectangle 9"/>
          <p:cNvSpPr/>
          <p:nvPr/>
        </p:nvSpPr>
        <p:spPr>
          <a:xfrm>
            <a:off x="630936" y="2331720"/>
            <a:ext cx="1892807" cy="1033271"/>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FFFFFF"/>
                </a:solidFill>
                <a:latin typeface="Inter"/>
              </a:rPr>
              <a:t>ENTRÉE CLIENT</a:t>
            </a:r>
          </a:p>
        </p:txBody>
      </p:sp>
      <p:sp>
        <p:nvSpPr>
          <p:cNvPr id="12" name="TextBox 11"/>
          <p:cNvSpPr txBox="1"/>
          <p:nvPr/>
        </p:nvSpPr>
        <p:spPr>
          <a:xfrm>
            <a:off x="740664"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FFFFFF"/>
                </a:solidFill>
                <a:latin typeface="Inter"/>
              </a:rPr>
              <a:t>Photo / garde-robe,</a:t>
            </a:r>
          </a:p>
          <a:p>
            <a:pPr algn="ctr">
              <a:spcAft>
                <a:spcPts val="0"/>
              </a:spcAft>
            </a:pPr>
            <a:r>
              <a:rPr sz="1010" b="0">
                <a:solidFill>
                  <a:srgbClr val="FFFFFF"/>
                </a:solidFill>
                <a:latin typeface="Inter"/>
              </a:rPr>
              <a:t>styles, marques, blogs</a:t>
            </a:r>
          </a:p>
        </p:txBody>
      </p:sp>
      <p:sp>
        <p:nvSpPr>
          <p:cNvPr id="13" name="TextBox 12"/>
          <p:cNvSpPr txBox="1"/>
          <p:nvPr/>
        </p:nvSpPr>
        <p:spPr>
          <a:xfrm>
            <a:off x="731519"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FFFFFF"/>
                </a:solidFill>
                <a:latin typeface="Inter"/>
              </a:rPr>
              <a:t>APP MOBILE *</a:t>
            </a:r>
          </a:p>
        </p:txBody>
      </p:sp>
      <p:sp>
        <p:nvSpPr>
          <p:cNvPr id="14" name="TextBox 13"/>
          <p:cNvSpPr txBox="1"/>
          <p:nvPr/>
        </p:nvSpPr>
        <p:spPr>
          <a:xfrm>
            <a:off x="2532887"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15" name="Rounded Rectangle 14"/>
          <p:cNvSpPr/>
          <p:nvPr/>
        </p:nvSpPr>
        <p:spPr>
          <a:xfrm>
            <a:off x="2889504"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ORCHESTRATION</a:t>
            </a:r>
          </a:p>
        </p:txBody>
      </p:sp>
      <p:sp>
        <p:nvSpPr>
          <p:cNvPr id="17" name="TextBox 16"/>
          <p:cNvSpPr txBox="1"/>
          <p:nvPr/>
        </p:nvSpPr>
        <p:spPr>
          <a:xfrm>
            <a:off x="2999232"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Consentement, accès</a:t>
            </a:r>
          </a:p>
          <a:p>
            <a:pPr algn="ctr">
              <a:spcAft>
                <a:spcPts val="0"/>
              </a:spcAft>
            </a:pPr>
            <a:r>
              <a:rPr sz="1010" b="0">
                <a:solidFill>
                  <a:srgbClr val="607069"/>
                </a:solidFill>
                <a:latin typeface="Inter"/>
              </a:rPr>
              <a:t>et prétraitement</a:t>
            </a:r>
          </a:p>
        </p:txBody>
      </p:sp>
      <p:sp>
        <p:nvSpPr>
          <p:cNvPr id="18" name="TextBox 17"/>
          <p:cNvSpPr txBox="1"/>
          <p:nvPr/>
        </p:nvSpPr>
        <p:spPr>
          <a:xfrm>
            <a:off x="2990088"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API DATA / IA</a:t>
            </a:r>
          </a:p>
        </p:txBody>
      </p:sp>
      <p:sp>
        <p:nvSpPr>
          <p:cNvPr id="19" name="TextBox 18"/>
          <p:cNvSpPr txBox="1"/>
          <p:nvPr/>
        </p:nvSpPr>
        <p:spPr>
          <a:xfrm>
            <a:off x="4791456"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0" name="Rounded Rectangle 19"/>
          <p:cNvSpPr/>
          <p:nvPr/>
        </p:nvSpPr>
        <p:spPr>
          <a:xfrm>
            <a:off x="5148072"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VISION</a:t>
            </a:r>
          </a:p>
        </p:txBody>
      </p:sp>
      <p:sp>
        <p:nvSpPr>
          <p:cNvPr id="22" name="TextBox 21"/>
          <p:cNvSpPr txBox="1"/>
          <p:nvPr/>
        </p:nvSpPr>
        <p:spPr>
          <a:xfrm>
            <a:off x="5257800"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 image / attributs</a:t>
            </a:r>
          </a:p>
          <a:p>
            <a:pPr algn="ctr">
              <a:spcAft>
                <a:spcPts val="0"/>
              </a:spcAft>
            </a:pPr>
            <a:r>
              <a:rPr sz="1010" b="0">
                <a:solidFill>
                  <a:srgbClr val="607069"/>
                </a:solidFill>
                <a:latin typeface="Inter"/>
              </a:rPr>
              <a:t>modèle préentraîné</a:t>
            </a:r>
          </a:p>
        </p:txBody>
      </p:sp>
      <p:sp>
        <p:nvSpPr>
          <p:cNvPr id="23" name="TextBox 22"/>
          <p:cNvSpPr txBox="1"/>
          <p:nvPr/>
        </p:nvSpPr>
        <p:spPr>
          <a:xfrm>
            <a:off x="5248656"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a:t>
            </a:r>
          </a:p>
        </p:txBody>
      </p:sp>
      <p:sp>
        <p:nvSpPr>
          <p:cNvPr id="24" name="TextBox 23"/>
          <p:cNvSpPr txBox="1"/>
          <p:nvPr/>
        </p:nvSpPr>
        <p:spPr>
          <a:xfrm>
            <a:off x="7050023"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5" name="Rounded Rectangle 24"/>
          <p:cNvSpPr/>
          <p:nvPr/>
        </p:nvSpPr>
        <p:spPr>
          <a:xfrm>
            <a:off x="7406640"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6367"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CLASSEMENT</a:t>
            </a:r>
          </a:p>
        </p:txBody>
      </p:sp>
      <p:sp>
        <p:nvSpPr>
          <p:cNvPr id="27" name="TextBox 26"/>
          <p:cNvSpPr txBox="1"/>
          <p:nvPr/>
        </p:nvSpPr>
        <p:spPr>
          <a:xfrm>
            <a:off x="7516367"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Voisins visuels + filtres</a:t>
            </a:r>
          </a:p>
          <a:p>
            <a:pPr algn="ctr">
              <a:spcAft>
                <a:spcPts val="0"/>
              </a:spcAft>
            </a:pPr>
            <a:r>
              <a:rPr sz="1010" b="0">
                <a:solidFill>
                  <a:srgbClr val="607069"/>
                </a:solidFill>
                <a:latin typeface="Inter"/>
              </a:rPr>
              <a:t>stock, tags, marques</a:t>
            </a:r>
          </a:p>
        </p:txBody>
      </p:sp>
      <p:sp>
        <p:nvSpPr>
          <p:cNvPr id="28" name="TextBox 27"/>
          <p:cNvSpPr txBox="1"/>
          <p:nvPr/>
        </p:nvSpPr>
        <p:spPr>
          <a:xfrm>
            <a:off x="7507223" y="3090672"/>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sp>
        <p:nvSpPr>
          <p:cNvPr id="29" name="TextBox 28"/>
          <p:cNvSpPr txBox="1"/>
          <p:nvPr/>
        </p:nvSpPr>
        <p:spPr>
          <a:xfrm>
            <a:off x="9308592"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30" name="Rounded Rectangle 29"/>
          <p:cNvSpPr/>
          <p:nvPr/>
        </p:nvSpPr>
        <p:spPr>
          <a:xfrm>
            <a:off x="9665208" y="2331720"/>
            <a:ext cx="1892807" cy="1033271"/>
          </a:xfrm>
          <a:prstGeom prst="roundRect">
            <a:avLst>
              <a:gd name="adj" fmla="val 14000"/>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4936"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RÉSULTAT</a:t>
            </a:r>
          </a:p>
        </p:txBody>
      </p:sp>
      <p:sp>
        <p:nvSpPr>
          <p:cNvPr id="32" name="TextBox 31"/>
          <p:cNvSpPr txBox="1"/>
          <p:nvPr/>
        </p:nvSpPr>
        <p:spPr>
          <a:xfrm>
            <a:off x="9774936"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Top 5, avis client,</a:t>
            </a:r>
          </a:p>
          <a:p>
            <a:pPr algn="ctr">
              <a:spcAft>
                <a:spcPts val="0"/>
              </a:spcAft>
            </a:pPr>
            <a:r>
              <a:rPr sz="1010" b="0">
                <a:solidFill>
                  <a:srgbClr val="607069"/>
                </a:solidFill>
                <a:latin typeface="Inter"/>
              </a:rPr>
              <a:t>lien vers l’achat</a:t>
            </a:r>
          </a:p>
        </p:txBody>
      </p:sp>
      <p:sp>
        <p:nvSpPr>
          <p:cNvPr id="33" name="TextBox 32"/>
          <p:cNvSpPr txBox="1"/>
          <p:nvPr/>
        </p:nvSpPr>
        <p:spPr>
          <a:xfrm>
            <a:off x="9765792"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RETOUR APP *</a:t>
            </a:r>
          </a:p>
        </p:txBody>
      </p:sp>
      <p:sp>
        <p:nvSpPr>
          <p:cNvPr id="34" name="Rounded Rectangle 33"/>
          <p:cNvSpPr/>
          <p:nvPr/>
        </p:nvSpPr>
        <p:spPr>
          <a:xfrm>
            <a:off x="630936" y="3538728"/>
            <a:ext cx="10972800" cy="448056"/>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584448"/>
            <a:ext cx="10561320" cy="347472"/>
          </a:xfrm>
          <a:prstGeom prst="rect">
            <a:avLst/>
          </a:prstGeom>
          <a:noFill/>
        </p:spPr>
        <p:txBody>
          <a:bodyPr wrap="square" lIns="18288" rIns="18288" tIns="9144" bIns="9144" anchor="ctr">
            <a:spAutoFit/>
          </a:bodyPr>
          <a:lstStyle/>
          <a:p>
            <a:pPr algn="l">
              <a:spcAft>
                <a:spcPts val="0"/>
              </a:spcAft>
            </a:pPr>
            <a:r>
              <a:rPr sz="1019" b="0">
                <a:solidFill>
                  <a:srgbClr val="17221F"/>
                </a:solidFill>
                <a:latin typeface="Inter"/>
              </a:rPr>
              <a:t>EXTENSION : essayage sur photo et variantes (couleur / coupe) via IA générative type Stable Diffusion — à évaluer séparément.</a:t>
            </a:r>
          </a:p>
        </p:txBody>
      </p:sp>
      <p:sp>
        <p:nvSpPr>
          <p:cNvPr id="36" name="TextBox 35"/>
          <p:cNvSpPr txBox="1"/>
          <p:nvPr/>
        </p:nvSpPr>
        <p:spPr>
          <a:xfrm>
            <a:off x="621792" y="4197096"/>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DES DONNÉES — DES SOURCES BRUTES À L’INDEX</a:t>
            </a:r>
          </a:p>
        </p:txBody>
      </p:sp>
      <p:sp>
        <p:nvSpPr>
          <p:cNvPr id="37" name="Rounded Rectangle 36"/>
          <p:cNvSpPr/>
          <p:nvPr/>
        </p:nvSpPr>
        <p:spPr>
          <a:xfrm>
            <a:off x="630936"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SI SOURCES</a:t>
            </a:r>
          </a:p>
        </p:txBody>
      </p:sp>
      <p:sp>
        <p:nvSpPr>
          <p:cNvPr id="39" name="TextBox 38"/>
          <p:cNvSpPr txBox="1"/>
          <p:nvPr/>
        </p:nvSpPr>
        <p:spPr>
          <a:xfrm>
            <a:off x="740664"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Images, catalogue,</a:t>
            </a:r>
          </a:p>
          <a:p>
            <a:pPr algn="ctr">
              <a:spcAft>
                <a:spcPts val="0"/>
              </a:spcAft>
            </a:pPr>
            <a:r>
              <a:rPr sz="1010" b="0">
                <a:solidFill>
                  <a:srgbClr val="607069"/>
                </a:solidFill>
                <a:latin typeface="Inter"/>
              </a:rPr>
              <a:t>prix, tags, stocks</a:t>
            </a:r>
          </a:p>
        </p:txBody>
      </p:sp>
      <p:sp>
        <p:nvSpPr>
          <p:cNvPr id="40" name="TextBox 39"/>
          <p:cNvSpPr txBox="1"/>
          <p:nvPr/>
        </p:nvSpPr>
        <p:spPr>
          <a:xfrm>
            <a:off x="731519"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SYSTÈMES INTERNES</a:t>
            </a:r>
          </a:p>
        </p:txBody>
      </p:sp>
      <p:sp>
        <p:nvSpPr>
          <p:cNvPr id="41" name="TextBox 40"/>
          <p:cNvSpPr txBox="1"/>
          <p:nvPr/>
        </p:nvSpPr>
        <p:spPr>
          <a:xfrm>
            <a:off x="2532887"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2" name="Rounded Rectangle 41"/>
          <p:cNvSpPr/>
          <p:nvPr/>
        </p:nvSpPr>
        <p:spPr>
          <a:xfrm>
            <a:off x="2889504"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INGESTION</a:t>
            </a:r>
          </a:p>
        </p:txBody>
      </p:sp>
      <p:sp>
        <p:nvSpPr>
          <p:cNvPr id="44" name="TextBox 43"/>
          <p:cNvSpPr txBox="1"/>
          <p:nvPr/>
        </p:nvSpPr>
        <p:spPr>
          <a:xfrm>
            <a:off x="2999232"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Collecte / jointures,</a:t>
            </a:r>
          </a:p>
          <a:p>
            <a:pPr algn="ctr">
              <a:spcAft>
                <a:spcPts val="0"/>
              </a:spcAft>
            </a:pPr>
            <a:r>
              <a:rPr sz="1010" b="0">
                <a:solidFill>
                  <a:srgbClr val="607069"/>
                </a:solidFill>
                <a:latin typeface="Inter"/>
              </a:rPr>
              <a:t>qualité, droits</a:t>
            </a:r>
          </a:p>
        </p:txBody>
      </p:sp>
      <p:sp>
        <p:nvSpPr>
          <p:cNvPr id="45" name="TextBox 44"/>
          <p:cNvSpPr txBox="1"/>
          <p:nvPr/>
        </p:nvSpPr>
        <p:spPr>
          <a:xfrm>
            <a:off x="2990088"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DATA FACTORY</a:t>
            </a:r>
          </a:p>
        </p:txBody>
      </p:sp>
      <p:sp>
        <p:nvSpPr>
          <p:cNvPr id="46" name="TextBox 45"/>
          <p:cNvSpPr txBox="1"/>
          <p:nvPr/>
        </p:nvSpPr>
        <p:spPr>
          <a:xfrm>
            <a:off x="4791456"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7" name="Rounded Rectangle 46"/>
          <p:cNvSpPr/>
          <p:nvPr/>
        </p:nvSpPr>
        <p:spPr>
          <a:xfrm>
            <a:off x="5148072"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7800"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STOCKAGE</a:t>
            </a:r>
          </a:p>
        </p:txBody>
      </p:sp>
      <p:sp>
        <p:nvSpPr>
          <p:cNvPr id="49" name="TextBox 48"/>
          <p:cNvSpPr txBox="1"/>
          <p:nvPr/>
        </p:nvSpPr>
        <p:spPr>
          <a:xfrm>
            <a:off x="5257800"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Photos, métadonnées,</a:t>
            </a:r>
          </a:p>
          <a:p>
            <a:pPr algn="ctr">
              <a:spcAft>
                <a:spcPts val="0"/>
              </a:spcAft>
            </a:pPr>
            <a:r>
              <a:rPr sz="1010" b="0">
                <a:solidFill>
                  <a:srgbClr val="607069"/>
                </a:solidFill>
                <a:latin typeface="Inter"/>
              </a:rPr>
              <a:t>états du catalogue</a:t>
            </a:r>
          </a:p>
        </p:txBody>
      </p:sp>
      <p:sp>
        <p:nvSpPr>
          <p:cNvPr id="50" name="TextBox 49"/>
          <p:cNvSpPr txBox="1"/>
          <p:nvPr/>
        </p:nvSpPr>
        <p:spPr>
          <a:xfrm>
            <a:off x="5248656"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BLOB + AZURE SQL</a:t>
            </a:r>
          </a:p>
        </p:txBody>
      </p:sp>
      <p:sp>
        <p:nvSpPr>
          <p:cNvPr id="51" name="TextBox 50"/>
          <p:cNvSpPr txBox="1"/>
          <p:nvPr/>
        </p:nvSpPr>
        <p:spPr>
          <a:xfrm>
            <a:off x="7050023"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2" name="Rounded Rectangle 51"/>
          <p:cNvSpPr/>
          <p:nvPr/>
        </p:nvSpPr>
        <p:spPr>
          <a:xfrm>
            <a:off x="7406640"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7"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INDEXATION</a:t>
            </a:r>
          </a:p>
        </p:txBody>
      </p:sp>
      <p:sp>
        <p:nvSpPr>
          <p:cNvPr id="54" name="TextBox 53"/>
          <p:cNvSpPr txBox="1"/>
          <p:nvPr/>
        </p:nvSpPr>
        <p:spPr>
          <a:xfrm>
            <a:off x="7516367"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Vecteurs catalogue</a:t>
            </a:r>
          </a:p>
          <a:p>
            <a:pPr algn="ctr">
              <a:spcAft>
                <a:spcPts val="0"/>
              </a:spcAft>
            </a:pPr>
            <a:r>
              <a:rPr sz="1010" b="0">
                <a:solidFill>
                  <a:srgbClr val="607069"/>
                </a:solidFill>
                <a:latin typeface="Inter"/>
              </a:rPr>
              <a:t>calculés en lot</a:t>
            </a:r>
          </a:p>
        </p:txBody>
      </p:sp>
      <p:sp>
        <p:nvSpPr>
          <p:cNvPr id="55" name="TextBox 54"/>
          <p:cNvSpPr txBox="1"/>
          <p:nvPr/>
        </p:nvSpPr>
        <p:spPr>
          <a:xfrm>
            <a:off x="7507223"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 BATCH</a:t>
            </a:r>
          </a:p>
        </p:txBody>
      </p:sp>
      <p:sp>
        <p:nvSpPr>
          <p:cNvPr id="56" name="TextBox 55"/>
          <p:cNvSpPr txBox="1"/>
          <p:nvPr/>
        </p:nvSpPr>
        <p:spPr>
          <a:xfrm>
            <a:off x="9308592"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7" name="Rounded Rectangle 56"/>
          <p:cNvSpPr/>
          <p:nvPr/>
        </p:nvSpPr>
        <p:spPr>
          <a:xfrm>
            <a:off x="9665208"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4936"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RECHERCHE</a:t>
            </a:r>
          </a:p>
        </p:txBody>
      </p:sp>
      <p:sp>
        <p:nvSpPr>
          <p:cNvPr id="59" name="TextBox 58"/>
          <p:cNvSpPr txBox="1"/>
          <p:nvPr/>
        </p:nvSpPr>
        <p:spPr>
          <a:xfrm>
            <a:off x="9774936"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Index vecteur actualisé</a:t>
            </a:r>
          </a:p>
          <a:p>
            <a:pPr algn="ctr">
              <a:spcAft>
                <a:spcPts val="0"/>
              </a:spcAft>
            </a:pPr>
            <a:r>
              <a:rPr sz="1010" b="0">
                <a:solidFill>
                  <a:srgbClr val="607069"/>
                </a:solidFill>
                <a:latin typeface="Inter"/>
              </a:rPr>
              <a:t>+ attributs filtrables</a:t>
            </a:r>
          </a:p>
        </p:txBody>
      </p:sp>
      <p:sp>
        <p:nvSpPr>
          <p:cNvPr id="60" name="TextBox 59"/>
          <p:cNvSpPr txBox="1"/>
          <p:nvPr/>
        </p:nvSpPr>
        <p:spPr>
          <a:xfrm>
            <a:off x="9765792" y="5166360"/>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cxnSp>
        <p:nvCxnSpPr>
          <p:cNvPr id="61" name="Connector 60"/>
          <p:cNvCxnSpPr/>
          <p:nvPr/>
        </p:nvCxnSpPr>
        <p:spPr>
          <a:xfrm flipV="1">
            <a:off x="8348472" y="4133087"/>
            <a:ext cx="0" cy="237745"/>
          </a:xfrm>
          <a:prstGeom prst="line">
            <a:avLst/>
          </a:prstGeom>
          <a:ln w="19050">
            <a:solidFill>
              <a:srgbClr val="8DB8A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85632" y="4087368"/>
            <a:ext cx="2880360" cy="201168"/>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catalogue → moteur de recherche</a:t>
            </a:r>
          </a:p>
        </p:txBody>
      </p:sp>
      <p:sp>
        <p:nvSpPr>
          <p:cNvPr id="63" name="Rounded Rectangle 62"/>
          <p:cNvSpPr/>
          <p:nvPr/>
        </p:nvSpPr>
        <p:spPr>
          <a:xfrm>
            <a:off x="630936" y="5650992"/>
            <a:ext cx="10972800" cy="53949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 y="5705856"/>
            <a:ext cx="10561320" cy="420624"/>
          </a:xfrm>
          <a:prstGeom prst="rect">
            <a:avLst/>
          </a:prstGeom>
          <a:noFill/>
        </p:spPr>
        <p:txBody>
          <a:bodyPr wrap="square" lIns="18288" rIns="18288" tIns="9144" bIns="9144" anchor="ctr">
            <a:spAutoFit/>
          </a:bodyPr>
          <a:lstStyle/>
          <a:p>
            <a:pPr algn="l">
              <a:spcAft>
                <a:spcPts val="0"/>
              </a:spcAft>
            </a:pPr>
            <a:r>
              <a:rPr sz="1025" b="0">
                <a:solidFill>
                  <a:srgbClr val="FFFFFF"/>
                </a:solidFill>
                <a:latin typeface="Inter"/>
              </a:rPr>
              <a:t>TRANSVERSE  •  MLOps / KPI  •  sécurité  •  RGPD : rectification, conservation et purge auto  •  trafic cible : ~400 000 actifs/an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13  /  GOUVERNANCE TECHNIQUE</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Qui construit et maintient chaque brique ?</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Responsabilités attribuées à l’équipe Data interne ; validation des choix avec Alicia et le Tech Lead.</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15</a:t>
            </a:r>
          </a:p>
        </p:txBody>
      </p:sp>
      <p:sp>
        <p:nvSpPr>
          <p:cNvPr id="9" name="Rounded Rectangle 8"/>
          <p:cNvSpPr/>
          <p:nvPr/>
        </p:nvSpPr>
        <p:spPr>
          <a:xfrm>
            <a:off x="630936"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3</a:t>
            </a:r>
          </a:p>
        </p:txBody>
      </p:sp>
      <p:sp>
        <p:nvSpPr>
          <p:cNvPr id="11" name="TextBox 10"/>
          <p:cNvSpPr txBox="1"/>
          <p:nvPr/>
        </p:nvSpPr>
        <p:spPr>
          <a:xfrm>
            <a:off x="1124712"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SCIENTISTS</a:t>
            </a:r>
          </a:p>
        </p:txBody>
      </p:sp>
      <p:sp>
        <p:nvSpPr>
          <p:cNvPr id="12" name="Rounded Rectangle 11"/>
          <p:cNvSpPr/>
          <p:nvPr/>
        </p:nvSpPr>
        <p:spPr>
          <a:xfrm>
            <a:off x="3447288"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2</a:t>
            </a:r>
          </a:p>
        </p:txBody>
      </p:sp>
      <p:sp>
        <p:nvSpPr>
          <p:cNvPr id="14" name="TextBox 13"/>
          <p:cNvSpPr txBox="1"/>
          <p:nvPr/>
        </p:nvSpPr>
        <p:spPr>
          <a:xfrm>
            <a:off x="3941064"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ENGINEERS</a:t>
            </a:r>
          </a:p>
        </p:txBody>
      </p:sp>
      <p:sp>
        <p:nvSpPr>
          <p:cNvPr id="15" name="Rounded Rectangle 14"/>
          <p:cNvSpPr/>
          <p:nvPr/>
        </p:nvSpPr>
        <p:spPr>
          <a:xfrm>
            <a:off x="6263640" y="2176272"/>
            <a:ext cx="2596896" cy="44805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FFFFFF"/>
                </a:solidFill>
                <a:latin typeface="Inter"/>
              </a:rPr>
              <a:t>1</a:t>
            </a:r>
          </a:p>
        </p:txBody>
      </p:sp>
      <p:sp>
        <p:nvSpPr>
          <p:cNvPr id="17" name="TextBox 16"/>
          <p:cNvSpPr txBox="1"/>
          <p:nvPr/>
        </p:nvSpPr>
        <p:spPr>
          <a:xfrm>
            <a:off x="6757416"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FFFFFF"/>
                </a:solidFill>
                <a:latin typeface="Inter"/>
              </a:rPr>
              <a:t>TECH LEAD DATA</a:t>
            </a:r>
          </a:p>
        </p:txBody>
      </p:sp>
      <p:sp>
        <p:nvSpPr>
          <p:cNvPr id="18" name="Rounded Rectangle 17"/>
          <p:cNvSpPr/>
          <p:nvPr/>
        </p:nvSpPr>
        <p:spPr>
          <a:xfrm>
            <a:off x="9079992"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1</a:t>
            </a:r>
          </a:p>
        </p:txBody>
      </p:sp>
      <p:sp>
        <p:nvSpPr>
          <p:cNvPr id="20" name="TextBox 19"/>
          <p:cNvSpPr txBox="1"/>
          <p:nvPr/>
        </p:nvSpPr>
        <p:spPr>
          <a:xfrm>
            <a:off x="9573767"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MLOPS ENGINEER</a:t>
            </a:r>
          </a:p>
        </p:txBody>
      </p:sp>
      <p:sp>
        <p:nvSpPr>
          <p:cNvPr id="21" name="Rounded Rectangle 20"/>
          <p:cNvSpPr/>
          <p:nvPr/>
        </p:nvSpPr>
        <p:spPr>
          <a:xfrm>
            <a:off x="630936" y="2825496"/>
            <a:ext cx="10963656" cy="365760"/>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2871216"/>
            <a:ext cx="219456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BRIQUE TECHNIQUE</a:t>
            </a:r>
          </a:p>
        </p:txBody>
      </p:sp>
      <p:sp>
        <p:nvSpPr>
          <p:cNvPr id="23" name="TextBox 22"/>
          <p:cNvSpPr txBox="1"/>
          <p:nvPr/>
        </p:nvSpPr>
        <p:spPr>
          <a:xfrm>
            <a:off x="3063240" y="2871216"/>
            <a:ext cx="205740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CONSTRUCTION · PILOTE</a:t>
            </a:r>
          </a:p>
        </p:txBody>
      </p:sp>
      <p:sp>
        <p:nvSpPr>
          <p:cNvPr id="24" name="TextBox 23"/>
          <p:cNvSpPr txBox="1"/>
          <p:nvPr/>
        </p:nvSpPr>
        <p:spPr>
          <a:xfrm>
            <a:off x="5266944" y="2871216"/>
            <a:ext cx="2084831"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MAINTENANCE · PILOTE</a:t>
            </a:r>
          </a:p>
        </p:txBody>
      </p:sp>
      <p:sp>
        <p:nvSpPr>
          <p:cNvPr id="25" name="TextBox 24"/>
          <p:cNvSpPr txBox="1"/>
          <p:nvPr/>
        </p:nvSpPr>
        <p:spPr>
          <a:xfrm>
            <a:off x="7498079" y="2871216"/>
            <a:ext cx="4041648"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CONTRIBUTIONS / RESPONSABILITÉS</a:t>
            </a:r>
          </a:p>
        </p:txBody>
      </p:sp>
      <p:sp>
        <p:nvSpPr>
          <p:cNvPr id="26" name="Rectangle 25"/>
          <p:cNvSpPr/>
          <p:nvPr/>
        </p:nvSpPr>
        <p:spPr>
          <a:xfrm>
            <a:off x="630936" y="3236976"/>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 y="3255264"/>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Catalogue &amp; qualité</a:t>
            </a:r>
          </a:p>
        </p:txBody>
      </p:sp>
      <p:sp>
        <p:nvSpPr>
          <p:cNvPr id="28" name="TextBox 27"/>
          <p:cNvSpPr txBox="1"/>
          <p:nvPr/>
        </p:nvSpPr>
        <p:spPr>
          <a:xfrm>
            <a:off x="3063240" y="3255264"/>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29" name="TextBox 28"/>
          <p:cNvSpPr txBox="1"/>
          <p:nvPr/>
        </p:nvSpPr>
        <p:spPr>
          <a:xfrm>
            <a:off x="5266944" y="3255264"/>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0" name="TextBox 29"/>
          <p:cNvSpPr txBox="1"/>
          <p:nvPr/>
        </p:nvSpPr>
        <p:spPr>
          <a:xfrm>
            <a:off x="7498079" y="3255264"/>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schémas, accès et validation</a:t>
            </a:r>
          </a:p>
        </p:txBody>
      </p:sp>
      <p:sp>
        <p:nvSpPr>
          <p:cNvPr id="31" name="Rectangle 30"/>
          <p:cNvSpPr/>
          <p:nvPr/>
        </p:nvSpPr>
        <p:spPr>
          <a:xfrm>
            <a:off x="630936" y="3675887"/>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5" y="3694175"/>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Stockage &amp; indexation</a:t>
            </a:r>
          </a:p>
        </p:txBody>
      </p:sp>
      <p:sp>
        <p:nvSpPr>
          <p:cNvPr id="33" name="TextBox 32"/>
          <p:cNvSpPr txBox="1"/>
          <p:nvPr/>
        </p:nvSpPr>
        <p:spPr>
          <a:xfrm>
            <a:off x="3063240" y="3694175"/>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4" name="TextBox 33"/>
          <p:cNvSpPr txBox="1"/>
          <p:nvPr/>
        </p:nvSpPr>
        <p:spPr>
          <a:xfrm>
            <a:off x="5266944" y="3694175"/>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 + MLOps</a:t>
            </a:r>
          </a:p>
        </p:txBody>
      </p:sp>
      <p:sp>
        <p:nvSpPr>
          <p:cNvPr id="35" name="TextBox 34"/>
          <p:cNvSpPr txBox="1"/>
          <p:nvPr/>
        </p:nvSpPr>
        <p:spPr>
          <a:xfrm>
            <a:off x="7498079" y="3694175"/>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Data Scientist : caractéristiques / pertinence</a:t>
            </a:r>
          </a:p>
        </p:txBody>
      </p:sp>
      <p:sp>
        <p:nvSpPr>
          <p:cNvPr id="36" name="Rectangle 35"/>
          <p:cNvSpPr/>
          <p:nvPr/>
        </p:nvSpPr>
        <p:spPr>
          <a:xfrm>
            <a:off x="630936" y="4114800"/>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133087"/>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Embeddings &amp; classement</a:t>
            </a:r>
          </a:p>
        </p:txBody>
      </p:sp>
      <p:sp>
        <p:nvSpPr>
          <p:cNvPr id="38" name="TextBox 37"/>
          <p:cNvSpPr txBox="1"/>
          <p:nvPr/>
        </p:nvSpPr>
        <p:spPr>
          <a:xfrm>
            <a:off x="3063240" y="4133087"/>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39" name="TextBox 38"/>
          <p:cNvSpPr txBox="1"/>
          <p:nvPr/>
        </p:nvSpPr>
        <p:spPr>
          <a:xfrm>
            <a:off x="5266944" y="4133087"/>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MLOps</a:t>
            </a:r>
          </a:p>
        </p:txBody>
      </p:sp>
      <p:sp>
        <p:nvSpPr>
          <p:cNvPr id="40" name="TextBox 39"/>
          <p:cNvSpPr txBox="1"/>
          <p:nvPr/>
        </p:nvSpPr>
        <p:spPr>
          <a:xfrm>
            <a:off x="7498079" y="4133087"/>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choix modèles / performances</a:t>
            </a:r>
          </a:p>
        </p:txBody>
      </p:sp>
      <p:sp>
        <p:nvSpPr>
          <p:cNvPr id="41" name="Rectangle 40"/>
          <p:cNvSpPr/>
          <p:nvPr/>
        </p:nvSpPr>
        <p:spPr>
          <a:xfrm>
            <a:off x="630936" y="4553712"/>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5" y="4572000"/>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Préférences &amp; feedback</a:t>
            </a:r>
          </a:p>
        </p:txBody>
      </p:sp>
      <p:sp>
        <p:nvSpPr>
          <p:cNvPr id="43" name="TextBox 42"/>
          <p:cNvSpPr txBox="1"/>
          <p:nvPr/>
        </p:nvSpPr>
        <p:spPr>
          <a:xfrm>
            <a:off x="3063240" y="4572000"/>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4" name="TextBox 43"/>
          <p:cNvSpPr txBox="1"/>
          <p:nvPr/>
        </p:nvSpPr>
        <p:spPr>
          <a:xfrm>
            <a:off x="5266944" y="4572000"/>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5" name="TextBox 44"/>
          <p:cNvSpPr txBox="1"/>
          <p:nvPr/>
        </p:nvSpPr>
        <p:spPr>
          <a:xfrm>
            <a:off x="7498079" y="4572000"/>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Métiers : règles de style ; DE : événements</a:t>
            </a:r>
          </a:p>
        </p:txBody>
      </p:sp>
      <p:sp>
        <p:nvSpPr>
          <p:cNvPr id="46" name="Rectangle 45"/>
          <p:cNvSpPr/>
          <p:nvPr/>
        </p:nvSpPr>
        <p:spPr>
          <a:xfrm>
            <a:off x="630936" y="4992624"/>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 y="5010912"/>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Essayage IA &amp; variantes *</a:t>
            </a:r>
          </a:p>
        </p:txBody>
      </p:sp>
      <p:sp>
        <p:nvSpPr>
          <p:cNvPr id="48" name="TextBox 47"/>
          <p:cNvSpPr txBox="1"/>
          <p:nvPr/>
        </p:nvSpPr>
        <p:spPr>
          <a:xfrm>
            <a:off x="3063240" y="5010912"/>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49" name="TextBox 48"/>
          <p:cNvSpPr txBox="1"/>
          <p:nvPr/>
        </p:nvSpPr>
        <p:spPr>
          <a:xfrm>
            <a:off x="5266944" y="5010912"/>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Scientist</a:t>
            </a:r>
          </a:p>
        </p:txBody>
      </p:sp>
      <p:sp>
        <p:nvSpPr>
          <p:cNvPr id="50" name="TextBox 49"/>
          <p:cNvSpPr txBox="1"/>
          <p:nvPr/>
        </p:nvSpPr>
        <p:spPr>
          <a:xfrm>
            <a:off x="7498079" y="5010912"/>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risques / faisabilité / coûts</a:t>
            </a:r>
          </a:p>
        </p:txBody>
      </p:sp>
      <p:sp>
        <p:nvSpPr>
          <p:cNvPr id="51" name="Rectangle 50"/>
          <p:cNvSpPr/>
          <p:nvPr/>
        </p:nvSpPr>
        <p:spPr>
          <a:xfrm>
            <a:off x="630936" y="5431536"/>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 y="5449823"/>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Serving, MLOps, sécurité</a:t>
            </a:r>
          </a:p>
        </p:txBody>
      </p:sp>
      <p:sp>
        <p:nvSpPr>
          <p:cNvPr id="53" name="TextBox 52"/>
          <p:cNvSpPr txBox="1"/>
          <p:nvPr/>
        </p:nvSpPr>
        <p:spPr>
          <a:xfrm>
            <a:off x="3063240" y="5449823"/>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Tech Lead</a:t>
            </a:r>
          </a:p>
        </p:txBody>
      </p:sp>
      <p:sp>
        <p:nvSpPr>
          <p:cNvPr id="54" name="TextBox 53"/>
          <p:cNvSpPr txBox="1"/>
          <p:nvPr/>
        </p:nvSpPr>
        <p:spPr>
          <a:xfrm>
            <a:off x="5266944" y="5449823"/>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Engineer</a:t>
            </a:r>
          </a:p>
        </p:txBody>
      </p:sp>
      <p:sp>
        <p:nvSpPr>
          <p:cNvPr id="55" name="TextBox 54"/>
          <p:cNvSpPr txBox="1"/>
          <p:nvPr/>
        </p:nvSpPr>
        <p:spPr>
          <a:xfrm>
            <a:off x="7498079" y="5449823"/>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DS : suivi qualité ; DE : suppression RGPD</a:t>
            </a:r>
          </a:p>
        </p:txBody>
      </p:sp>
      <p:sp>
        <p:nvSpPr>
          <p:cNvPr id="56" name="Rounded Rectangle 55"/>
          <p:cNvSpPr/>
          <p:nvPr/>
        </p:nvSpPr>
        <p:spPr>
          <a:xfrm>
            <a:off x="630936" y="5971032"/>
            <a:ext cx="10972800" cy="283464"/>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8" y="5989320"/>
            <a:ext cx="10652760" cy="228600"/>
          </a:xfrm>
          <a:prstGeom prst="rect">
            <a:avLst/>
          </a:prstGeom>
          <a:noFill/>
        </p:spPr>
        <p:txBody>
          <a:bodyPr wrap="square" lIns="18288" rIns="18288" tIns="9144" bIns="9144" anchor="ctr">
            <a:spAutoFit/>
          </a:bodyPr>
          <a:lstStyle/>
          <a:p>
            <a:pPr algn="l">
              <a:spcAft>
                <a:spcPts val="0"/>
              </a:spcAft>
            </a:pPr>
            <a:r>
              <a:rPr sz="950" b="0">
                <a:solidFill>
                  <a:srgbClr val="17221F"/>
                </a:solidFill>
                <a:latin typeface="Inter"/>
              </a:rPr>
              <a:t>* Essayage génératif : extension du produit cible, non nécessaire à la validation du PoC de recommandation.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01168"/>
          </a:xfrm>
          <a:prstGeom prst="rect">
            <a:avLst/>
          </a:prstGeom>
          <a:noFill/>
        </p:spPr>
        <p:txBody>
          <a:bodyPr wrap="square" lIns="0" rIns="0" tIns="0" bIns="0" anchor="ctr">
            <a:spAutoFit/>
          </a:bodyPr>
          <a:lstStyle/>
          <a:p>
            <a:pPr>
              <a:spcAft>
                <a:spcPts val="0"/>
              </a:spcAft>
            </a:pPr>
            <a:r>
              <a:rPr sz="930" b="1">
                <a:solidFill>
                  <a:srgbClr val="607069"/>
                </a:solidFill>
                <a:latin typeface="Aptos"/>
              </a:rPr>
              <a:t>14  /  ÉTAPE 2 — TIMELINE DE LIVRAISON</a:t>
            </a:r>
          </a:p>
        </p:txBody>
      </p:sp>
      <p:sp>
        <p:nvSpPr>
          <p:cNvPr id="4" name="TextBox 3"/>
          <p:cNvSpPr txBox="1"/>
          <p:nvPr/>
        </p:nvSpPr>
        <p:spPr>
          <a:xfrm>
            <a:off x="594360" y="594360"/>
            <a:ext cx="10972800" cy="566928"/>
          </a:xfrm>
          <a:prstGeom prst="rect">
            <a:avLst/>
          </a:prstGeom>
          <a:noFill/>
        </p:spPr>
        <p:txBody>
          <a:bodyPr wrap="square" lIns="0" rIns="0" tIns="0" bIns="0" anchor="ctr">
            <a:spAutoFit/>
          </a:bodyPr>
          <a:lstStyle/>
          <a:p>
            <a:pPr>
              <a:spcAft>
                <a:spcPts val="0"/>
              </a:spcAft>
            </a:pPr>
            <a:r>
              <a:rPr sz="2560" b="1">
                <a:solidFill>
                  <a:srgbClr val="17221F"/>
                </a:solidFill>
                <a:latin typeface="Aptos Display"/>
              </a:rPr>
              <a:t>PoC  →  MVP  →  Run : 17 semaines</a:t>
            </a:r>
          </a:p>
        </p:txBody>
      </p:sp>
      <p:sp>
        <p:nvSpPr>
          <p:cNvPr id="5" name="TextBox 4"/>
          <p:cNvSpPr txBox="1"/>
          <p:nvPr/>
        </p:nvSpPr>
        <p:spPr>
          <a:xfrm>
            <a:off x="630936" y="1234440"/>
            <a:ext cx="10972800" cy="320040"/>
          </a:xfrm>
          <a:prstGeom prst="rect">
            <a:avLst/>
          </a:prstGeom>
          <a:noFill/>
        </p:spPr>
        <p:txBody>
          <a:bodyPr wrap="square" lIns="0" rIns="0" tIns="0" bIns="0" anchor="ctr">
            <a:spAutoFit/>
          </a:bodyPr>
          <a:lstStyle/>
          <a:p>
            <a:pPr>
              <a:spcAft>
                <a:spcPts val="0"/>
              </a:spcAft>
            </a:pPr>
            <a:r>
              <a:rPr sz="1075" b="0">
                <a:solidFill>
                  <a:srgbClr val="607069"/>
                </a:solidFill>
                <a:latin typeface="Aptos"/>
              </a:rPr>
              <a:t>Une livraison progressive, avec responsabilités, staffing et validations métier.</a:t>
            </a:r>
          </a:p>
        </p:txBody>
      </p:sp>
      <p:sp>
        <p:nvSpPr>
          <p:cNvPr id="6" name="Rectangle 5"/>
          <p:cNvSpPr/>
          <p:nvPr/>
        </p:nvSpPr>
        <p:spPr>
          <a:xfrm>
            <a:off x="594360" y="1664208"/>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37376"/>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73952"/>
            <a:ext cx="10149840" cy="155448"/>
          </a:xfrm>
          <a:prstGeom prst="rect">
            <a:avLst/>
          </a:prstGeom>
          <a:noFill/>
        </p:spPr>
        <p:txBody>
          <a:bodyPr wrap="square" lIns="0" rIns="0" tIns="0" bIns="0" anchor="ctr">
            <a:spAutoFit/>
          </a:bodyPr>
          <a:lstStyle/>
          <a:p>
            <a:pPr>
              <a:spcAft>
                <a:spcPts val="0"/>
              </a:spcAft>
            </a:pPr>
            <a:r>
              <a:rPr sz="800" b="0">
                <a:solidFill>
                  <a:srgbClr val="607069"/>
                </a:solidFill>
                <a:latin typeface="Aptos"/>
              </a:rPr>
              <a:t>FASHION–INSTA  ·  TIMELINE DATA &amp; IA  /  HYPOTHÈSES DE PLANIFICATION</a:t>
            </a:r>
          </a:p>
        </p:txBody>
      </p:sp>
      <p:sp>
        <p:nvSpPr>
          <p:cNvPr id="9" name="TextBox 8"/>
          <p:cNvSpPr txBox="1"/>
          <p:nvPr/>
        </p:nvSpPr>
        <p:spPr>
          <a:xfrm>
            <a:off x="11109960" y="6455664"/>
            <a:ext cx="457200" cy="182880"/>
          </a:xfrm>
          <a:prstGeom prst="rect">
            <a:avLst/>
          </a:prstGeom>
          <a:noFill/>
        </p:spPr>
        <p:txBody>
          <a:bodyPr wrap="square" lIns="0" rIns="0" tIns="0" bIns="0" anchor="ctr">
            <a:spAutoFit/>
          </a:bodyPr>
          <a:lstStyle/>
          <a:p>
            <a:pPr algn="r">
              <a:spcAft>
                <a:spcPts val="0"/>
              </a:spcAft>
            </a:pPr>
            <a:r>
              <a:rPr sz="900" b="0">
                <a:solidFill>
                  <a:srgbClr val="607069"/>
                </a:solidFill>
                <a:latin typeface="Aptos"/>
              </a:rPr>
              <a:t>16</a:t>
            </a:r>
          </a:p>
        </p:txBody>
      </p:sp>
      <p:sp>
        <p:nvSpPr>
          <p:cNvPr id="10" name="Rectangle 9"/>
          <p:cNvSpPr/>
          <p:nvPr/>
        </p:nvSpPr>
        <p:spPr>
          <a:xfrm>
            <a:off x="630936" y="1773936"/>
            <a:ext cx="1921853" cy="96012"/>
          </a:xfrm>
          <a:prstGeom prst="rect">
            <a:avLst/>
          </a:prstGeom>
          <a:solidFill>
            <a:srgbClr val="355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75649" y="1773936"/>
            <a:ext cx="6406178" cy="96012"/>
          </a:xfrm>
          <a:prstGeom prst="rect">
            <a:avLst/>
          </a:prstGeom>
          <a:solidFill>
            <a:srgbClr val="7EA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4688" y="1773936"/>
            <a:ext cx="2562471" cy="96012"/>
          </a:xfrm>
          <a:prstGeom prst="rect">
            <a:avLst/>
          </a:prstGeom>
          <a:solidFill>
            <a:srgbClr val="B9D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 y="1975104"/>
            <a:ext cx="3557016" cy="566928"/>
          </a:xfrm>
          <a:prstGeom prst="roundRect">
            <a:avLst>
              <a:gd name="adj" fmla="val 12000"/>
            </a:avLst>
          </a:prstGeom>
          <a:solidFill>
            <a:srgbClr val="355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01  /  PoC</a:t>
            </a:r>
          </a:p>
        </p:txBody>
      </p:sp>
      <p:sp>
        <p:nvSpPr>
          <p:cNvPr id="16" name="TextBox 15"/>
          <p:cNvSpPr txBox="1"/>
          <p:nvPr/>
        </p:nvSpPr>
        <p:spPr>
          <a:xfrm>
            <a:off x="749808"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S1–S3  ·  3 semaines</a:t>
            </a:r>
          </a:p>
        </p:txBody>
      </p:sp>
      <p:sp>
        <p:nvSpPr>
          <p:cNvPr id="17" name="TextBox 16"/>
          <p:cNvSpPr txBox="1"/>
          <p:nvPr/>
        </p:nvSpPr>
        <p:spPr>
          <a:xfrm>
            <a:off x="758952"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Tester la faisabilité</a:t>
            </a:r>
          </a:p>
        </p:txBody>
      </p:sp>
      <p:sp>
        <p:nvSpPr>
          <p:cNvPr id="18" name="Rounded Rectangle 17"/>
          <p:cNvSpPr/>
          <p:nvPr/>
        </p:nvSpPr>
        <p:spPr>
          <a:xfrm>
            <a:off x="749808" y="294436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20" name="TextBox 19"/>
          <p:cNvSpPr txBox="1"/>
          <p:nvPr/>
        </p:nvSpPr>
        <p:spPr>
          <a:xfrm>
            <a:off x="1143000"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Préparer 120 articles + images</a:t>
            </a:r>
          </a:p>
        </p:txBody>
      </p:sp>
      <p:sp>
        <p:nvSpPr>
          <p:cNvPr id="21" name="Rounded Rectangle 20"/>
          <p:cNvSpPr/>
          <p:nvPr/>
        </p:nvSpPr>
        <p:spPr>
          <a:xfrm>
            <a:off x="749808" y="3291839"/>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23" name="TextBox 22"/>
          <p:cNvSpPr txBox="1"/>
          <p:nvPr/>
        </p:nvSpPr>
        <p:spPr>
          <a:xfrm>
            <a:off x="1143000"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CLIP / tags ; 40 photos, Top 5</a:t>
            </a:r>
          </a:p>
        </p:txBody>
      </p:sp>
      <p:sp>
        <p:nvSpPr>
          <p:cNvPr id="24" name="Rounded Rectangle 23"/>
          <p:cNvSpPr/>
          <p:nvPr/>
        </p:nvSpPr>
        <p:spPr>
          <a:xfrm>
            <a:off x="749808"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26" name="Rounded Rectangle 25"/>
          <p:cNvSpPr/>
          <p:nvPr/>
        </p:nvSpPr>
        <p:spPr>
          <a:xfrm>
            <a:off x="1088136" y="3639311"/>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8136"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28" name="TextBox 27"/>
          <p:cNvSpPr txBox="1"/>
          <p:nvPr/>
        </p:nvSpPr>
        <p:spPr>
          <a:xfrm>
            <a:off x="1481328"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Revue technique + démo Go/No-Go</a:t>
            </a:r>
          </a:p>
        </p:txBody>
      </p:sp>
      <p:sp>
        <p:nvSpPr>
          <p:cNvPr id="29" name="Rectangle 28"/>
          <p:cNvSpPr/>
          <p:nvPr/>
        </p:nvSpPr>
        <p:spPr>
          <a:xfrm>
            <a:off x="749808"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31" name="TextBox 30"/>
          <p:cNvSpPr txBox="1"/>
          <p:nvPr/>
        </p:nvSpPr>
        <p:spPr>
          <a:xfrm>
            <a:off x="758952"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Rapport P@5 / S@5 + décision Go/No-Go</a:t>
            </a:r>
          </a:p>
        </p:txBody>
      </p:sp>
      <p:sp>
        <p:nvSpPr>
          <p:cNvPr id="32" name="TextBox 31"/>
          <p:cNvSpPr txBox="1"/>
          <p:nvPr/>
        </p:nvSpPr>
        <p:spPr>
          <a:xfrm>
            <a:off x="758952"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33" name="Rounded Rectangle 32"/>
          <p:cNvSpPr/>
          <p:nvPr/>
        </p:nvSpPr>
        <p:spPr>
          <a:xfrm>
            <a:off x="758952"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35" name="TextBox 34"/>
          <p:cNvSpPr txBox="1"/>
          <p:nvPr/>
        </p:nvSpPr>
        <p:spPr>
          <a:xfrm>
            <a:off x="1133856"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36" name="Rounded Rectangle 35"/>
          <p:cNvSpPr/>
          <p:nvPr/>
        </p:nvSpPr>
        <p:spPr>
          <a:xfrm>
            <a:off x="2679192"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679192" y="5038344"/>
            <a:ext cx="335292"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66744"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36 %</a:t>
            </a:r>
          </a:p>
        </p:txBody>
      </p:sp>
      <p:sp>
        <p:nvSpPr>
          <p:cNvPr id="39" name="Rounded Rectangle 38"/>
          <p:cNvSpPr/>
          <p:nvPr/>
        </p:nvSpPr>
        <p:spPr>
          <a:xfrm>
            <a:off x="758952"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41" name="TextBox 40"/>
          <p:cNvSpPr txBox="1"/>
          <p:nvPr/>
        </p:nvSpPr>
        <p:spPr>
          <a:xfrm>
            <a:off x="1133856"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42" name="Rounded Rectangle 41"/>
          <p:cNvSpPr/>
          <p:nvPr/>
        </p:nvSpPr>
        <p:spPr>
          <a:xfrm>
            <a:off x="2679192"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679192" y="5262372"/>
            <a:ext cx="188366"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66744"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45" name="Rounded Rectangle 44"/>
          <p:cNvSpPr/>
          <p:nvPr/>
        </p:nvSpPr>
        <p:spPr>
          <a:xfrm>
            <a:off x="758952"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47" name="TextBox 46"/>
          <p:cNvSpPr txBox="1"/>
          <p:nvPr/>
        </p:nvSpPr>
        <p:spPr>
          <a:xfrm>
            <a:off x="1133856"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48" name="Rounded Rectangle 47"/>
          <p:cNvSpPr/>
          <p:nvPr/>
        </p:nvSpPr>
        <p:spPr>
          <a:xfrm>
            <a:off x="2679192"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679192" y="5486400"/>
            <a:ext cx="251469"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66744"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27 %</a:t>
            </a:r>
          </a:p>
        </p:txBody>
      </p:sp>
      <p:sp>
        <p:nvSpPr>
          <p:cNvPr id="51" name="Rounded Rectangle 50"/>
          <p:cNvSpPr/>
          <p:nvPr/>
        </p:nvSpPr>
        <p:spPr>
          <a:xfrm>
            <a:off x="758952"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8952"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53" name="TextBox 52"/>
          <p:cNvSpPr txBox="1"/>
          <p:nvPr/>
        </p:nvSpPr>
        <p:spPr>
          <a:xfrm>
            <a:off x="1133856"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54" name="Rounded Rectangle 53"/>
          <p:cNvSpPr/>
          <p:nvPr/>
        </p:nvSpPr>
        <p:spPr>
          <a:xfrm>
            <a:off x="2679192"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679192" y="5710428"/>
            <a:ext cx="251469"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66744"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27 %</a:t>
            </a:r>
          </a:p>
        </p:txBody>
      </p:sp>
      <p:sp>
        <p:nvSpPr>
          <p:cNvPr id="57" name="Rounded Rectangle 56"/>
          <p:cNvSpPr/>
          <p:nvPr/>
        </p:nvSpPr>
        <p:spPr>
          <a:xfrm>
            <a:off x="4315968"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315968" y="1975104"/>
            <a:ext cx="3557016" cy="566928"/>
          </a:xfrm>
          <a:prstGeom prst="roundRect">
            <a:avLst>
              <a:gd name="adj" fmla="val 12000"/>
            </a:avLst>
          </a:prstGeom>
          <a:solidFill>
            <a:srgbClr val="446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34840"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02  /  MVP</a:t>
            </a:r>
          </a:p>
        </p:txBody>
      </p:sp>
      <p:sp>
        <p:nvSpPr>
          <p:cNvPr id="60" name="TextBox 59"/>
          <p:cNvSpPr txBox="1"/>
          <p:nvPr/>
        </p:nvSpPr>
        <p:spPr>
          <a:xfrm>
            <a:off x="4434840"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S4–S13  ·  10 semaines</a:t>
            </a:r>
          </a:p>
        </p:txBody>
      </p:sp>
      <p:sp>
        <p:nvSpPr>
          <p:cNvPr id="61" name="TextBox 60"/>
          <p:cNvSpPr txBox="1"/>
          <p:nvPr/>
        </p:nvSpPr>
        <p:spPr>
          <a:xfrm>
            <a:off x="4443984"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Industrialiser le moteur IA</a:t>
            </a:r>
          </a:p>
        </p:txBody>
      </p:sp>
      <p:sp>
        <p:nvSpPr>
          <p:cNvPr id="62" name="Rounded Rectangle 61"/>
          <p:cNvSpPr/>
          <p:nvPr/>
        </p:nvSpPr>
        <p:spPr>
          <a:xfrm>
            <a:off x="4434840" y="294436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434840"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64" name="TextBox 63"/>
          <p:cNvSpPr txBox="1"/>
          <p:nvPr/>
        </p:nvSpPr>
        <p:spPr>
          <a:xfrm>
            <a:off x="4828032"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Ingestion, qualité + index incrémental</a:t>
            </a:r>
          </a:p>
        </p:txBody>
      </p:sp>
      <p:sp>
        <p:nvSpPr>
          <p:cNvPr id="65" name="Rounded Rectangle 64"/>
          <p:cNvSpPr/>
          <p:nvPr/>
        </p:nvSpPr>
        <p:spPr>
          <a:xfrm>
            <a:off x="4434840" y="3291839"/>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34840"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67" name="TextBox 66"/>
          <p:cNvSpPr txBox="1"/>
          <p:nvPr/>
        </p:nvSpPr>
        <p:spPr>
          <a:xfrm>
            <a:off x="4828032"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Classement, préférences + feedback</a:t>
            </a:r>
          </a:p>
        </p:txBody>
      </p:sp>
      <p:sp>
        <p:nvSpPr>
          <p:cNvPr id="68" name="Rounded Rectangle 67"/>
          <p:cNvSpPr/>
          <p:nvPr/>
        </p:nvSpPr>
        <p:spPr>
          <a:xfrm>
            <a:off x="4434840" y="3639311"/>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434840"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70" name="Rounded Rectangle 69"/>
          <p:cNvSpPr/>
          <p:nvPr/>
        </p:nvSpPr>
        <p:spPr>
          <a:xfrm>
            <a:off x="4773168"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73168"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72" name="TextBox 71"/>
          <p:cNvSpPr txBox="1"/>
          <p:nvPr/>
        </p:nvSpPr>
        <p:spPr>
          <a:xfrm>
            <a:off x="5166360"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API IA, CI/CD, charge + sécurité</a:t>
            </a:r>
          </a:p>
        </p:txBody>
      </p:sp>
      <p:sp>
        <p:nvSpPr>
          <p:cNvPr id="73" name="Rectangle 72"/>
          <p:cNvSpPr/>
          <p:nvPr/>
        </p:nvSpPr>
        <p:spPr>
          <a:xfrm>
            <a:off x="4434840"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43984"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75" name="TextBox 74"/>
          <p:cNvSpPr txBox="1"/>
          <p:nvPr/>
        </p:nvSpPr>
        <p:spPr>
          <a:xfrm>
            <a:off x="4443984"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Moteur + API + tableaux de suivi ; pilote</a:t>
            </a:r>
          </a:p>
        </p:txBody>
      </p:sp>
      <p:sp>
        <p:nvSpPr>
          <p:cNvPr id="76" name="TextBox 75"/>
          <p:cNvSpPr txBox="1"/>
          <p:nvPr/>
        </p:nvSpPr>
        <p:spPr>
          <a:xfrm>
            <a:off x="4443984"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77" name="Rounded Rectangle 76"/>
          <p:cNvSpPr/>
          <p:nvPr/>
        </p:nvSpPr>
        <p:spPr>
          <a:xfrm>
            <a:off x="4443984"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43984"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79" name="TextBox 78"/>
          <p:cNvSpPr txBox="1"/>
          <p:nvPr/>
        </p:nvSpPr>
        <p:spPr>
          <a:xfrm>
            <a:off x="4818888"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80" name="Rounded Rectangle 79"/>
          <p:cNvSpPr/>
          <p:nvPr/>
        </p:nvSpPr>
        <p:spPr>
          <a:xfrm>
            <a:off x="6364224"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364224" y="5038344"/>
            <a:ext cx="470916"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51776"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50 %</a:t>
            </a:r>
          </a:p>
        </p:txBody>
      </p:sp>
      <p:sp>
        <p:nvSpPr>
          <p:cNvPr id="83" name="Rounded Rectangle 82"/>
          <p:cNvSpPr/>
          <p:nvPr/>
        </p:nvSpPr>
        <p:spPr>
          <a:xfrm>
            <a:off x="4443984"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443984"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85" name="TextBox 84"/>
          <p:cNvSpPr txBox="1"/>
          <p:nvPr/>
        </p:nvSpPr>
        <p:spPr>
          <a:xfrm>
            <a:off x="4818888"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86" name="Rounded Rectangle 85"/>
          <p:cNvSpPr/>
          <p:nvPr/>
        </p:nvSpPr>
        <p:spPr>
          <a:xfrm>
            <a:off x="6364224"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6364224" y="5262372"/>
            <a:ext cx="518007"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51776"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55 %</a:t>
            </a:r>
          </a:p>
        </p:txBody>
      </p:sp>
      <p:sp>
        <p:nvSpPr>
          <p:cNvPr id="89" name="Rounded Rectangle 88"/>
          <p:cNvSpPr/>
          <p:nvPr/>
        </p:nvSpPr>
        <p:spPr>
          <a:xfrm>
            <a:off x="4443984"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443984"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91" name="TextBox 90"/>
          <p:cNvSpPr txBox="1"/>
          <p:nvPr/>
        </p:nvSpPr>
        <p:spPr>
          <a:xfrm>
            <a:off x="4818888"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92" name="Rounded Rectangle 91"/>
          <p:cNvSpPr/>
          <p:nvPr/>
        </p:nvSpPr>
        <p:spPr>
          <a:xfrm>
            <a:off x="6364224"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6364224" y="5486400"/>
            <a:ext cx="376732"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351776"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40 %</a:t>
            </a:r>
          </a:p>
        </p:txBody>
      </p:sp>
      <p:sp>
        <p:nvSpPr>
          <p:cNvPr id="95" name="Rounded Rectangle 94"/>
          <p:cNvSpPr/>
          <p:nvPr/>
        </p:nvSpPr>
        <p:spPr>
          <a:xfrm>
            <a:off x="4443984"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43984"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97" name="TextBox 96"/>
          <p:cNvSpPr txBox="1"/>
          <p:nvPr/>
        </p:nvSpPr>
        <p:spPr>
          <a:xfrm>
            <a:off x="4818888"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98" name="Rounded Rectangle 97"/>
          <p:cNvSpPr/>
          <p:nvPr/>
        </p:nvSpPr>
        <p:spPr>
          <a:xfrm>
            <a:off x="6364224"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6364224" y="5710428"/>
            <a:ext cx="565099"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51776"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60 %</a:t>
            </a:r>
          </a:p>
        </p:txBody>
      </p:sp>
      <p:sp>
        <p:nvSpPr>
          <p:cNvPr id="101" name="Rounded Rectangle 100"/>
          <p:cNvSpPr/>
          <p:nvPr/>
        </p:nvSpPr>
        <p:spPr>
          <a:xfrm>
            <a:off x="8001000"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8001000" y="1975104"/>
            <a:ext cx="3557016" cy="566928"/>
          </a:xfrm>
          <a:prstGeom prst="roundRect">
            <a:avLst>
              <a:gd name="adj" fmla="val 12000"/>
            </a:avLst>
          </a:prstGeom>
          <a:solidFill>
            <a:srgbClr val="8B9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119872"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03  /  Run initial</a:t>
            </a:r>
          </a:p>
        </p:txBody>
      </p:sp>
      <p:sp>
        <p:nvSpPr>
          <p:cNvPr id="104" name="TextBox 103"/>
          <p:cNvSpPr txBox="1"/>
          <p:nvPr/>
        </p:nvSpPr>
        <p:spPr>
          <a:xfrm>
            <a:off x="8119872"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S14–S17  ·  4 semaines</a:t>
            </a:r>
          </a:p>
        </p:txBody>
      </p:sp>
      <p:sp>
        <p:nvSpPr>
          <p:cNvPr id="105" name="TextBox 104"/>
          <p:cNvSpPr txBox="1"/>
          <p:nvPr/>
        </p:nvSpPr>
        <p:spPr>
          <a:xfrm>
            <a:off x="8129016"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Déployer progressivement</a:t>
            </a:r>
          </a:p>
        </p:txBody>
      </p:sp>
      <p:sp>
        <p:nvSpPr>
          <p:cNvPr id="106" name="Rounded Rectangle 105"/>
          <p:cNvSpPr/>
          <p:nvPr/>
        </p:nvSpPr>
        <p:spPr>
          <a:xfrm>
            <a:off x="8119872" y="2944368"/>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119872"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108" name="TextBox 107"/>
          <p:cNvSpPr txBox="1"/>
          <p:nvPr/>
        </p:nvSpPr>
        <p:spPr>
          <a:xfrm>
            <a:off x="8513064"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Canary / pilote → extension + rollback</a:t>
            </a:r>
          </a:p>
        </p:txBody>
      </p:sp>
      <p:sp>
        <p:nvSpPr>
          <p:cNvPr id="109" name="Rounded Rectangle 108"/>
          <p:cNvSpPr/>
          <p:nvPr/>
        </p:nvSpPr>
        <p:spPr>
          <a:xfrm>
            <a:off x="8119872" y="3291839"/>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119872"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111" name="TextBox 110"/>
          <p:cNvSpPr txBox="1"/>
          <p:nvPr/>
        </p:nvSpPr>
        <p:spPr>
          <a:xfrm>
            <a:off x="8513064"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MàJ catalogue, index + purge RGPD</a:t>
            </a:r>
          </a:p>
        </p:txBody>
      </p:sp>
      <p:sp>
        <p:nvSpPr>
          <p:cNvPr id="112" name="Rounded Rectangle 111"/>
          <p:cNvSpPr/>
          <p:nvPr/>
        </p:nvSpPr>
        <p:spPr>
          <a:xfrm>
            <a:off x="8119872" y="3639311"/>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19872"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114" name="Rounded Rectangle 113"/>
          <p:cNvSpPr/>
          <p:nvPr/>
        </p:nvSpPr>
        <p:spPr>
          <a:xfrm>
            <a:off x="8458200"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458200"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116" name="TextBox 115"/>
          <p:cNvSpPr txBox="1"/>
          <p:nvPr/>
        </p:nvSpPr>
        <p:spPr>
          <a:xfrm>
            <a:off x="8851392"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Qualité, incidents, coûts + KPI</a:t>
            </a:r>
          </a:p>
        </p:txBody>
      </p:sp>
      <p:sp>
        <p:nvSpPr>
          <p:cNvPr id="117" name="Rectangle 116"/>
          <p:cNvSpPr/>
          <p:nvPr/>
        </p:nvSpPr>
        <p:spPr>
          <a:xfrm>
            <a:off x="8119872"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29016"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119" name="TextBox 118"/>
          <p:cNvSpPr txBox="1"/>
          <p:nvPr/>
        </p:nvSpPr>
        <p:spPr>
          <a:xfrm>
            <a:off x="8129016"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Service stabilisé + bilan SLA / incidents</a:t>
            </a:r>
          </a:p>
        </p:txBody>
      </p:sp>
      <p:sp>
        <p:nvSpPr>
          <p:cNvPr id="120" name="TextBox 119"/>
          <p:cNvSpPr txBox="1"/>
          <p:nvPr/>
        </p:nvSpPr>
        <p:spPr>
          <a:xfrm>
            <a:off x="8129016"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121" name="Rounded Rectangle 120"/>
          <p:cNvSpPr/>
          <p:nvPr/>
        </p:nvSpPr>
        <p:spPr>
          <a:xfrm>
            <a:off x="8129016"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129016"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123" name="TextBox 122"/>
          <p:cNvSpPr txBox="1"/>
          <p:nvPr/>
        </p:nvSpPr>
        <p:spPr>
          <a:xfrm>
            <a:off x="8503920"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124" name="Rounded Rectangle 123"/>
          <p:cNvSpPr/>
          <p:nvPr/>
        </p:nvSpPr>
        <p:spPr>
          <a:xfrm>
            <a:off x="10049256"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10049256" y="5038344"/>
            <a:ext cx="157285"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036808"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17 %</a:t>
            </a:r>
          </a:p>
        </p:txBody>
      </p:sp>
      <p:sp>
        <p:nvSpPr>
          <p:cNvPr id="127" name="Rounded Rectangle 126"/>
          <p:cNvSpPr/>
          <p:nvPr/>
        </p:nvSpPr>
        <p:spPr>
          <a:xfrm>
            <a:off x="8129016"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129016"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129" name="TextBox 128"/>
          <p:cNvSpPr txBox="1"/>
          <p:nvPr/>
        </p:nvSpPr>
        <p:spPr>
          <a:xfrm>
            <a:off x="8503920"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130" name="Rounded Rectangle 129"/>
          <p:cNvSpPr/>
          <p:nvPr/>
        </p:nvSpPr>
        <p:spPr>
          <a:xfrm>
            <a:off x="10049256"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10049256" y="5262372"/>
            <a:ext cx="188366"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1036808"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133" name="Rounded Rectangle 132"/>
          <p:cNvSpPr/>
          <p:nvPr/>
        </p:nvSpPr>
        <p:spPr>
          <a:xfrm>
            <a:off x="8129016"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29016"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135" name="TextBox 134"/>
          <p:cNvSpPr txBox="1"/>
          <p:nvPr/>
        </p:nvSpPr>
        <p:spPr>
          <a:xfrm>
            <a:off x="8503920"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136" name="Rounded Rectangle 135"/>
          <p:cNvSpPr/>
          <p:nvPr/>
        </p:nvSpPr>
        <p:spPr>
          <a:xfrm>
            <a:off x="10049256"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10049256" y="5486400"/>
            <a:ext cx="188366"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036808"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139" name="Rounded Rectangle 138"/>
          <p:cNvSpPr/>
          <p:nvPr/>
        </p:nvSpPr>
        <p:spPr>
          <a:xfrm>
            <a:off x="8129016"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129016"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141" name="TextBox 140"/>
          <p:cNvSpPr txBox="1"/>
          <p:nvPr/>
        </p:nvSpPr>
        <p:spPr>
          <a:xfrm>
            <a:off x="8503920"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142" name="Rounded Rectangle 141"/>
          <p:cNvSpPr/>
          <p:nvPr/>
        </p:nvSpPr>
        <p:spPr>
          <a:xfrm>
            <a:off x="10049256"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ounded Rectangle 142"/>
          <p:cNvSpPr/>
          <p:nvPr/>
        </p:nvSpPr>
        <p:spPr>
          <a:xfrm>
            <a:off x="10049256" y="5710428"/>
            <a:ext cx="659282"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036808"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70 %</a:t>
            </a:r>
          </a:p>
        </p:txBody>
      </p:sp>
      <p:sp>
        <p:nvSpPr>
          <p:cNvPr id="145" name="Rounded Rectangle 144"/>
          <p:cNvSpPr/>
          <p:nvPr/>
        </p:nvSpPr>
        <p:spPr>
          <a:xfrm>
            <a:off x="630936" y="5934456"/>
            <a:ext cx="10936224" cy="310896"/>
          </a:xfrm>
          <a:prstGeom prst="roundRect">
            <a:avLst>
              <a:gd name="adj" fmla="val 12000"/>
            </a:avLst>
          </a:prstGeom>
          <a:solidFill>
            <a:srgbClr val="E7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49808" y="5971032"/>
            <a:ext cx="10652760" cy="219456"/>
          </a:xfrm>
          <a:prstGeom prst="rect">
            <a:avLst/>
          </a:prstGeom>
          <a:noFill/>
        </p:spPr>
        <p:txBody>
          <a:bodyPr wrap="square" lIns="0" rIns="0" tIns="0" bIns="0" anchor="ctr">
            <a:spAutoFit/>
          </a:bodyPr>
          <a:lstStyle/>
          <a:p>
            <a:pPr>
              <a:spcAft>
                <a:spcPts val="0"/>
              </a:spcAft>
            </a:pPr>
            <a:r>
              <a:rPr sz="915" b="1">
                <a:solidFill>
                  <a:srgbClr val="213D31"/>
                </a:solidFill>
                <a:latin typeface="Aptos"/>
              </a:rPr>
              <a:t>COPROJ hebdo : équipe Data + Product   ·   ATELIERS MÉTIER : S1, S3, S8, S13   ·   COPIL : S3, S8, S13, S17</a:t>
            </a:r>
          </a:p>
        </p:txBody>
      </p:sp>
      <p:sp>
        <p:nvSpPr>
          <p:cNvPr id="147" name="TextBox 146"/>
          <p:cNvSpPr txBox="1"/>
          <p:nvPr/>
        </p:nvSpPr>
        <p:spPr>
          <a:xfrm>
            <a:off x="658368" y="6263640"/>
            <a:ext cx="10927080" cy="155448"/>
          </a:xfrm>
          <a:prstGeom prst="rect">
            <a:avLst/>
          </a:prstGeom>
          <a:noFill/>
        </p:spPr>
        <p:txBody>
          <a:bodyPr wrap="square" lIns="0" rIns="0" tIns="0" bIns="0" anchor="ctr">
            <a:spAutoFit/>
          </a:bodyPr>
          <a:lstStyle/>
          <a:p>
            <a:pPr>
              <a:spcAft>
                <a:spcPts val="0"/>
              </a:spcAft>
            </a:pPr>
            <a:r>
              <a:rPr sz="815" b="0">
                <a:solidFill>
                  <a:srgbClr val="607069"/>
                </a:solidFill>
                <a:latin typeface="Aptos"/>
              </a:rPr>
              <a:t>Staffing = JH alloués / (effectif du profil × jours ouvrés de la phase). Taux moyens, à confirmer individuellement.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01168"/>
          </a:xfrm>
          <a:prstGeom prst="rect">
            <a:avLst/>
          </a:prstGeom>
          <a:noFill/>
        </p:spPr>
        <p:txBody>
          <a:bodyPr wrap="square" lIns="0" rIns="0" tIns="0" bIns="0" anchor="ctr">
            <a:spAutoFit/>
          </a:bodyPr>
          <a:lstStyle/>
          <a:p>
            <a:pPr>
              <a:spcAft>
                <a:spcPts val="0"/>
              </a:spcAft>
            </a:pPr>
            <a:r>
              <a:rPr sz="930" b="1">
                <a:solidFill>
                  <a:srgbClr val="607069"/>
                </a:solidFill>
                <a:latin typeface="Aptos"/>
              </a:rPr>
              <a:t>15  /  JUSTIFICATION DE LA CAPACITÉ &amp; DU DÉPLOIEMENT</a:t>
            </a:r>
          </a:p>
        </p:txBody>
      </p:sp>
      <p:sp>
        <p:nvSpPr>
          <p:cNvPr id="4" name="TextBox 3"/>
          <p:cNvSpPr txBox="1"/>
          <p:nvPr/>
        </p:nvSpPr>
        <p:spPr>
          <a:xfrm>
            <a:off x="594360" y="594360"/>
            <a:ext cx="10972800" cy="566928"/>
          </a:xfrm>
          <a:prstGeom prst="rect">
            <a:avLst/>
          </a:prstGeom>
          <a:noFill/>
        </p:spPr>
        <p:txBody>
          <a:bodyPr wrap="square" lIns="0" rIns="0" tIns="0" bIns="0" anchor="ctr">
            <a:spAutoFit/>
          </a:bodyPr>
          <a:lstStyle/>
          <a:p>
            <a:pPr>
              <a:spcAft>
                <a:spcPts val="0"/>
              </a:spcAft>
            </a:pPr>
            <a:r>
              <a:rPr sz="2560" b="1">
                <a:solidFill>
                  <a:srgbClr val="17221F"/>
                </a:solidFill>
                <a:latin typeface="Aptos Display"/>
              </a:rPr>
              <a:t>Pourquoi ces taux de staffing ?</a:t>
            </a:r>
          </a:p>
        </p:txBody>
      </p:sp>
      <p:sp>
        <p:nvSpPr>
          <p:cNvPr id="5" name="TextBox 4"/>
          <p:cNvSpPr txBox="1"/>
          <p:nvPr/>
        </p:nvSpPr>
        <p:spPr>
          <a:xfrm>
            <a:off x="630936" y="1234440"/>
            <a:ext cx="10972800" cy="320040"/>
          </a:xfrm>
          <a:prstGeom prst="rect">
            <a:avLst/>
          </a:prstGeom>
          <a:noFill/>
        </p:spPr>
        <p:txBody>
          <a:bodyPr wrap="square" lIns="0" rIns="0" tIns="0" bIns="0" anchor="ctr">
            <a:spAutoFit/>
          </a:bodyPr>
          <a:lstStyle/>
          <a:p>
            <a:pPr>
              <a:spcAft>
                <a:spcPts val="0"/>
              </a:spcAft>
            </a:pPr>
            <a:r>
              <a:rPr sz="1075" b="0">
                <a:solidFill>
                  <a:srgbClr val="607069"/>
                </a:solidFill>
                <a:latin typeface="Aptos"/>
              </a:rPr>
              <a:t>Allocation prévisionnelle des 246 JH ; les effectifs disponibles ne sont pas nécessairement mobilisés à temps plein.</a:t>
            </a:r>
          </a:p>
        </p:txBody>
      </p:sp>
      <p:sp>
        <p:nvSpPr>
          <p:cNvPr id="6" name="Rectangle 5"/>
          <p:cNvSpPr/>
          <p:nvPr/>
        </p:nvSpPr>
        <p:spPr>
          <a:xfrm>
            <a:off x="594360" y="1664208"/>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37376"/>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73952"/>
            <a:ext cx="10149840" cy="155448"/>
          </a:xfrm>
          <a:prstGeom prst="rect">
            <a:avLst/>
          </a:prstGeom>
          <a:noFill/>
        </p:spPr>
        <p:txBody>
          <a:bodyPr wrap="square" lIns="0" rIns="0" tIns="0" bIns="0" anchor="ctr">
            <a:spAutoFit/>
          </a:bodyPr>
          <a:lstStyle/>
          <a:p>
            <a:pPr>
              <a:spcAft>
                <a:spcPts val="0"/>
              </a:spcAft>
            </a:pPr>
            <a:r>
              <a:rPr sz="800" b="0">
                <a:solidFill>
                  <a:srgbClr val="607069"/>
                </a:solidFill>
                <a:latin typeface="Aptos"/>
              </a:rPr>
              <a:t>FASHION–INSTA  ·  TIMELINE DATA &amp; IA  /  HYPOTHÈSES DE PLANIFICATION</a:t>
            </a:r>
          </a:p>
        </p:txBody>
      </p:sp>
      <p:sp>
        <p:nvSpPr>
          <p:cNvPr id="9" name="TextBox 8"/>
          <p:cNvSpPr txBox="1"/>
          <p:nvPr/>
        </p:nvSpPr>
        <p:spPr>
          <a:xfrm>
            <a:off x="11109960" y="6455664"/>
            <a:ext cx="457200" cy="182880"/>
          </a:xfrm>
          <a:prstGeom prst="rect">
            <a:avLst/>
          </a:prstGeom>
          <a:noFill/>
        </p:spPr>
        <p:txBody>
          <a:bodyPr wrap="square" lIns="0" rIns="0" tIns="0" bIns="0" anchor="ctr">
            <a:spAutoFit/>
          </a:bodyPr>
          <a:lstStyle/>
          <a:p>
            <a:pPr algn="r">
              <a:spcAft>
                <a:spcPts val="0"/>
              </a:spcAft>
            </a:pPr>
            <a:r>
              <a:rPr sz="900" b="0">
                <a:solidFill>
                  <a:srgbClr val="607069"/>
                </a:solidFill>
                <a:latin typeface="Aptos"/>
              </a:rPr>
              <a:t>17</a:t>
            </a:r>
          </a:p>
        </p:txBody>
      </p:sp>
      <p:sp>
        <p:nvSpPr>
          <p:cNvPr id="10" name="Rounded Rectangle 9"/>
          <p:cNvSpPr/>
          <p:nvPr/>
        </p:nvSpPr>
        <p:spPr>
          <a:xfrm>
            <a:off x="640080" y="1856231"/>
            <a:ext cx="10908792" cy="438912"/>
          </a:xfrm>
          <a:prstGeom prst="roundRect">
            <a:avLst>
              <a:gd name="adj" fmla="val 12000"/>
            </a:avLst>
          </a:prstGeom>
          <a:solidFill>
            <a:srgbClr val="213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65960"/>
            <a:ext cx="192024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PROFIL (EFFECTIF)</a:t>
            </a:r>
          </a:p>
        </p:txBody>
      </p:sp>
      <p:sp>
        <p:nvSpPr>
          <p:cNvPr id="12" name="TextBox 11"/>
          <p:cNvSpPr txBox="1"/>
          <p:nvPr/>
        </p:nvSpPr>
        <p:spPr>
          <a:xfrm>
            <a:off x="276148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POC · 15 J</a:t>
            </a:r>
          </a:p>
        </p:txBody>
      </p:sp>
      <p:sp>
        <p:nvSpPr>
          <p:cNvPr id="13" name="TextBox 12"/>
          <p:cNvSpPr txBox="1"/>
          <p:nvPr/>
        </p:nvSpPr>
        <p:spPr>
          <a:xfrm>
            <a:off x="445312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MVP · 50 J</a:t>
            </a:r>
          </a:p>
        </p:txBody>
      </p:sp>
      <p:sp>
        <p:nvSpPr>
          <p:cNvPr id="14" name="TextBox 13"/>
          <p:cNvSpPr txBox="1"/>
          <p:nvPr/>
        </p:nvSpPr>
        <p:spPr>
          <a:xfrm>
            <a:off x="614476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RUN · 20 J</a:t>
            </a:r>
          </a:p>
        </p:txBody>
      </p:sp>
      <p:sp>
        <p:nvSpPr>
          <p:cNvPr id="15" name="TextBox 14"/>
          <p:cNvSpPr txBox="1"/>
          <p:nvPr/>
        </p:nvSpPr>
        <p:spPr>
          <a:xfrm>
            <a:off x="7845552" y="1965960"/>
            <a:ext cx="34747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ARBITRAGE DE CHARGE</a:t>
            </a:r>
          </a:p>
        </p:txBody>
      </p:sp>
      <p:sp>
        <p:nvSpPr>
          <p:cNvPr id="16" name="Rectangle 15"/>
          <p:cNvSpPr/>
          <p:nvPr/>
        </p:nvSpPr>
        <p:spPr>
          <a:xfrm>
            <a:off x="640080" y="2304288"/>
            <a:ext cx="10908792" cy="566928"/>
          </a:xfrm>
          <a:prstGeom prst="rect">
            <a:avLst/>
          </a:prstGeom>
          <a:solidFill>
            <a:srgbClr val="F6F8F4"/>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414016"/>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DS ×3</a:t>
            </a:r>
          </a:p>
        </p:txBody>
      </p:sp>
      <p:sp>
        <p:nvSpPr>
          <p:cNvPr id="18" name="TextBox 17"/>
          <p:cNvSpPr txBox="1"/>
          <p:nvPr/>
        </p:nvSpPr>
        <p:spPr>
          <a:xfrm>
            <a:off x="276148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16 JH · 36 %</a:t>
            </a:r>
          </a:p>
        </p:txBody>
      </p:sp>
      <p:sp>
        <p:nvSpPr>
          <p:cNvPr id="19" name="TextBox 18"/>
          <p:cNvSpPr txBox="1"/>
          <p:nvPr/>
        </p:nvSpPr>
        <p:spPr>
          <a:xfrm>
            <a:off x="445312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75 JH · 50 %</a:t>
            </a:r>
          </a:p>
        </p:txBody>
      </p:sp>
      <p:sp>
        <p:nvSpPr>
          <p:cNvPr id="20" name="TextBox 19"/>
          <p:cNvSpPr txBox="1"/>
          <p:nvPr/>
        </p:nvSpPr>
        <p:spPr>
          <a:xfrm>
            <a:off x="614476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10 JH · 17 %</a:t>
            </a:r>
          </a:p>
        </p:txBody>
      </p:sp>
      <p:sp>
        <p:nvSpPr>
          <p:cNvPr id="21" name="TextBox 20"/>
          <p:cNvSpPr txBox="1"/>
          <p:nvPr/>
        </p:nvSpPr>
        <p:spPr>
          <a:xfrm>
            <a:off x="7845552" y="2414016"/>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MVP : classement, préférences et évaluations.</a:t>
            </a:r>
          </a:p>
        </p:txBody>
      </p:sp>
      <p:sp>
        <p:nvSpPr>
          <p:cNvPr id="22" name="Rectangle 21"/>
          <p:cNvSpPr/>
          <p:nvPr/>
        </p:nvSpPr>
        <p:spPr>
          <a:xfrm>
            <a:off x="640080" y="2880360"/>
            <a:ext cx="10908792" cy="566928"/>
          </a:xfrm>
          <a:prstGeom prst="rect">
            <a:avLst/>
          </a:prstGeom>
          <a:solidFill>
            <a:srgbClr val="FFFFFF"/>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2990088"/>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DE ×2</a:t>
            </a:r>
          </a:p>
        </p:txBody>
      </p:sp>
      <p:sp>
        <p:nvSpPr>
          <p:cNvPr id="24" name="TextBox 23"/>
          <p:cNvSpPr txBox="1"/>
          <p:nvPr/>
        </p:nvSpPr>
        <p:spPr>
          <a:xfrm>
            <a:off x="276148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6 JH · 20 %</a:t>
            </a:r>
          </a:p>
        </p:txBody>
      </p:sp>
      <p:sp>
        <p:nvSpPr>
          <p:cNvPr id="25" name="TextBox 24"/>
          <p:cNvSpPr txBox="1"/>
          <p:nvPr/>
        </p:nvSpPr>
        <p:spPr>
          <a:xfrm>
            <a:off x="445312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55 JH · 55 %</a:t>
            </a:r>
          </a:p>
        </p:txBody>
      </p:sp>
      <p:sp>
        <p:nvSpPr>
          <p:cNvPr id="26" name="TextBox 25"/>
          <p:cNvSpPr txBox="1"/>
          <p:nvPr/>
        </p:nvSpPr>
        <p:spPr>
          <a:xfrm>
            <a:off x="614476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8 JH · 20 %</a:t>
            </a:r>
          </a:p>
        </p:txBody>
      </p:sp>
      <p:sp>
        <p:nvSpPr>
          <p:cNvPr id="27" name="TextBox 26"/>
          <p:cNvSpPr txBox="1"/>
          <p:nvPr/>
        </p:nvSpPr>
        <p:spPr>
          <a:xfrm>
            <a:off x="7845552" y="2990088"/>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MVP : pipelines, fiabilité et données RGPD.</a:t>
            </a:r>
          </a:p>
        </p:txBody>
      </p:sp>
      <p:sp>
        <p:nvSpPr>
          <p:cNvPr id="28" name="Rectangle 27"/>
          <p:cNvSpPr/>
          <p:nvPr/>
        </p:nvSpPr>
        <p:spPr>
          <a:xfrm>
            <a:off x="640080" y="3456432"/>
            <a:ext cx="10908792" cy="566928"/>
          </a:xfrm>
          <a:prstGeom prst="rect">
            <a:avLst/>
          </a:prstGeom>
          <a:solidFill>
            <a:srgbClr val="F6F8F4"/>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566160"/>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TL ×1</a:t>
            </a:r>
          </a:p>
        </p:txBody>
      </p:sp>
      <p:sp>
        <p:nvSpPr>
          <p:cNvPr id="30" name="TextBox 29"/>
          <p:cNvSpPr txBox="1"/>
          <p:nvPr/>
        </p:nvSpPr>
        <p:spPr>
          <a:xfrm>
            <a:off x="276148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27 %</a:t>
            </a:r>
          </a:p>
        </p:txBody>
      </p:sp>
      <p:sp>
        <p:nvSpPr>
          <p:cNvPr id="31" name="TextBox 30"/>
          <p:cNvSpPr txBox="1"/>
          <p:nvPr/>
        </p:nvSpPr>
        <p:spPr>
          <a:xfrm>
            <a:off x="445312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20 JH · 40 %</a:t>
            </a:r>
          </a:p>
        </p:txBody>
      </p:sp>
      <p:sp>
        <p:nvSpPr>
          <p:cNvPr id="32" name="TextBox 31"/>
          <p:cNvSpPr txBox="1"/>
          <p:nvPr/>
        </p:nvSpPr>
        <p:spPr>
          <a:xfrm>
            <a:off x="614476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20 %</a:t>
            </a:r>
          </a:p>
        </p:txBody>
      </p:sp>
      <p:sp>
        <p:nvSpPr>
          <p:cNvPr id="33" name="TextBox 32"/>
          <p:cNvSpPr txBox="1"/>
          <p:nvPr/>
        </p:nvSpPr>
        <p:spPr>
          <a:xfrm>
            <a:off x="7845552" y="3566160"/>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Revues d’architecture et arbitrages aux jalons.</a:t>
            </a:r>
          </a:p>
        </p:txBody>
      </p:sp>
      <p:sp>
        <p:nvSpPr>
          <p:cNvPr id="34" name="Rectangle 33"/>
          <p:cNvSpPr/>
          <p:nvPr/>
        </p:nvSpPr>
        <p:spPr>
          <a:xfrm>
            <a:off x="640080" y="4032504"/>
            <a:ext cx="10908792" cy="566928"/>
          </a:xfrm>
          <a:prstGeom prst="rect">
            <a:avLst/>
          </a:prstGeom>
          <a:solidFill>
            <a:srgbClr val="FFFFFF"/>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142232"/>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MO ×1</a:t>
            </a:r>
          </a:p>
        </p:txBody>
      </p:sp>
      <p:sp>
        <p:nvSpPr>
          <p:cNvPr id="36" name="TextBox 35"/>
          <p:cNvSpPr txBox="1"/>
          <p:nvPr/>
        </p:nvSpPr>
        <p:spPr>
          <a:xfrm>
            <a:off x="276148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27 %</a:t>
            </a:r>
          </a:p>
        </p:txBody>
      </p:sp>
      <p:sp>
        <p:nvSpPr>
          <p:cNvPr id="37" name="TextBox 36"/>
          <p:cNvSpPr txBox="1"/>
          <p:nvPr/>
        </p:nvSpPr>
        <p:spPr>
          <a:xfrm>
            <a:off x="445312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30 JH · 60 %</a:t>
            </a:r>
          </a:p>
        </p:txBody>
      </p:sp>
      <p:sp>
        <p:nvSpPr>
          <p:cNvPr id="38" name="TextBox 37"/>
          <p:cNvSpPr txBox="1"/>
          <p:nvPr/>
        </p:nvSpPr>
        <p:spPr>
          <a:xfrm>
            <a:off x="614476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14 JH · 70 %</a:t>
            </a:r>
          </a:p>
        </p:txBody>
      </p:sp>
      <p:sp>
        <p:nvSpPr>
          <p:cNvPr id="39" name="TextBox 38"/>
          <p:cNvSpPr txBox="1"/>
          <p:nvPr/>
        </p:nvSpPr>
        <p:spPr>
          <a:xfrm>
            <a:off x="7845552" y="4142232"/>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Run : capacité élevée pour incidents et supervision.</a:t>
            </a:r>
          </a:p>
        </p:txBody>
      </p:sp>
      <p:sp>
        <p:nvSpPr>
          <p:cNvPr id="40" name="TextBox 39"/>
          <p:cNvSpPr txBox="1"/>
          <p:nvPr/>
        </p:nvSpPr>
        <p:spPr>
          <a:xfrm>
            <a:off x="704088" y="4681728"/>
            <a:ext cx="10853928" cy="246888"/>
          </a:xfrm>
          <a:prstGeom prst="rect">
            <a:avLst/>
          </a:prstGeom>
          <a:noFill/>
        </p:spPr>
        <p:txBody>
          <a:bodyPr wrap="square" lIns="0" rIns="0" tIns="0" bIns="0" anchor="ctr">
            <a:spAutoFit/>
          </a:bodyPr>
          <a:lstStyle/>
          <a:p>
            <a:pPr>
              <a:spcAft>
                <a:spcPts val="0"/>
              </a:spcAft>
            </a:pPr>
            <a:r>
              <a:rPr sz="1000" b="1">
                <a:solidFill>
                  <a:srgbClr val="213D31"/>
                </a:solidFill>
                <a:latin typeface="Aptos"/>
              </a:rPr>
              <a:t>Exemple : 75 JH de Data Scientists pendant le MVP ÷ (3 personnes × 50 jours ouvrés) = 50 % par personne en moyenne.</a:t>
            </a:r>
          </a:p>
        </p:txBody>
      </p:sp>
      <p:sp>
        <p:nvSpPr>
          <p:cNvPr id="41" name="Rounded Rectangle 40"/>
          <p:cNvSpPr/>
          <p:nvPr/>
        </p:nvSpPr>
        <p:spPr>
          <a:xfrm>
            <a:off x="640080" y="5020056"/>
            <a:ext cx="5358384" cy="1033271"/>
          </a:xfrm>
          <a:prstGeom prst="roundRect">
            <a:avLst>
              <a:gd name="adj" fmla="val 12000"/>
            </a:avLst>
          </a:prstGeom>
          <a:solidFill>
            <a:srgbClr val="F2F5F0"/>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120640"/>
            <a:ext cx="5001768" cy="182880"/>
          </a:xfrm>
          <a:prstGeom prst="rect">
            <a:avLst/>
          </a:prstGeom>
          <a:noFill/>
        </p:spPr>
        <p:txBody>
          <a:bodyPr wrap="square" lIns="0" rIns="0" tIns="0" bIns="0" anchor="ctr">
            <a:spAutoFit/>
          </a:bodyPr>
          <a:lstStyle/>
          <a:p>
            <a:pPr>
              <a:spcAft>
                <a:spcPts val="0"/>
              </a:spcAft>
            </a:pPr>
            <a:r>
              <a:rPr sz="910" b="1">
                <a:solidFill>
                  <a:srgbClr val="213D31"/>
                </a:solidFill>
                <a:latin typeface="Aptos"/>
              </a:rPr>
              <a:t>DÉPLOIEMENT MAÎTRISÉ</a:t>
            </a:r>
          </a:p>
        </p:txBody>
      </p:sp>
      <p:sp>
        <p:nvSpPr>
          <p:cNvPr id="43" name="TextBox 42"/>
          <p:cNvSpPr txBox="1"/>
          <p:nvPr/>
        </p:nvSpPr>
        <p:spPr>
          <a:xfrm>
            <a:off x="777240" y="5394960"/>
            <a:ext cx="5001768" cy="566928"/>
          </a:xfrm>
          <a:prstGeom prst="rect">
            <a:avLst/>
          </a:prstGeom>
          <a:noFill/>
        </p:spPr>
        <p:txBody>
          <a:bodyPr wrap="square" lIns="0" rIns="0" tIns="0" bIns="0" anchor="ctr">
            <a:spAutoFit/>
          </a:bodyPr>
          <a:lstStyle/>
          <a:p>
            <a:pPr>
              <a:spcAft>
                <a:spcPts val="0"/>
              </a:spcAft>
            </a:pPr>
            <a:r>
              <a:rPr sz="1010" b="0">
                <a:solidFill>
                  <a:srgbClr val="17221F"/>
                </a:solidFill>
                <a:latin typeface="Aptos"/>
              </a:rPr>
              <a:t>PoC hors ligne → MVP en mode shadow / pilote → canary, extension graduelle et rollback en Run.</a:t>
            </a:r>
          </a:p>
        </p:txBody>
      </p:sp>
      <p:sp>
        <p:nvSpPr>
          <p:cNvPr id="44" name="Rounded Rectangle 43"/>
          <p:cNvSpPr/>
          <p:nvPr/>
        </p:nvSpPr>
        <p:spPr>
          <a:xfrm>
            <a:off x="6163056" y="5020056"/>
            <a:ext cx="5385816" cy="1033271"/>
          </a:xfrm>
          <a:prstGeom prst="roundRect">
            <a:avLst>
              <a:gd name="adj" fmla="val 12000"/>
            </a:avLst>
          </a:prstGeom>
          <a:solidFill>
            <a:srgbClr val="F2F5F0"/>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0216" y="5120640"/>
            <a:ext cx="5020056" cy="182880"/>
          </a:xfrm>
          <a:prstGeom prst="rect">
            <a:avLst/>
          </a:prstGeom>
          <a:noFill/>
        </p:spPr>
        <p:txBody>
          <a:bodyPr wrap="square" lIns="0" rIns="0" tIns="0" bIns="0" anchor="ctr">
            <a:spAutoFit/>
          </a:bodyPr>
          <a:lstStyle/>
          <a:p>
            <a:pPr>
              <a:spcAft>
                <a:spcPts val="0"/>
              </a:spcAft>
            </a:pPr>
            <a:r>
              <a:rPr sz="910" b="1">
                <a:solidFill>
                  <a:srgbClr val="213D31"/>
                </a:solidFill>
                <a:latin typeface="Aptos"/>
              </a:rPr>
              <a:t>VALIDATION CONTINUE</a:t>
            </a:r>
          </a:p>
        </p:txBody>
      </p:sp>
      <p:sp>
        <p:nvSpPr>
          <p:cNvPr id="46" name="TextBox 45"/>
          <p:cNvSpPr txBox="1"/>
          <p:nvPr/>
        </p:nvSpPr>
        <p:spPr>
          <a:xfrm>
            <a:off x="6300216" y="5394960"/>
            <a:ext cx="5020056" cy="566928"/>
          </a:xfrm>
          <a:prstGeom prst="rect">
            <a:avLst/>
          </a:prstGeom>
          <a:noFill/>
        </p:spPr>
        <p:txBody>
          <a:bodyPr wrap="square" lIns="0" rIns="0" tIns="0" bIns="0" anchor="ctr">
            <a:spAutoFit/>
          </a:bodyPr>
          <a:lstStyle/>
          <a:p>
            <a:pPr>
              <a:spcAft>
                <a:spcPts val="0"/>
              </a:spcAft>
            </a:pPr>
            <a:r>
              <a:rPr sz="1010" b="0">
                <a:solidFill>
                  <a:srgbClr val="17221F"/>
                </a:solidFill>
                <a:latin typeface="Aptos"/>
              </a:rPr>
              <a:t>Coproj chaque semaine. Copil aux jalons S3/S8/S13/S17, avec experts métier, Alicia et l’équipe Data.</a:t>
            </a:r>
          </a:p>
        </p:txBody>
      </p:sp>
      <p:sp>
        <p:nvSpPr>
          <p:cNvPr id="47" name="TextBox 46"/>
          <p:cNvSpPr txBox="1"/>
          <p:nvPr/>
        </p:nvSpPr>
        <p:spPr>
          <a:xfrm>
            <a:off x="667512" y="6190488"/>
            <a:ext cx="10972800" cy="146304"/>
          </a:xfrm>
          <a:prstGeom prst="rect">
            <a:avLst/>
          </a:prstGeom>
          <a:noFill/>
        </p:spPr>
        <p:txBody>
          <a:bodyPr wrap="square" lIns="0" rIns="0" tIns="0" bIns="0" anchor="ctr">
            <a:spAutoFit/>
          </a:bodyPr>
          <a:lstStyle/>
          <a:p>
            <a:pPr>
              <a:spcAft>
                <a:spcPts val="0"/>
              </a:spcAft>
            </a:pPr>
            <a:r>
              <a:rPr sz="855" b="0">
                <a:solidFill>
                  <a:srgbClr val="607069"/>
                </a:solidFill>
                <a:latin typeface="Aptos"/>
              </a:rPr>
              <a:t>Aucun poste à 100 % par défaut : taux fondés sur les tâches ; disponibilité réelle et charge parallèle à confirmer.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46888"/>
            <a:ext cx="10972800" cy="201168"/>
          </a:xfrm>
          <a:prstGeom prst="rect">
            <a:avLst/>
          </a:prstGeom>
          <a:noFill/>
        </p:spPr>
        <p:txBody>
          <a:bodyPr wrap="square" lIns="10972" rIns="10972" tIns="0" bIns="0" anchor="ctr">
            <a:spAutoFit/>
          </a:bodyPr>
          <a:lstStyle/>
          <a:p>
            <a:pPr>
              <a:spcBef>
                <a:spcPts val="0"/>
              </a:spcBef>
              <a:spcAft>
                <a:spcPts val="0"/>
              </a:spcAft>
            </a:pPr>
            <a:r>
              <a:rPr sz="919" b="1">
                <a:solidFill>
                  <a:srgbClr val="607069"/>
                </a:solidFill>
                <a:latin typeface="Aptos"/>
              </a:rPr>
              <a:t>16  /  COÛTS DE RÉALISATION ET D’EXPLOITATION</a:t>
            </a:r>
          </a:p>
        </p:txBody>
      </p:sp>
      <p:sp>
        <p:nvSpPr>
          <p:cNvPr id="4" name="TextBox 3"/>
          <p:cNvSpPr txBox="1"/>
          <p:nvPr/>
        </p:nvSpPr>
        <p:spPr>
          <a:xfrm>
            <a:off x="594360" y="630936"/>
            <a:ext cx="10972800" cy="548640"/>
          </a:xfrm>
          <a:prstGeom prst="rect">
            <a:avLst/>
          </a:prstGeom>
          <a:noFill/>
        </p:spPr>
        <p:txBody>
          <a:bodyPr wrap="square" lIns="10972" rIns="10972" tIns="0" bIns="0" anchor="ctr">
            <a:spAutoFit/>
          </a:bodyPr>
          <a:lstStyle/>
          <a:p>
            <a:pPr>
              <a:spcBef>
                <a:spcPts val="0"/>
              </a:spcBef>
              <a:spcAft>
                <a:spcPts val="0"/>
              </a:spcAft>
            </a:pPr>
            <a:r>
              <a:rPr sz="2550" b="1">
                <a:solidFill>
                  <a:srgbClr val="17221F"/>
                </a:solidFill>
                <a:latin typeface="Aptos"/>
              </a:rPr>
              <a:t>Lancement par phase · Run récurrent ventilé</a:t>
            </a:r>
          </a:p>
        </p:txBody>
      </p:sp>
      <p:sp>
        <p:nvSpPr>
          <p:cNvPr id="5" name="Rectangle 4"/>
          <p:cNvSpPr/>
          <p:nvPr/>
        </p:nvSpPr>
        <p:spPr>
          <a:xfrm>
            <a:off x="594360" y="1572768"/>
            <a:ext cx="11009376" cy="11887"/>
          </a:xfrm>
          <a:prstGeom prst="rect">
            <a:avLst/>
          </a:prstGeom>
          <a:solidFill>
            <a:srgbClr val="D9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09928"/>
            <a:ext cx="10972800" cy="320040"/>
          </a:xfrm>
          <a:prstGeom prst="rect">
            <a:avLst/>
          </a:prstGeom>
          <a:noFill/>
        </p:spPr>
        <p:txBody>
          <a:bodyPr wrap="square" lIns="10972" rIns="10972" tIns="0" bIns="0" anchor="ctr">
            <a:spAutoFit/>
          </a:bodyPr>
          <a:lstStyle/>
          <a:p>
            <a:pPr>
              <a:spcBef>
                <a:spcPts val="0"/>
              </a:spcBef>
              <a:spcAft>
                <a:spcPts val="0"/>
              </a:spcAft>
            </a:pPr>
            <a:r>
              <a:rPr sz="1120" b="0">
                <a:solidFill>
                  <a:srgbClr val="607069"/>
                </a:solidFill>
                <a:latin typeface="Aptos"/>
              </a:rPr>
              <a:t>Périmètre Data / IA uniquement — tarifs internes officiels ; provisions Azure illustratives, non devisées.</a:t>
            </a:r>
          </a:p>
        </p:txBody>
      </p:sp>
      <p:sp>
        <p:nvSpPr>
          <p:cNvPr id="7" name="Rectangle 6"/>
          <p:cNvSpPr/>
          <p:nvPr/>
        </p:nvSpPr>
        <p:spPr>
          <a:xfrm>
            <a:off x="594360" y="6437376"/>
            <a:ext cx="11009376" cy="10972"/>
          </a:xfrm>
          <a:prstGeom prst="rect">
            <a:avLst/>
          </a:prstGeom>
          <a:solidFill>
            <a:srgbClr val="D9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464808"/>
            <a:ext cx="10378440" cy="164592"/>
          </a:xfrm>
          <a:prstGeom prst="rect">
            <a:avLst/>
          </a:prstGeom>
          <a:noFill/>
        </p:spPr>
        <p:txBody>
          <a:bodyPr wrap="square" lIns="10972" rIns="10972" tIns="0" bIns="0" anchor="ctr">
            <a:spAutoFit/>
          </a:bodyPr>
          <a:lstStyle/>
          <a:p>
            <a:pPr>
              <a:spcBef>
                <a:spcPts val="0"/>
              </a:spcBef>
              <a:spcAft>
                <a:spcPts val="0"/>
              </a:spcAft>
            </a:pPr>
            <a:r>
              <a:rPr sz="790" b="0">
                <a:solidFill>
                  <a:srgbClr val="607069"/>
                </a:solidFill>
                <a:latin typeface="Aptos"/>
              </a:rPr>
              <a:t>FASHION–INSTA  ·  ÉTAPE 3 — DIMENSIONNEMENT ÉCONOMIQUE  /  SCÉNARIOS À VALIDER</a:t>
            </a:r>
          </a:p>
        </p:txBody>
      </p:sp>
      <p:sp>
        <p:nvSpPr>
          <p:cNvPr id="9" name="TextBox 8"/>
          <p:cNvSpPr txBox="1"/>
          <p:nvPr/>
        </p:nvSpPr>
        <p:spPr>
          <a:xfrm>
            <a:off x="11073384" y="6446520"/>
            <a:ext cx="484632" cy="182880"/>
          </a:xfrm>
          <a:prstGeom prst="rect">
            <a:avLst/>
          </a:prstGeom>
          <a:noFill/>
        </p:spPr>
        <p:txBody>
          <a:bodyPr wrap="square" lIns="10972" rIns="10972" tIns="0" bIns="0" anchor="ctr">
            <a:spAutoFit/>
          </a:bodyPr>
          <a:lstStyle/>
          <a:p>
            <a:pPr algn="r">
              <a:spcBef>
                <a:spcPts val="0"/>
              </a:spcBef>
              <a:spcAft>
                <a:spcPts val="0"/>
              </a:spcAft>
            </a:pPr>
            <a:r>
              <a:rPr sz="900" b="0">
                <a:solidFill>
                  <a:srgbClr val="607069"/>
                </a:solidFill>
                <a:latin typeface="Aptos"/>
              </a:rPr>
              <a:t>18</a:t>
            </a:r>
          </a:p>
        </p:txBody>
      </p:sp>
      <p:sp>
        <p:nvSpPr>
          <p:cNvPr id="10" name="Rounded Rectangle 9"/>
          <p:cNvSpPr/>
          <p:nvPr/>
        </p:nvSpPr>
        <p:spPr>
          <a:xfrm>
            <a:off x="649224" y="2157984"/>
            <a:ext cx="6565392" cy="2587752"/>
          </a:xfrm>
          <a:prstGeom prst="roundRect">
            <a:avLst>
              <a:gd name="adj" fmla="val 11000"/>
            </a:avLst>
          </a:prstGeom>
          <a:solidFill>
            <a:srgbClr val="F5F8F5"/>
          </a:solidFill>
          <a:ln w="6985">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 y="2157984"/>
            <a:ext cx="6565392" cy="374904"/>
          </a:xfrm>
          <a:prstGeom prst="roundRect">
            <a:avLst>
              <a:gd name="adj" fmla="val 11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 y="2258568"/>
            <a:ext cx="1645920"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PHASE</a:t>
            </a:r>
          </a:p>
        </p:txBody>
      </p:sp>
      <p:sp>
        <p:nvSpPr>
          <p:cNvPr id="13" name="TextBox 12"/>
          <p:cNvSpPr txBox="1"/>
          <p:nvPr/>
        </p:nvSpPr>
        <p:spPr>
          <a:xfrm>
            <a:off x="2532888" y="2258568"/>
            <a:ext cx="594360"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JH</a:t>
            </a:r>
          </a:p>
        </p:txBody>
      </p:sp>
      <p:sp>
        <p:nvSpPr>
          <p:cNvPr id="14" name="TextBox 13"/>
          <p:cNvSpPr txBox="1"/>
          <p:nvPr/>
        </p:nvSpPr>
        <p:spPr>
          <a:xfrm>
            <a:off x="3246120" y="2258568"/>
            <a:ext cx="1106424"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HUMAINS</a:t>
            </a:r>
          </a:p>
        </p:txBody>
      </p:sp>
      <p:sp>
        <p:nvSpPr>
          <p:cNvPr id="15" name="TextBox 14"/>
          <p:cNvSpPr txBox="1"/>
          <p:nvPr/>
        </p:nvSpPr>
        <p:spPr>
          <a:xfrm>
            <a:off x="4526280" y="2258568"/>
            <a:ext cx="1014984"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AZURE</a:t>
            </a:r>
          </a:p>
        </p:txBody>
      </p:sp>
      <p:sp>
        <p:nvSpPr>
          <p:cNvPr id="16" name="TextBox 15"/>
          <p:cNvSpPr txBox="1"/>
          <p:nvPr/>
        </p:nvSpPr>
        <p:spPr>
          <a:xfrm>
            <a:off x="5632704" y="2258568"/>
            <a:ext cx="1344168" cy="164592"/>
          </a:xfrm>
          <a:prstGeom prst="rect">
            <a:avLst/>
          </a:prstGeom>
          <a:noFill/>
        </p:spPr>
        <p:txBody>
          <a:bodyPr wrap="square" lIns="10972" rIns="10972" tIns="0" bIns="0" anchor="ctr">
            <a:spAutoFit/>
          </a:bodyPr>
          <a:lstStyle/>
          <a:p>
            <a:pPr>
              <a:spcBef>
                <a:spcPts val="0"/>
              </a:spcBef>
              <a:spcAft>
                <a:spcPts val="0"/>
              </a:spcAft>
            </a:pPr>
            <a:r>
              <a:rPr sz="885" b="1">
                <a:solidFill>
                  <a:srgbClr val="FFFFFF"/>
                </a:solidFill>
                <a:latin typeface="Aptos"/>
              </a:rPr>
              <a:t>TOTAL</a:t>
            </a:r>
          </a:p>
        </p:txBody>
      </p:sp>
      <p:sp>
        <p:nvSpPr>
          <p:cNvPr id="17" name="TextBox 16"/>
          <p:cNvSpPr txBox="1"/>
          <p:nvPr/>
        </p:nvSpPr>
        <p:spPr>
          <a:xfrm>
            <a:off x="813816" y="2670048"/>
            <a:ext cx="167335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PoC  ·  3 sem.</a:t>
            </a:r>
          </a:p>
        </p:txBody>
      </p:sp>
      <p:sp>
        <p:nvSpPr>
          <p:cNvPr id="18" name="TextBox 17"/>
          <p:cNvSpPr txBox="1"/>
          <p:nvPr/>
        </p:nvSpPr>
        <p:spPr>
          <a:xfrm>
            <a:off x="2532888" y="2670048"/>
            <a:ext cx="50292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30</a:t>
            </a:r>
          </a:p>
        </p:txBody>
      </p:sp>
      <p:sp>
        <p:nvSpPr>
          <p:cNvPr id="19" name="TextBox 18"/>
          <p:cNvSpPr txBox="1"/>
          <p:nvPr/>
        </p:nvSpPr>
        <p:spPr>
          <a:xfrm>
            <a:off x="3246120" y="2670048"/>
            <a:ext cx="117043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10 860 €</a:t>
            </a:r>
          </a:p>
        </p:txBody>
      </p:sp>
      <p:sp>
        <p:nvSpPr>
          <p:cNvPr id="20" name="TextBox 19"/>
          <p:cNvSpPr txBox="1"/>
          <p:nvPr/>
        </p:nvSpPr>
        <p:spPr>
          <a:xfrm>
            <a:off x="4526280" y="2670048"/>
            <a:ext cx="100584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400 €</a:t>
            </a:r>
          </a:p>
        </p:txBody>
      </p:sp>
      <p:sp>
        <p:nvSpPr>
          <p:cNvPr id="21" name="TextBox 20"/>
          <p:cNvSpPr txBox="1"/>
          <p:nvPr/>
        </p:nvSpPr>
        <p:spPr>
          <a:xfrm>
            <a:off x="5632704" y="2670048"/>
            <a:ext cx="1298448"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11 260 €</a:t>
            </a:r>
          </a:p>
        </p:txBody>
      </p:sp>
      <p:sp>
        <p:nvSpPr>
          <p:cNvPr id="22" name="Rectangle 21"/>
          <p:cNvSpPr/>
          <p:nvPr/>
        </p:nvSpPr>
        <p:spPr>
          <a:xfrm>
            <a:off x="713232" y="3072384"/>
            <a:ext cx="6419088"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3182112"/>
            <a:ext cx="167335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MVP  ·  10 sem.</a:t>
            </a:r>
          </a:p>
        </p:txBody>
      </p:sp>
      <p:sp>
        <p:nvSpPr>
          <p:cNvPr id="24" name="TextBox 23"/>
          <p:cNvSpPr txBox="1"/>
          <p:nvPr/>
        </p:nvSpPr>
        <p:spPr>
          <a:xfrm>
            <a:off x="2532888" y="3182112"/>
            <a:ext cx="50292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180</a:t>
            </a:r>
          </a:p>
        </p:txBody>
      </p:sp>
      <p:sp>
        <p:nvSpPr>
          <p:cNvPr id="25" name="TextBox 24"/>
          <p:cNvSpPr txBox="1"/>
          <p:nvPr/>
        </p:nvSpPr>
        <p:spPr>
          <a:xfrm>
            <a:off x="3246120" y="3182112"/>
            <a:ext cx="117043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65 400 €</a:t>
            </a:r>
          </a:p>
        </p:txBody>
      </p:sp>
      <p:sp>
        <p:nvSpPr>
          <p:cNvPr id="26" name="TextBox 25"/>
          <p:cNvSpPr txBox="1"/>
          <p:nvPr/>
        </p:nvSpPr>
        <p:spPr>
          <a:xfrm>
            <a:off x="4526280" y="3182112"/>
            <a:ext cx="100584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2 500 €</a:t>
            </a:r>
          </a:p>
        </p:txBody>
      </p:sp>
      <p:sp>
        <p:nvSpPr>
          <p:cNvPr id="27" name="TextBox 26"/>
          <p:cNvSpPr txBox="1"/>
          <p:nvPr/>
        </p:nvSpPr>
        <p:spPr>
          <a:xfrm>
            <a:off x="5632704" y="3182112"/>
            <a:ext cx="1298448"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67 900 €</a:t>
            </a:r>
          </a:p>
        </p:txBody>
      </p:sp>
      <p:sp>
        <p:nvSpPr>
          <p:cNvPr id="28" name="TextBox 27"/>
          <p:cNvSpPr txBox="1"/>
          <p:nvPr/>
        </p:nvSpPr>
        <p:spPr>
          <a:xfrm>
            <a:off x="813816" y="3694176"/>
            <a:ext cx="167335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Run initial  ·  4 sem.</a:t>
            </a:r>
          </a:p>
        </p:txBody>
      </p:sp>
      <p:sp>
        <p:nvSpPr>
          <p:cNvPr id="29" name="TextBox 28"/>
          <p:cNvSpPr txBox="1"/>
          <p:nvPr/>
        </p:nvSpPr>
        <p:spPr>
          <a:xfrm>
            <a:off x="2532888" y="3694176"/>
            <a:ext cx="50292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36</a:t>
            </a:r>
          </a:p>
        </p:txBody>
      </p:sp>
      <p:sp>
        <p:nvSpPr>
          <p:cNvPr id="30" name="TextBox 29"/>
          <p:cNvSpPr txBox="1"/>
          <p:nvPr/>
        </p:nvSpPr>
        <p:spPr>
          <a:xfrm>
            <a:off x="3246120" y="3694176"/>
            <a:ext cx="1170432"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13 100 €</a:t>
            </a:r>
          </a:p>
        </p:txBody>
      </p:sp>
      <p:sp>
        <p:nvSpPr>
          <p:cNvPr id="31" name="TextBox 30"/>
          <p:cNvSpPr txBox="1"/>
          <p:nvPr/>
        </p:nvSpPr>
        <p:spPr>
          <a:xfrm>
            <a:off x="4526280" y="3694176"/>
            <a:ext cx="1005840"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700 €</a:t>
            </a:r>
          </a:p>
        </p:txBody>
      </p:sp>
      <p:sp>
        <p:nvSpPr>
          <p:cNvPr id="32" name="TextBox 31"/>
          <p:cNvSpPr txBox="1"/>
          <p:nvPr/>
        </p:nvSpPr>
        <p:spPr>
          <a:xfrm>
            <a:off x="5632704" y="3694176"/>
            <a:ext cx="1298448" cy="20116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13 800 €</a:t>
            </a:r>
          </a:p>
        </p:txBody>
      </p:sp>
      <p:sp>
        <p:nvSpPr>
          <p:cNvPr id="33" name="Rectangle 32"/>
          <p:cNvSpPr/>
          <p:nvPr/>
        </p:nvSpPr>
        <p:spPr>
          <a:xfrm>
            <a:off x="713232" y="4096511"/>
            <a:ext cx="6419088" cy="475488"/>
          </a:xfrm>
          <a:prstGeom prst="rect">
            <a:avLst/>
          </a:prstGeom>
          <a:solidFill>
            <a:srgbClr val="EA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 y="4206240"/>
            <a:ext cx="1673352"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TOTAL LANCEMENT</a:t>
            </a:r>
          </a:p>
        </p:txBody>
      </p:sp>
      <p:sp>
        <p:nvSpPr>
          <p:cNvPr id="35" name="TextBox 34"/>
          <p:cNvSpPr txBox="1"/>
          <p:nvPr/>
        </p:nvSpPr>
        <p:spPr>
          <a:xfrm>
            <a:off x="2532888" y="4206240"/>
            <a:ext cx="502920"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246</a:t>
            </a:r>
          </a:p>
        </p:txBody>
      </p:sp>
      <p:sp>
        <p:nvSpPr>
          <p:cNvPr id="36" name="TextBox 35"/>
          <p:cNvSpPr txBox="1"/>
          <p:nvPr/>
        </p:nvSpPr>
        <p:spPr>
          <a:xfrm>
            <a:off x="3246120" y="4206240"/>
            <a:ext cx="1170432"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89 360 €</a:t>
            </a:r>
          </a:p>
        </p:txBody>
      </p:sp>
      <p:sp>
        <p:nvSpPr>
          <p:cNvPr id="37" name="TextBox 36"/>
          <p:cNvSpPr txBox="1"/>
          <p:nvPr/>
        </p:nvSpPr>
        <p:spPr>
          <a:xfrm>
            <a:off x="4526280" y="4206240"/>
            <a:ext cx="1005840"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3 600 €</a:t>
            </a:r>
          </a:p>
        </p:txBody>
      </p:sp>
      <p:sp>
        <p:nvSpPr>
          <p:cNvPr id="38" name="TextBox 37"/>
          <p:cNvSpPr txBox="1"/>
          <p:nvPr/>
        </p:nvSpPr>
        <p:spPr>
          <a:xfrm>
            <a:off x="5632704" y="4206240"/>
            <a:ext cx="1298448" cy="201168"/>
          </a:xfrm>
          <a:prstGeom prst="rect">
            <a:avLst/>
          </a:prstGeom>
          <a:noFill/>
        </p:spPr>
        <p:txBody>
          <a:bodyPr wrap="square" lIns="10972" rIns="10972" tIns="0" bIns="0" anchor="ctr">
            <a:spAutoFit/>
          </a:bodyPr>
          <a:lstStyle/>
          <a:p>
            <a:pPr>
              <a:spcBef>
                <a:spcPts val="0"/>
              </a:spcBef>
              <a:spcAft>
                <a:spcPts val="0"/>
              </a:spcAft>
            </a:pPr>
            <a:r>
              <a:rPr sz="955" b="1">
                <a:solidFill>
                  <a:srgbClr val="213B30"/>
                </a:solidFill>
                <a:latin typeface="Aptos"/>
              </a:rPr>
              <a:t>92 960 €</a:t>
            </a:r>
          </a:p>
        </p:txBody>
      </p:sp>
      <p:sp>
        <p:nvSpPr>
          <p:cNvPr id="39" name="TextBox 38"/>
          <p:cNvSpPr txBox="1"/>
          <p:nvPr/>
        </p:nvSpPr>
        <p:spPr>
          <a:xfrm>
            <a:off x="768096" y="4809744"/>
            <a:ext cx="6455664" cy="329184"/>
          </a:xfrm>
          <a:prstGeom prst="rect">
            <a:avLst/>
          </a:prstGeom>
          <a:noFill/>
        </p:spPr>
        <p:txBody>
          <a:bodyPr wrap="square" lIns="10972" rIns="10972" tIns="0" bIns="0" anchor="ctr">
            <a:spAutoFit/>
          </a:bodyPr>
          <a:lstStyle/>
          <a:p>
            <a:pPr>
              <a:spcBef>
                <a:spcPts val="0"/>
              </a:spcBef>
              <a:spcAft>
                <a:spcPts val="0"/>
              </a:spcAft>
            </a:pPr>
            <a:r>
              <a:rPr sz="905" b="0">
                <a:solidFill>
                  <a:srgbClr val="607069"/>
                </a:solidFill>
                <a:latin typeface="Aptos"/>
              </a:rPr>
              <a:t>Lancement = PoC + MVP + Run initial (17 sem.) ; puis Run récurrent, sans double comptage.</a:t>
            </a:r>
          </a:p>
        </p:txBody>
      </p:sp>
      <p:sp>
        <p:nvSpPr>
          <p:cNvPr id="40" name="Rounded Rectangle 39"/>
          <p:cNvSpPr/>
          <p:nvPr/>
        </p:nvSpPr>
        <p:spPr>
          <a:xfrm>
            <a:off x="7406640" y="2157984"/>
            <a:ext cx="4160520" cy="2971800"/>
          </a:xfrm>
          <a:prstGeom prst="roundRect">
            <a:avLst>
              <a:gd name="adj" fmla="val 11000"/>
            </a:avLst>
          </a:prstGeom>
          <a:solidFill>
            <a:srgbClr val="F5F8F5"/>
          </a:solidFill>
          <a:ln w="6985">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406640" y="2157984"/>
            <a:ext cx="4160520" cy="374904"/>
          </a:xfrm>
          <a:prstGeom prst="roundRect">
            <a:avLst>
              <a:gd name="adj" fmla="val 11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98664" y="2258568"/>
            <a:ext cx="3703320" cy="164592"/>
          </a:xfrm>
          <a:prstGeom prst="rect">
            <a:avLst/>
          </a:prstGeom>
          <a:noFill/>
        </p:spPr>
        <p:txBody>
          <a:bodyPr wrap="square" lIns="10972" rIns="10972" tIns="0" bIns="0" anchor="ctr">
            <a:spAutoFit/>
          </a:bodyPr>
          <a:lstStyle/>
          <a:p>
            <a:pPr>
              <a:spcBef>
                <a:spcPts val="0"/>
              </a:spcBef>
              <a:spcAft>
                <a:spcPts val="0"/>
              </a:spcAft>
            </a:pPr>
            <a:r>
              <a:rPr sz="930" b="1">
                <a:solidFill>
                  <a:srgbClr val="FFFFFF"/>
                </a:solidFill>
                <a:latin typeface="Aptos"/>
              </a:rPr>
              <a:t>RUN APRÈS S17 · PAR MOIS</a:t>
            </a:r>
          </a:p>
        </p:txBody>
      </p:sp>
      <p:sp>
        <p:nvSpPr>
          <p:cNvPr id="43" name="TextBox 42"/>
          <p:cNvSpPr txBox="1"/>
          <p:nvPr/>
        </p:nvSpPr>
        <p:spPr>
          <a:xfrm>
            <a:off x="7580375" y="2633472"/>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Équipe Data / IA</a:t>
            </a:r>
          </a:p>
        </p:txBody>
      </p:sp>
      <p:sp>
        <p:nvSpPr>
          <p:cNvPr id="44" name="TextBox 43"/>
          <p:cNvSpPr txBox="1"/>
          <p:nvPr/>
        </p:nvSpPr>
        <p:spPr>
          <a:xfrm>
            <a:off x="10332720" y="2633472"/>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6 560 €</a:t>
            </a:r>
          </a:p>
        </p:txBody>
      </p:sp>
      <p:sp>
        <p:nvSpPr>
          <p:cNvPr id="45" name="TextBox 44"/>
          <p:cNvSpPr txBox="1"/>
          <p:nvPr/>
        </p:nvSpPr>
        <p:spPr>
          <a:xfrm>
            <a:off x="7580375" y="3054096"/>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Compute + capacité managée¹</a:t>
            </a:r>
          </a:p>
        </p:txBody>
      </p:sp>
      <p:sp>
        <p:nvSpPr>
          <p:cNvPr id="46" name="TextBox 45"/>
          <p:cNvSpPr txBox="1"/>
          <p:nvPr/>
        </p:nvSpPr>
        <p:spPr>
          <a:xfrm>
            <a:off x="10332720" y="3054096"/>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1 450 €</a:t>
            </a:r>
          </a:p>
        </p:txBody>
      </p:sp>
      <p:sp>
        <p:nvSpPr>
          <p:cNvPr id="47" name="TextBox 46"/>
          <p:cNvSpPr txBox="1"/>
          <p:nvPr/>
        </p:nvSpPr>
        <p:spPr>
          <a:xfrm>
            <a:off x="7580375" y="3474720"/>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Storage Blob²</a:t>
            </a:r>
          </a:p>
        </p:txBody>
      </p:sp>
      <p:sp>
        <p:nvSpPr>
          <p:cNvPr id="48" name="TextBox 47"/>
          <p:cNvSpPr txBox="1"/>
          <p:nvPr/>
        </p:nvSpPr>
        <p:spPr>
          <a:xfrm>
            <a:off x="10332720" y="3474720"/>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100 €</a:t>
            </a:r>
          </a:p>
        </p:txBody>
      </p:sp>
      <p:sp>
        <p:nvSpPr>
          <p:cNvPr id="49" name="TextBox 48"/>
          <p:cNvSpPr txBox="1"/>
          <p:nvPr/>
        </p:nvSpPr>
        <p:spPr>
          <a:xfrm>
            <a:off x="7580375" y="3895344"/>
            <a:ext cx="2743200" cy="246888"/>
          </a:xfrm>
          <a:prstGeom prst="rect">
            <a:avLst/>
          </a:prstGeom>
          <a:noFill/>
        </p:spPr>
        <p:txBody>
          <a:bodyPr wrap="square" lIns="10972" rIns="10972" tIns="0" bIns="0" anchor="ctr">
            <a:spAutoFit/>
          </a:bodyPr>
          <a:lstStyle/>
          <a:p>
            <a:pPr>
              <a:spcBef>
                <a:spcPts val="0"/>
              </a:spcBef>
              <a:spcAft>
                <a:spcPts val="0"/>
              </a:spcAft>
            </a:pPr>
            <a:r>
              <a:rPr sz="955" b="0">
                <a:solidFill>
                  <a:srgbClr val="17221F"/>
                </a:solidFill>
                <a:latin typeface="Aptos"/>
              </a:rPr>
              <a:t>Logs, sécurité et réseau</a:t>
            </a:r>
          </a:p>
        </p:txBody>
      </p:sp>
      <p:sp>
        <p:nvSpPr>
          <p:cNvPr id="50" name="TextBox 49"/>
          <p:cNvSpPr txBox="1"/>
          <p:nvPr/>
        </p:nvSpPr>
        <p:spPr>
          <a:xfrm>
            <a:off x="10332720" y="3895344"/>
            <a:ext cx="1024128" cy="246888"/>
          </a:xfrm>
          <a:prstGeom prst="rect">
            <a:avLst/>
          </a:prstGeom>
          <a:noFill/>
        </p:spPr>
        <p:txBody>
          <a:bodyPr wrap="square" lIns="10972" rIns="10972" tIns="0" bIns="0" anchor="ctr">
            <a:spAutoFit/>
          </a:bodyPr>
          <a:lstStyle/>
          <a:p>
            <a:pPr algn="r">
              <a:spcBef>
                <a:spcPts val="0"/>
              </a:spcBef>
              <a:spcAft>
                <a:spcPts val="0"/>
              </a:spcAft>
            </a:pPr>
            <a:r>
              <a:rPr sz="960" b="1">
                <a:solidFill>
                  <a:srgbClr val="213B30"/>
                </a:solidFill>
                <a:latin typeface="Aptos"/>
              </a:rPr>
              <a:t>250 €</a:t>
            </a:r>
          </a:p>
        </p:txBody>
      </p:sp>
      <p:sp>
        <p:nvSpPr>
          <p:cNvPr id="51" name="Rounded Rectangle 50"/>
          <p:cNvSpPr/>
          <p:nvPr/>
        </p:nvSpPr>
        <p:spPr>
          <a:xfrm>
            <a:off x="7543800" y="4416552"/>
            <a:ext cx="3858768" cy="530352"/>
          </a:xfrm>
          <a:prstGeom prst="roundRect">
            <a:avLst>
              <a:gd name="adj" fmla="val 11000"/>
            </a:avLst>
          </a:prstGeom>
          <a:solidFill>
            <a:srgbClr val="EA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90104" y="4498848"/>
            <a:ext cx="3547872" cy="292608"/>
          </a:xfrm>
          <a:prstGeom prst="rect">
            <a:avLst/>
          </a:prstGeom>
          <a:noFill/>
        </p:spPr>
        <p:txBody>
          <a:bodyPr wrap="square" lIns="10972" rIns="10972" tIns="0" bIns="0" anchor="ctr">
            <a:spAutoFit/>
          </a:bodyPr>
          <a:lstStyle/>
          <a:p>
            <a:pPr>
              <a:spcBef>
                <a:spcPts val="0"/>
              </a:spcBef>
              <a:spcAft>
                <a:spcPts val="0"/>
              </a:spcAft>
            </a:pPr>
            <a:r>
              <a:rPr sz="2030" b="1">
                <a:solidFill>
                  <a:srgbClr val="213B30"/>
                </a:solidFill>
                <a:latin typeface="Aptos"/>
              </a:rPr>
              <a:t>8 360 € / mois</a:t>
            </a:r>
          </a:p>
        </p:txBody>
      </p:sp>
      <p:sp>
        <p:nvSpPr>
          <p:cNvPr id="53" name="Rounded Rectangle 52"/>
          <p:cNvSpPr/>
          <p:nvPr/>
        </p:nvSpPr>
        <p:spPr>
          <a:xfrm>
            <a:off x="649224" y="5257800"/>
            <a:ext cx="10917936" cy="640080"/>
          </a:xfrm>
          <a:prstGeom prst="roundRect">
            <a:avLst>
              <a:gd name="adj" fmla="val 11000"/>
            </a:avLst>
          </a:prstGeom>
          <a:solidFill>
            <a:srgbClr val="EA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 y="5385816"/>
            <a:ext cx="2926080" cy="310896"/>
          </a:xfrm>
          <a:prstGeom prst="rect">
            <a:avLst/>
          </a:prstGeom>
          <a:noFill/>
        </p:spPr>
        <p:txBody>
          <a:bodyPr wrap="square" lIns="10972" rIns="10972" tIns="0" bIns="0" anchor="ctr">
            <a:spAutoFit/>
          </a:bodyPr>
          <a:lstStyle/>
          <a:p>
            <a:pPr>
              <a:spcBef>
                <a:spcPts val="0"/>
              </a:spcBef>
              <a:spcAft>
                <a:spcPts val="0"/>
              </a:spcAft>
            </a:pPr>
            <a:r>
              <a:rPr sz="1850" b="1">
                <a:solidFill>
                  <a:srgbClr val="213B30"/>
                </a:solidFill>
                <a:latin typeface="Aptos"/>
              </a:rPr>
              <a:t>100 320 € / an</a:t>
            </a:r>
          </a:p>
        </p:txBody>
      </p:sp>
      <p:sp>
        <p:nvSpPr>
          <p:cNvPr id="55" name="TextBox 54"/>
          <p:cNvSpPr txBox="1"/>
          <p:nvPr/>
        </p:nvSpPr>
        <p:spPr>
          <a:xfrm>
            <a:off x="3776472" y="5394960"/>
            <a:ext cx="7452360" cy="274320"/>
          </a:xfrm>
          <a:prstGeom prst="rect">
            <a:avLst/>
          </a:prstGeom>
          <a:noFill/>
        </p:spPr>
        <p:txBody>
          <a:bodyPr wrap="square" lIns="10972" rIns="10972" tIns="0" bIns="0" anchor="ctr">
            <a:spAutoFit/>
          </a:bodyPr>
          <a:lstStyle/>
          <a:p>
            <a:pPr>
              <a:spcBef>
                <a:spcPts val="0"/>
              </a:spcBef>
              <a:spcAft>
                <a:spcPts val="0"/>
              </a:spcAft>
            </a:pPr>
            <a:r>
              <a:rPr sz="1100" b="0">
                <a:solidFill>
                  <a:srgbClr val="17221F"/>
                </a:solidFill>
                <a:latin typeface="Aptos"/>
              </a:rPr>
              <a:t>Run stabilisé · 78 720 € humains + 21 600 € Azure</a:t>
            </a:r>
          </a:p>
        </p:txBody>
      </p:sp>
      <p:sp>
        <p:nvSpPr>
          <p:cNvPr id="56" name="TextBox 55"/>
          <p:cNvSpPr txBox="1"/>
          <p:nvPr/>
        </p:nvSpPr>
        <p:spPr>
          <a:xfrm>
            <a:off x="685800" y="5980176"/>
            <a:ext cx="10972800" cy="182880"/>
          </a:xfrm>
          <a:prstGeom prst="rect">
            <a:avLst/>
          </a:prstGeom>
          <a:noFill/>
        </p:spPr>
        <p:txBody>
          <a:bodyPr wrap="square" lIns="10972" rIns="10972" tIns="0" bIns="0" anchor="ctr">
            <a:spAutoFit/>
          </a:bodyPr>
          <a:lstStyle/>
          <a:p>
            <a:pPr>
              <a:spcBef>
                <a:spcPts val="0"/>
              </a:spcBef>
              <a:spcAft>
                <a:spcPts val="0"/>
              </a:spcAft>
            </a:pPr>
            <a:r>
              <a:rPr sz="840" b="0">
                <a:solidFill>
                  <a:srgbClr val="607069"/>
                </a:solidFill>
                <a:latin typeface="Aptos"/>
              </a:rPr>
              <a:t>¹ Azure ML online + batch, SQL, AI Search (si retenu), Data Factory ; certaines capacités incluent du stockage. ² Blob seul : pas le stockage total Azure.</a:t>
            </a:r>
          </a:p>
        </p:txBody>
      </p:sp>
      <p:sp>
        <p:nvSpPr>
          <p:cNvPr id="57" name="TextBox 56"/>
          <p:cNvSpPr txBox="1"/>
          <p:nvPr/>
        </p:nvSpPr>
        <p:spPr>
          <a:xfrm>
            <a:off x="685800" y="6181344"/>
            <a:ext cx="10972800" cy="146304"/>
          </a:xfrm>
          <a:prstGeom prst="rect">
            <a:avLst/>
          </a:prstGeom>
          <a:noFill/>
        </p:spPr>
        <p:txBody>
          <a:bodyPr wrap="square" lIns="10972" rIns="10972" tIns="0" bIns="0" anchor="ctr">
            <a:spAutoFit/>
          </a:bodyPr>
          <a:lstStyle/>
          <a:p>
            <a:pPr>
              <a:spcBef>
                <a:spcPts val="0"/>
              </a:spcBef>
              <a:spcAft>
                <a:spcPts val="0"/>
              </a:spcAft>
            </a:pPr>
            <a:r>
              <a:rPr sz="860" b="1">
                <a:solidFill>
                  <a:srgbClr val="B46B3A"/>
                </a:solidFill>
                <a:latin typeface="Aptos"/>
              </a:rPr>
              <a:t>Scénario charge élevée : enveloppe Azure 4 000 €/mois au lieu de 1 800 €, soit 126 720 €/an en Run, avant toute autre croissance.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17   /   PROJECTION ÉCONOMIQUE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r>
              <a:rPr b="1" sz="2600">
                <a:solidFill>
                  <a:srgbClr val="17221F"/>
                </a:solidFill>
                <a:latin typeface="Aptos Display"/>
              </a:rPr>
              <a:t>ROI central : croisement projeté en A2</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Évaluation des coûts Data/IA seulement : ne pas confondre ROI du moteur IA et ROI de toute l’application.</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r>
              <a:rPr sz="900">
                <a:solidFill>
                  <a:srgbClr val="607069"/>
                </a:solidFill>
                <a:latin typeface="Aptos"/>
              </a:rPr>
              <a:t>19</a:t>
            </a:r>
          </a:p>
        </p:txBody>
      </p:sp>
      <p:cxnSp>
        <p:nvCxnSpPr>
          <p:cNvPr id="10" name="Connector 9"/>
          <p:cNvCxnSpPr/>
          <p:nvPr/>
        </p:nvCxnSpPr>
        <p:spPr>
          <a:xfrm>
            <a:off x="1280160" y="5870448"/>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04088" y="5760720"/>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0</a:t>
            </a:r>
          </a:p>
        </p:txBody>
      </p:sp>
      <p:cxnSp>
        <p:nvCxnSpPr>
          <p:cNvPr id="12" name="Connector 11"/>
          <p:cNvCxnSpPr/>
          <p:nvPr/>
        </p:nvCxnSpPr>
        <p:spPr>
          <a:xfrm>
            <a:off x="1280160" y="5049774"/>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940046"/>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300k</a:t>
            </a:r>
          </a:p>
        </p:txBody>
      </p:sp>
      <p:cxnSp>
        <p:nvCxnSpPr>
          <p:cNvPr id="14" name="Connector 13"/>
          <p:cNvCxnSpPr/>
          <p:nvPr/>
        </p:nvCxnSpPr>
        <p:spPr>
          <a:xfrm>
            <a:off x="1280160" y="4229100"/>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 y="4119372"/>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600k</a:t>
            </a:r>
          </a:p>
        </p:txBody>
      </p:sp>
      <p:cxnSp>
        <p:nvCxnSpPr>
          <p:cNvPr id="16" name="Connector 15"/>
          <p:cNvCxnSpPr/>
          <p:nvPr/>
        </p:nvCxnSpPr>
        <p:spPr>
          <a:xfrm>
            <a:off x="1280160" y="3408426"/>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4088" y="3298698"/>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900k</a:t>
            </a:r>
          </a:p>
        </p:txBody>
      </p:sp>
      <p:cxnSp>
        <p:nvCxnSpPr>
          <p:cNvPr id="18" name="Connector 17"/>
          <p:cNvCxnSpPr/>
          <p:nvPr/>
        </p:nvCxnSpPr>
        <p:spPr>
          <a:xfrm>
            <a:off x="1280160" y="2587752"/>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 y="2478024"/>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1200k</a:t>
            </a:r>
          </a:p>
        </p:txBody>
      </p:sp>
      <p:sp>
        <p:nvSpPr>
          <p:cNvPr id="20" name="TextBox 19"/>
          <p:cNvSpPr txBox="1"/>
          <p:nvPr/>
        </p:nvSpPr>
        <p:spPr>
          <a:xfrm>
            <a:off x="112471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A1</a:t>
            </a:r>
          </a:p>
        </p:txBody>
      </p:sp>
      <p:sp>
        <p:nvSpPr>
          <p:cNvPr id="21" name="TextBox 20"/>
          <p:cNvSpPr txBox="1"/>
          <p:nvPr/>
        </p:nvSpPr>
        <p:spPr>
          <a:xfrm>
            <a:off x="273634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A2</a:t>
            </a:r>
          </a:p>
        </p:txBody>
      </p:sp>
      <p:sp>
        <p:nvSpPr>
          <p:cNvPr id="22" name="TextBox 21"/>
          <p:cNvSpPr txBox="1"/>
          <p:nvPr/>
        </p:nvSpPr>
        <p:spPr>
          <a:xfrm>
            <a:off x="434797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A3</a:t>
            </a:r>
          </a:p>
        </p:txBody>
      </p:sp>
      <p:sp>
        <p:nvSpPr>
          <p:cNvPr id="23" name="TextBox 22"/>
          <p:cNvSpPr txBox="1"/>
          <p:nvPr/>
        </p:nvSpPr>
        <p:spPr>
          <a:xfrm>
            <a:off x="595960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A4</a:t>
            </a:r>
          </a:p>
        </p:txBody>
      </p:sp>
      <p:sp>
        <p:nvSpPr>
          <p:cNvPr id="24" name="TextBox 23"/>
          <p:cNvSpPr txBox="1"/>
          <p:nvPr/>
        </p:nvSpPr>
        <p:spPr>
          <a:xfrm>
            <a:off x="757123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A5</a:t>
            </a:r>
          </a:p>
        </p:txBody>
      </p:sp>
      <p:cxnSp>
        <p:nvCxnSpPr>
          <p:cNvPr id="25" name="Connector 24"/>
          <p:cNvCxnSpPr/>
          <p:nvPr/>
        </p:nvCxnSpPr>
        <p:spPr>
          <a:xfrm flipV="1">
            <a:off x="1280160" y="5102297"/>
            <a:ext cx="1611629" cy="576113"/>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91789" y="4334146"/>
            <a:ext cx="1611631"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503420" y="3565995"/>
            <a:ext cx="1611630"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15050" y="2797844"/>
            <a:ext cx="1611629"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218895" y="5617145"/>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30525" y="5041032"/>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42155" y="4272881"/>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053785" y="3504730"/>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65415" y="2736579"/>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1280160" y="51570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91789" y="4882566"/>
            <a:ext cx="1611631" cy="274434"/>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03420" y="4608133"/>
            <a:ext cx="1611630"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115050" y="43337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218895" y="53701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830525" y="50957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42155" y="4821302"/>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53785" y="45468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65415" y="42724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891789" y="2542032"/>
            <a:ext cx="0" cy="3346704"/>
          </a:xfrm>
          <a:prstGeom prst="line">
            <a:avLst/>
          </a:prstGeom>
          <a:ln w="16510">
            <a:solidFill>
              <a:srgbClr val="D0EE94"/>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344168" y="2249424"/>
            <a:ext cx="219456" cy="82296"/>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45920" y="2148840"/>
            <a:ext cx="1956816" cy="274320"/>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Marge cumulée</a:t>
            </a:r>
          </a:p>
        </p:txBody>
      </p:sp>
      <p:sp>
        <p:nvSpPr>
          <p:cNvPr id="46" name="Rectangle 45"/>
          <p:cNvSpPr/>
          <p:nvPr/>
        </p:nvSpPr>
        <p:spPr>
          <a:xfrm>
            <a:off x="3685032" y="2249424"/>
            <a:ext cx="219456" cy="82296"/>
          </a:xfrm>
          <a:prstGeom prst="rect">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68496" y="2148840"/>
            <a:ext cx="2240280" cy="274320"/>
          </a:xfrm>
          <a:prstGeom prst="rect">
            <a:avLst/>
          </a:prstGeom>
          <a:noFill/>
        </p:spPr>
        <p:txBody>
          <a:bodyPr wrap="square" lIns="0" rIns="0" tIns="18288" bIns="0">
            <a:spAutoFit/>
          </a:bodyPr>
          <a:lstStyle/>
          <a:p>
            <a:pPr algn="l">
              <a:spcBef>
                <a:spcPts val="0"/>
              </a:spcBef>
              <a:spcAft>
                <a:spcPts val="0"/>
              </a:spcAft>
            </a:pPr>
            <a:r>
              <a:rPr sz="1100" b="1" i="0">
                <a:solidFill>
                  <a:srgbClr val="607069"/>
                </a:solidFill>
                <a:latin typeface="Aptos"/>
              </a:rPr>
              <a:t>Coûts cumulés Data/IA</a:t>
            </a:r>
          </a:p>
        </p:txBody>
      </p:sp>
      <p:sp>
        <p:nvSpPr>
          <p:cNvPr id="48" name="Rounded Rectangle 47"/>
          <p:cNvSpPr/>
          <p:nvPr/>
        </p:nvSpPr>
        <p:spPr>
          <a:xfrm>
            <a:off x="8165592" y="2313432"/>
            <a:ext cx="3401568" cy="363016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75904" y="2532888"/>
            <a:ext cx="2980944" cy="228600"/>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SCÉNARIO CENTRAL</a:t>
            </a:r>
          </a:p>
        </p:txBody>
      </p:sp>
      <p:sp>
        <p:nvSpPr>
          <p:cNvPr id="50" name="TextBox 49"/>
          <p:cNvSpPr txBox="1"/>
          <p:nvPr/>
        </p:nvSpPr>
        <p:spPr>
          <a:xfrm>
            <a:off x="8357616" y="2898648"/>
            <a:ext cx="2926080" cy="457200"/>
          </a:xfrm>
          <a:prstGeom prst="rect">
            <a:avLst/>
          </a:prstGeom>
          <a:noFill/>
        </p:spPr>
        <p:txBody>
          <a:bodyPr wrap="square" lIns="0" rIns="0" tIns="18288" bIns="0">
            <a:spAutoFit/>
          </a:bodyPr>
          <a:lstStyle/>
          <a:p>
            <a:pPr algn="l">
              <a:spcBef>
                <a:spcPts val="0"/>
              </a:spcBef>
              <a:spcAft>
                <a:spcPts val="0"/>
              </a:spcAft>
            </a:pPr>
            <a:r>
              <a:rPr sz="2500" b="1" i="0">
                <a:solidFill>
                  <a:srgbClr val="40775E"/>
                </a:solidFill>
                <a:latin typeface="Aptos"/>
              </a:rPr>
              <a:t>+19 997 €</a:t>
            </a:r>
          </a:p>
        </p:txBody>
      </p:sp>
      <p:sp>
        <p:nvSpPr>
          <p:cNvPr id="51" name="TextBox 50"/>
          <p:cNvSpPr txBox="1"/>
          <p:nvPr/>
        </p:nvSpPr>
        <p:spPr>
          <a:xfrm>
            <a:off x="8375904" y="3392424"/>
            <a:ext cx="2926080" cy="329184"/>
          </a:xfrm>
          <a:prstGeom prst="rect">
            <a:avLst/>
          </a:prstGeom>
          <a:noFill/>
        </p:spPr>
        <p:txBody>
          <a:bodyPr wrap="square" lIns="0" rIns="0" tIns="18288" bIns="0">
            <a:spAutoFit/>
          </a:bodyPr>
          <a:lstStyle/>
          <a:p>
            <a:pPr algn="l">
              <a:spcBef>
                <a:spcPts val="0"/>
              </a:spcBef>
              <a:spcAft>
                <a:spcPts val="0"/>
              </a:spcAft>
            </a:pPr>
            <a:r>
              <a:rPr sz="1200" b="0" i="0">
                <a:solidFill>
                  <a:srgbClr val="607069"/>
                </a:solidFill>
                <a:latin typeface="Aptos"/>
              </a:rPr>
              <a:t>Solde cumulé fin A2</a:t>
            </a:r>
          </a:p>
        </p:txBody>
      </p:sp>
      <p:cxnSp>
        <p:nvCxnSpPr>
          <p:cNvPr id="52" name="Connector 51"/>
          <p:cNvCxnSpPr/>
          <p:nvPr/>
        </p:nvCxnSpPr>
        <p:spPr>
          <a:xfrm>
            <a:off x="8394192" y="385876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75904" y="4005072"/>
            <a:ext cx="2834640" cy="219456"/>
          </a:xfrm>
          <a:prstGeom prst="rect">
            <a:avLst/>
          </a:prstGeom>
          <a:noFill/>
        </p:spPr>
        <p:txBody>
          <a:bodyPr wrap="square" lIns="0" rIns="0" tIns="18288" bIns="0">
            <a:spAutoFit/>
          </a:bodyPr>
          <a:lstStyle/>
          <a:p>
            <a:pPr algn="l">
              <a:spcBef>
                <a:spcPts val="0"/>
              </a:spcBef>
              <a:spcAft>
                <a:spcPts val="0"/>
              </a:spcAft>
            </a:pPr>
            <a:r>
              <a:rPr sz="1700" b="1" i="0">
                <a:solidFill>
                  <a:srgbClr val="17221F"/>
                </a:solidFill>
                <a:latin typeface="Aptos"/>
              </a:rPr>
              <a:t>+936 000 € / an</a:t>
            </a:r>
          </a:p>
        </p:txBody>
      </p:sp>
      <p:sp>
        <p:nvSpPr>
          <p:cNvPr id="54" name="TextBox 53"/>
          <p:cNvSpPr txBox="1"/>
          <p:nvPr/>
        </p:nvSpPr>
        <p:spPr>
          <a:xfrm>
            <a:off x="8375904" y="4352544"/>
            <a:ext cx="2862072" cy="420624"/>
          </a:xfrm>
          <a:prstGeom prst="rect">
            <a:avLst/>
          </a:prstGeom>
          <a:noFill/>
        </p:spPr>
        <p:txBody>
          <a:bodyPr wrap="square" lIns="0" rIns="0" tIns="18288" bIns="0">
            <a:spAutoFit/>
          </a:bodyPr>
          <a:lstStyle/>
          <a:p>
            <a:pPr algn="l">
              <a:spcBef>
                <a:spcPts val="0"/>
              </a:spcBef>
              <a:spcAft>
                <a:spcPts val="0"/>
              </a:spcAft>
            </a:pPr>
            <a:r>
              <a:rPr sz="1060" b="0" i="0">
                <a:solidFill>
                  <a:srgbClr val="607069"/>
                </a:solidFill>
                <a:latin typeface="Aptos"/>
              </a:rPr>
              <a:t>CA additionnel annualisé</a:t>
            </a:r>
          </a:p>
          <a:p>
            <a:pPr algn="l">
              <a:spcBef>
                <a:spcPts val="0"/>
              </a:spcBef>
              <a:spcAft>
                <a:spcPts val="0"/>
              </a:spcAft>
            </a:pPr>
            <a:r>
              <a:rPr sz="1060" b="0" i="0">
                <a:solidFill>
                  <a:srgbClr val="607069"/>
                </a:solidFill>
                <a:latin typeface="Aptos"/>
              </a:rPr>
              <a:t>visé à 24 mois</a:t>
            </a:r>
          </a:p>
        </p:txBody>
      </p:sp>
      <p:cxnSp>
        <p:nvCxnSpPr>
          <p:cNvPr id="55" name="Connector 54"/>
          <p:cNvCxnSpPr/>
          <p:nvPr/>
        </p:nvCxnSpPr>
        <p:spPr>
          <a:xfrm>
            <a:off x="8394192" y="491032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75904" y="5038344"/>
            <a:ext cx="2834640" cy="237744"/>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Hypothèses à valider</a:t>
            </a:r>
          </a:p>
        </p:txBody>
      </p:sp>
      <p:sp>
        <p:nvSpPr>
          <p:cNvPr id="57" name="TextBox 56"/>
          <p:cNvSpPr txBox="1"/>
          <p:nvPr/>
        </p:nvSpPr>
        <p:spPr>
          <a:xfrm>
            <a:off x="8375904" y="5321808"/>
            <a:ext cx="2907792" cy="438912"/>
          </a:xfrm>
          <a:prstGeom prst="rect">
            <a:avLst/>
          </a:prstGeom>
          <a:noFill/>
        </p:spPr>
        <p:txBody>
          <a:bodyPr wrap="square" lIns="0" rIns="0" tIns="18288" bIns="0">
            <a:spAutoFit/>
          </a:bodyPr>
          <a:lstStyle/>
          <a:p>
            <a:pPr algn="l">
              <a:spcBef>
                <a:spcPts val="0"/>
              </a:spcBef>
              <a:spcAft>
                <a:spcPts val="0"/>
              </a:spcAft>
            </a:pPr>
            <a:r>
              <a:rPr sz="1040" b="0" i="0">
                <a:solidFill>
                  <a:srgbClr val="607069"/>
                </a:solidFill>
                <a:latin typeface="Aptos"/>
              </a:rPr>
              <a:t>30 % de marge · montée en</a:t>
            </a:r>
          </a:p>
          <a:p>
            <a:pPr algn="l">
              <a:spcBef>
                <a:spcPts val="0"/>
              </a:spcBef>
              <a:spcAft>
                <a:spcPts val="0"/>
              </a:spcAft>
            </a:pPr>
            <a:r>
              <a:rPr sz="1040" b="0" i="0">
                <a:solidFill>
                  <a:srgbClr val="607069"/>
                </a:solidFill>
                <a:latin typeface="Aptos"/>
              </a:rPr>
              <a:t>charge 25 % / 75 % / 100 %</a:t>
            </a:r>
          </a:p>
        </p:txBody>
      </p:sp>
      <p:sp>
        <p:nvSpPr>
          <p:cNvPr id="58" name="TextBox 57"/>
          <p:cNvSpPr txBox="1"/>
          <p:nvPr/>
        </p:nvSpPr>
        <p:spPr>
          <a:xfrm>
            <a:off x="1243584" y="6190488"/>
            <a:ext cx="1024128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Croisement entre fin A1 et fin A2. Azure : provisions de simulation non vérifiées ; coûts de l’application mobile exclus.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18   /   SCALABILITÉ &amp; FIABILITÉ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Une architecture dimensionnée par l’usage</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400 000 utilisateurs annuels ne signifient pas 400 000 connexions simultanées. La capacité dépend des pointes et du SLA.</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r>
              <a:rPr sz="900">
                <a:solidFill>
                  <a:srgbClr val="607069"/>
                </a:solidFill>
                <a:latin typeface="Aptos"/>
              </a:rPr>
              <a:t>20</a:t>
            </a:r>
          </a:p>
        </p:txBody>
      </p:sp>
      <p:sp>
        <p:nvSpPr>
          <p:cNvPr id="10" name="Rounded Rectangle 9"/>
          <p:cNvSpPr/>
          <p:nvPr/>
        </p:nvSpPr>
        <p:spPr>
          <a:xfrm>
            <a:off x="65836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3"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400 000</a:t>
            </a:r>
          </a:p>
        </p:txBody>
      </p:sp>
      <p:sp>
        <p:nvSpPr>
          <p:cNvPr id="12" name="TextBox 11"/>
          <p:cNvSpPr txBox="1"/>
          <p:nvPr/>
        </p:nvSpPr>
        <p:spPr>
          <a:xfrm>
            <a:off x="832103"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Utilisateurs / an</a:t>
            </a:r>
          </a:p>
        </p:txBody>
      </p:sp>
      <p:sp>
        <p:nvSpPr>
          <p:cNvPr id="13" name="TextBox 12"/>
          <p:cNvSpPr txBox="1"/>
          <p:nvPr/>
        </p:nvSpPr>
        <p:spPr>
          <a:xfrm>
            <a:off x="832103"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Projection Marketing</a:t>
            </a:r>
          </a:p>
        </p:txBody>
      </p:sp>
      <p:sp>
        <p:nvSpPr>
          <p:cNvPr id="14" name="Rounded Rectangle 13"/>
          <p:cNvSpPr/>
          <p:nvPr/>
        </p:nvSpPr>
        <p:spPr>
          <a:xfrm>
            <a:off x="445312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2 M</a:t>
            </a:r>
          </a:p>
        </p:txBody>
      </p:sp>
      <p:sp>
        <p:nvSpPr>
          <p:cNvPr id="16" name="TextBox 15"/>
          <p:cNvSpPr txBox="1"/>
          <p:nvPr/>
        </p:nvSpPr>
        <p:spPr>
          <a:xfrm>
            <a:off x="4626864"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Requêtes / an</a:t>
            </a:r>
          </a:p>
        </p:txBody>
      </p:sp>
      <p:sp>
        <p:nvSpPr>
          <p:cNvPr id="17" name="TextBox 16"/>
          <p:cNvSpPr txBox="1"/>
          <p:nvPr/>
        </p:nvSpPr>
        <p:spPr>
          <a:xfrm>
            <a:off x="4626864"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5 recommandations par client, hypothèse</a:t>
            </a:r>
          </a:p>
        </p:txBody>
      </p:sp>
      <p:sp>
        <p:nvSpPr>
          <p:cNvPr id="18" name="Rounded Rectangle 17"/>
          <p:cNvSpPr/>
          <p:nvPr/>
        </p:nvSpPr>
        <p:spPr>
          <a:xfrm>
            <a:off x="8238744"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 1,27/s</a:t>
            </a:r>
          </a:p>
        </p:txBody>
      </p:sp>
      <p:sp>
        <p:nvSpPr>
          <p:cNvPr id="20" name="TextBox 19"/>
          <p:cNvSpPr txBox="1"/>
          <p:nvPr/>
        </p:nvSpPr>
        <p:spPr>
          <a:xfrm>
            <a:off x="8412480"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Pointe testée</a:t>
            </a:r>
          </a:p>
        </p:txBody>
      </p:sp>
      <p:sp>
        <p:nvSpPr>
          <p:cNvPr id="21" name="TextBox 20"/>
          <p:cNvSpPr txBox="1"/>
          <p:nvPr/>
        </p:nvSpPr>
        <p:spPr>
          <a:xfrm>
            <a:off x="8412480"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×20 vs débit moyen 24h/24</a:t>
            </a:r>
          </a:p>
        </p:txBody>
      </p:sp>
      <p:sp>
        <p:nvSpPr>
          <p:cNvPr id="22" name="Rounded Rectangle 21"/>
          <p:cNvSpPr/>
          <p:nvPr/>
        </p:nvSpPr>
        <p:spPr>
          <a:xfrm>
            <a:off x="65836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59"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01</a:t>
            </a:r>
          </a:p>
        </p:txBody>
      </p:sp>
      <p:sp>
        <p:nvSpPr>
          <p:cNvPr id="25" name="TextBox 24"/>
          <p:cNvSpPr txBox="1"/>
          <p:nvPr/>
        </p:nvSpPr>
        <p:spPr>
          <a:xfrm>
            <a:off x="136245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CAPACITÉ ONLINE</a:t>
            </a:r>
          </a:p>
        </p:txBody>
      </p:sp>
      <p:sp>
        <p:nvSpPr>
          <p:cNvPr id="26" name="TextBox 25"/>
          <p:cNvSpPr txBox="1"/>
          <p:nvPr/>
        </p:nvSpPr>
        <p:spPr>
          <a:xfrm>
            <a:off x="841247"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Instances minimales + autoscaling selon requêtes, CPU/GPU et p95 ; tester la capacité avant lancement.</a:t>
            </a:r>
          </a:p>
        </p:txBody>
      </p:sp>
      <p:sp>
        <p:nvSpPr>
          <p:cNvPr id="27" name="Rounded Rectangle 26"/>
          <p:cNvSpPr/>
          <p:nvPr/>
        </p:nvSpPr>
        <p:spPr>
          <a:xfrm>
            <a:off x="445312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61772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544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02</a:t>
            </a:r>
          </a:p>
        </p:txBody>
      </p:sp>
      <p:sp>
        <p:nvSpPr>
          <p:cNvPr id="30" name="TextBox 29"/>
          <p:cNvSpPr txBox="1"/>
          <p:nvPr/>
        </p:nvSpPr>
        <p:spPr>
          <a:xfrm>
            <a:off x="515721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ROBUSTESSE DES DONNÉES</a:t>
            </a:r>
          </a:p>
        </p:txBody>
      </p:sp>
      <p:sp>
        <p:nvSpPr>
          <p:cNvPr id="31" name="TextBox 30"/>
          <p:cNvSpPr txBox="1"/>
          <p:nvPr/>
        </p:nvSpPr>
        <p:spPr>
          <a:xfrm>
            <a:off x="463600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Index catalogue versionné, synchronisation incrémentale, filtres de stock et retour au dernier index valide.</a:t>
            </a:r>
          </a:p>
        </p:txBody>
      </p:sp>
      <p:sp>
        <p:nvSpPr>
          <p:cNvPr id="32" name="Rounded Rectangle 31"/>
          <p:cNvSpPr/>
          <p:nvPr/>
        </p:nvSpPr>
        <p:spPr>
          <a:xfrm>
            <a:off x="824788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41248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9020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03</a:t>
            </a:r>
          </a:p>
        </p:txBody>
      </p:sp>
      <p:sp>
        <p:nvSpPr>
          <p:cNvPr id="35" name="TextBox 34"/>
          <p:cNvSpPr txBox="1"/>
          <p:nvPr/>
        </p:nvSpPr>
        <p:spPr>
          <a:xfrm>
            <a:off x="895197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SÉCURITÉ &amp; FINOPS</a:t>
            </a:r>
          </a:p>
        </p:txBody>
      </p:sp>
      <p:sp>
        <p:nvSpPr>
          <p:cNvPr id="36" name="TextBox 35"/>
          <p:cNvSpPr txBox="1"/>
          <p:nvPr/>
        </p:nvSpPr>
        <p:spPr>
          <a:xfrm>
            <a:off x="843076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Limites de requêtes, minimisation des photos, alertes de coûts, suivi erreurs, rollback et purge RGPD.</a:t>
            </a:r>
          </a:p>
        </p:txBody>
      </p:sp>
      <p:sp>
        <p:nvSpPr>
          <p:cNvPr id="37" name="Rounded Rectangle 36"/>
          <p:cNvSpPr/>
          <p:nvPr/>
        </p:nvSpPr>
        <p:spPr>
          <a:xfrm>
            <a:off x="658368" y="5532120"/>
            <a:ext cx="10936224" cy="640080"/>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660136"/>
            <a:ext cx="10469880" cy="374904"/>
          </a:xfrm>
          <a:prstGeom prst="rect">
            <a:avLst/>
          </a:prstGeom>
          <a:noFill/>
        </p:spPr>
        <p:txBody>
          <a:bodyPr wrap="square" lIns="0" rIns="0" tIns="0" bIns="0" anchor="t">
            <a:spAutoFit/>
          </a:bodyPr>
          <a:lstStyle/>
          <a:p>
            <a:pPr>
              <a:lnSpc>
                <a:spcPct val="109000"/>
              </a:lnSpc>
              <a:spcBef>
                <a:spcPts val="0"/>
              </a:spcBef>
              <a:spcAft>
                <a:spcPts val="0"/>
              </a:spcAft>
            </a:pPr>
            <a:r>
              <a:rPr sz="1080" b="1">
                <a:solidFill>
                  <a:srgbClr val="FFFFFF"/>
                </a:solidFill>
                <a:latin typeface="Aptos"/>
              </a:rPr>
              <a:t>À VALIDER AU MVP  •  latence p95 et disponibilité cibles  •  tests de charge &amp; de reprise  •  dimensionnement Azure chiffré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19   /   RISQUES FINANCIERS &amp; SENSIBILITÉ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Le point mort dépend des hypothèses</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Rentabilité estimée du périmètre Data/IA uniquement ; gains et coûts à confirmer avec Finance et Marketing.</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r>
              <a:rPr sz="900">
                <a:solidFill>
                  <a:srgbClr val="607069"/>
                </a:solidFill>
                <a:latin typeface="Aptos"/>
              </a:rPr>
              <a:t>21</a:t>
            </a:r>
          </a:p>
        </p:txBody>
      </p:sp>
      <p:sp>
        <p:nvSpPr>
          <p:cNvPr id="10" name="TextBox 9"/>
          <p:cNvSpPr txBox="1"/>
          <p:nvPr/>
        </p:nvSpPr>
        <p:spPr>
          <a:xfrm>
            <a:off x="685800" y="2185416"/>
            <a:ext cx="10515600" cy="274320"/>
          </a:xfrm>
          <a:prstGeom prst="rect">
            <a:avLst/>
          </a:prstGeom>
          <a:noFill/>
        </p:spPr>
        <p:txBody>
          <a:bodyPr wrap="square" lIns="0" rIns="0" tIns="0" bIns="0" anchor="t">
            <a:spAutoFit/>
          </a:bodyPr>
          <a:lstStyle/>
          <a:p>
            <a:pPr>
              <a:lnSpc>
                <a:spcPct val="109000"/>
              </a:lnSpc>
              <a:spcBef>
                <a:spcPts val="0"/>
              </a:spcBef>
              <a:spcAft>
                <a:spcPts val="0"/>
              </a:spcAft>
            </a:pPr>
            <a:r>
              <a:rPr sz="1030" b="1">
                <a:solidFill>
                  <a:srgbClr val="4B795B"/>
                </a:solidFill>
                <a:latin typeface="Aptos"/>
              </a:rPr>
              <a:t>SOLDE CUMULÉ EN FIN D’ANNÉE 2  ·  EN FONCTION DE LA MARGE CONTRIBUTIVE</a:t>
            </a:r>
          </a:p>
        </p:txBody>
      </p:sp>
      <p:sp>
        <p:nvSpPr>
          <p:cNvPr id="11" name="Rounded Rectangle 10"/>
          <p:cNvSpPr/>
          <p:nvPr/>
        </p:nvSpPr>
        <p:spPr>
          <a:xfrm>
            <a:off x="6858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20 %</a:t>
            </a:r>
          </a:p>
        </p:txBody>
      </p:sp>
      <p:sp>
        <p:nvSpPr>
          <p:cNvPr id="13" name="TextBox 12"/>
          <p:cNvSpPr txBox="1"/>
          <p:nvPr/>
        </p:nvSpPr>
        <p:spPr>
          <a:xfrm>
            <a:off x="8503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BB753F"/>
                </a:solidFill>
                <a:latin typeface="Aptos"/>
              </a:rPr>
              <a:t>−73 603 €</a:t>
            </a:r>
          </a:p>
        </p:txBody>
      </p:sp>
      <p:sp>
        <p:nvSpPr>
          <p:cNvPr id="14" name="TextBox 13"/>
          <p:cNvSpPr txBox="1"/>
          <p:nvPr/>
        </p:nvSpPr>
        <p:spPr>
          <a:xfrm>
            <a:off x="8503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A3</a:t>
            </a:r>
          </a:p>
        </p:txBody>
      </p:sp>
      <p:sp>
        <p:nvSpPr>
          <p:cNvPr id="15" name="Rounded Rectangle 14"/>
          <p:cNvSpPr/>
          <p:nvPr/>
        </p:nvSpPr>
        <p:spPr>
          <a:xfrm>
            <a:off x="4453128"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30 %</a:t>
            </a:r>
          </a:p>
        </p:txBody>
      </p:sp>
      <p:sp>
        <p:nvSpPr>
          <p:cNvPr id="17" name="TextBox 16"/>
          <p:cNvSpPr txBox="1"/>
          <p:nvPr/>
        </p:nvSpPr>
        <p:spPr>
          <a:xfrm>
            <a:off x="4617720"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+19 997 €</a:t>
            </a:r>
          </a:p>
        </p:txBody>
      </p:sp>
      <p:sp>
        <p:nvSpPr>
          <p:cNvPr id="18" name="TextBox 17"/>
          <p:cNvSpPr txBox="1"/>
          <p:nvPr/>
        </p:nvSpPr>
        <p:spPr>
          <a:xfrm>
            <a:off x="4617720"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19" name="Rounded Rectangle 18"/>
          <p:cNvSpPr/>
          <p:nvPr/>
        </p:nvSpPr>
        <p:spPr>
          <a:xfrm>
            <a:off x="82296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40 %</a:t>
            </a:r>
          </a:p>
        </p:txBody>
      </p:sp>
      <p:sp>
        <p:nvSpPr>
          <p:cNvPr id="21" name="TextBox 20"/>
          <p:cNvSpPr txBox="1"/>
          <p:nvPr/>
        </p:nvSpPr>
        <p:spPr>
          <a:xfrm>
            <a:off x="83941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+113 597 €</a:t>
            </a:r>
          </a:p>
        </p:txBody>
      </p:sp>
      <p:sp>
        <p:nvSpPr>
          <p:cNvPr id="22" name="TextBox 21"/>
          <p:cNvSpPr txBox="1"/>
          <p:nvPr/>
        </p:nvSpPr>
        <p:spPr>
          <a:xfrm>
            <a:off x="83941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23" name="Rounded Rectangle 22"/>
          <p:cNvSpPr/>
          <p:nvPr/>
        </p:nvSpPr>
        <p:spPr>
          <a:xfrm>
            <a:off x="685800" y="4160520"/>
            <a:ext cx="5257800"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389120"/>
            <a:ext cx="4773168"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EFFET D’UNE INFRASTRUCTURE PLUS CHÈRE</a:t>
            </a:r>
          </a:p>
        </p:txBody>
      </p:sp>
      <p:sp>
        <p:nvSpPr>
          <p:cNvPr id="25" name="TextBox 24"/>
          <p:cNvSpPr txBox="1"/>
          <p:nvPr/>
        </p:nvSpPr>
        <p:spPr>
          <a:xfrm>
            <a:off x="896112" y="4782312"/>
            <a:ext cx="4791456" cy="658368"/>
          </a:xfrm>
          <a:prstGeom prst="rect">
            <a:avLst/>
          </a:prstGeom>
          <a:noFill/>
        </p:spPr>
        <p:txBody>
          <a:bodyPr wrap="square" lIns="0" rIns="0" tIns="0" bIns="0" anchor="t">
            <a:spAutoFit/>
          </a:bodyPr>
          <a:lstStyle/>
          <a:p>
            <a:r>
              <a:rPr sz="1050">
                <a:solidFill>
                  <a:srgbClr val="607069"/>
                </a:solidFill>
                <a:latin typeface="Aptos"/>
              </a:rPr>
              <a:t>Azure 4 000 €/mois (contre 1 800 €) : solde A2 négatif. Avec un trafic accru, revalider le compute, le stockage et le SLA.</a:t>
            </a:r>
          </a:p>
        </p:txBody>
      </p:sp>
      <p:sp>
        <p:nvSpPr>
          <p:cNvPr id="26" name="Rounded Rectangle 25"/>
          <p:cNvSpPr/>
          <p:nvPr/>
        </p:nvSpPr>
        <p:spPr>
          <a:xfrm>
            <a:off x="6172200" y="4160520"/>
            <a:ext cx="5422392"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4389120"/>
            <a:ext cx="4846320"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POINTS DE VALIDATION</a:t>
            </a:r>
          </a:p>
        </p:txBody>
      </p:sp>
      <p:sp>
        <p:nvSpPr>
          <p:cNvPr id="28" name="TextBox 27"/>
          <p:cNvSpPr txBox="1"/>
          <p:nvPr/>
        </p:nvSpPr>
        <p:spPr>
          <a:xfrm>
            <a:off x="6391656" y="4782312"/>
            <a:ext cx="4846320" cy="640080"/>
          </a:xfrm>
          <a:prstGeom prst="rect">
            <a:avLst/>
          </a:prstGeom>
          <a:noFill/>
        </p:spPr>
        <p:txBody>
          <a:bodyPr wrap="square" lIns="0" rIns="0" tIns="0" bIns="0" anchor="t">
            <a:spAutoFit/>
          </a:bodyPr>
          <a:lstStyle/>
          <a:p>
            <a:pPr>
              <a:lnSpc>
                <a:spcPct val="109000"/>
              </a:lnSpc>
              <a:spcBef>
                <a:spcPts val="0"/>
              </a:spcBef>
              <a:spcAft>
                <a:spcPts val="0"/>
              </a:spcAft>
            </a:pPr>
            <a:r>
              <a:rPr sz="1080" b="0">
                <a:solidFill>
                  <a:srgbClr val="607069"/>
                </a:solidFill>
                <a:latin typeface="Aptos"/>
              </a:rPr>
              <a:t>Marge contributive, attribution des ventes, progression de l’adoption, prix région/SKU Azure et capacité réelle lors des pics.</a:t>
            </a:r>
          </a:p>
        </p:txBody>
      </p:sp>
      <p:sp>
        <p:nvSpPr>
          <p:cNvPr id="29" name="Rounded Rectangle 28"/>
          <p:cNvSpPr/>
          <p:nvPr/>
        </p:nvSpPr>
        <p:spPr>
          <a:xfrm>
            <a:off x="685800" y="5806440"/>
            <a:ext cx="10908792" cy="338328"/>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5852160"/>
            <a:ext cx="10506456" cy="23774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FFFFFF"/>
                </a:solidFill>
                <a:latin typeface="Aptos"/>
              </a:rPr>
              <a:t>Une projection conditionnelle n’est ni un devis Azure, ni la rentabilité de l’application complète.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18288" rIns="18288" tIns="9144" bIns="0">
            <a:spAutoFit/>
          </a:bodyPr>
          <a:lstStyle/>
          <a:p>
            <a:pPr>
              <a:defRPr sz="1010" b="1">
                <a:solidFill>
                  <a:srgbClr val="607069"/>
                </a:solidFill>
                <a:latin typeface="Inter"/>
              </a:defRPr>
            </a:pPr>
            <a:r>
              <a:t>20  /  DONNÉES SOURCE ET CATALOGUE</a:t>
            </a:r>
          </a:p>
        </p:txBody>
      </p:sp>
      <p:sp>
        <p:nvSpPr>
          <p:cNvPr id="4" name="TextBox 3"/>
          <p:cNvSpPr txBox="1"/>
          <p:nvPr/>
        </p:nvSpPr>
        <p:spPr>
          <a:xfrm>
            <a:off x="603504" y="658368"/>
            <a:ext cx="10972800" cy="548640"/>
          </a:xfrm>
          <a:prstGeom prst="rect">
            <a:avLst/>
          </a:prstGeom>
          <a:noFill/>
        </p:spPr>
        <p:txBody>
          <a:bodyPr wrap="square" lIns="18288" rIns="18288" tIns="9144" bIns="0">
            <a:spAutoFit/>
          </a:bodyPr>
          <a:lstStyle/>
          <a:p>
            <a:pPr>
              <a:defRPr sz="2900" b="1">
                <a:solidFill>
                  <a:srgbClr val="17221F"/>
                </a:solidFill>
                <a:latin typeface="Inter Display"/>
              </a:defRPr>
            </a:pPr>
            <a:r>
              <a:t>Un catalogue de 875 références en neuf catégories</a:t>
            </a:r>
          </a:p>
        </p:txBody>
      </p:sp>
      <p:sp>
        <p:nvSpPr>
          <p:cNvPr id="5" name="TextBox 4"/>
          <p:cNvSpPr txBox="1"/>
          <p:nvPr/>
        </p:nvSpPr>
        <p:spPr>
          <a:xfrm>
            <a:off x="630936" y="1307592"/>
            <a:ext cx="10972800" cy="384048"/>
          </a:xfrm>
          <a:prstGeom prst="rect">
            <a:avLst/>
          </a:prstGeom>
          <a:noFill/>
        </p:spPr>
        <p:txBody>
          <a:bodyPr wrap="square" lIns="18288" rIns="18288" tIns="9144" bIns="0">
            <a:spAutoFit/>
          </a:bodyPr>
          <a:lstStyle/>
          <a:p>
            <a:pPr>
              <a:defRPr sz="1300" b="0">
                <a:solidFill>
                  <a:srgbClr val="607069"/>
                </a:solidFill>
                <a:latin typeface="Inter"/>
              </a:defRPr>
            </a:pPr>
            <a:r>
              <a:t>Répartition 2024 communiquée par Alicia ; chiffres source à confirmer avant exploitation.</a:t>
            </a:r>
          </a:p>
        </p:txBody>
      </p:sp>
      <p:sp>
        <p:nvSpPr>
          <p:cNvPr id="6" name="Rectangle 5"/>
          <p:cNvSpPr/>
          <p:nvPr/>
        </p:nvSpPr>
        <p:spPr>
          <a:xfrm>
            <a:off x="594360" y="6437376"/>
            <a:ext cx="11018520" cy="13716"/>
          </a:xfrm>
          <a:prstGeom prst="rect">
            <a:avLst/>
          </a:prstGeom>
          <a:solidFill>
            <a:srgbClr val="E1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10058400" cy="155448"/>
          </a:xfrm>
          <a:prstGeom prst="rect">
            <a:avLst/>
          </a:prstGeom>
          <a:noFill/>
        </p:spPr>
        <p:txBody>
          <a:bodyPr wrap="square" lIns="18288" rIns="18288" tIns="9144" bIns="0">
            <a:spAutoFit/>
          </a:bodyPr>
          <a:lstStyle/>
          <a:p>
            <a:pPr>
              <a:defRPr sz="819" b="0">
                <a:solidFill>
                  <a:srgbClr val="607069"/>
                </a:solidFill>
                <a:latin typeface="Inter"/>
              </a:defRPr>
            </a:pPr>
            <a:r>
              <a:t>FASHION–INSTA  ·  BESOINS MÉTIER  /  TRAÇABILITÉ</a:t>
            </a:r>
          </a:p>
        </p:txBody>
      </p:sp>
      <p:sp>
        <p:nvSpPr>
          <p:cNvPr id="8" name="TextBox 7"/>
          <p:cNvSpPr txBox="1"/>
          <p:nvPr/>
        </p:nvSpPr>
        <p:spPr>
          <a:xfrm>
            <a:off x="11091672" y="6464808"/>
            <a:ext cx="457200" cy="182880"/>
          </a:xfrm>
          <a:prstGeom prst="rect">
            <a:avLst/>
          </a:prstGeom>
          <a:noFill/>
        </p:spPr>
        <p:txBody>
          <a:bodyPr wrap="square" lIns="18288" rIns="18288" tIns="9144" bIns="0">
            <a:spAutoFit/>
          </a:bodyPr>
          <a:lstStyle/>
          <a:p>
            <a:pPr>
              <a:defRPr sz="900" b="0">
                <a:solidFill>
                  <a:srgbClr val="607069"/>
                </a:solidFill>
                <a:latin typeface="Inter"/>
              </a:defRPr>
            </a:pPr>
            <a:r>
              <a:t>22</a:t>
            </a:r>
          </a:p>
        </p:txBody>
      </p:sp>
      <p:sp>
        <p:nvSpPr>
          <p:cNvPr id="9" name="Rounded Rectangle 8"/>
          <p:cNvSpPr/>
          <p:nvPr/>
        </p:nvSpPr>
        <p:spPr>
          <a:xfrm>
            <a:off x="658368" y="1874519"/>
            <a:ext cx="6556248" cy="4261104"/>
          </a:xfrm>
          <a:prstGeom prst="roundRect">
            <a:avLst/>
          </a:prstGeom>
          <a:solidFill>
            <a:srgbClr val="EFF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02536"/>
            <a:ext cx="6126480" cy="265176"/>
          </a:xfrm>
          <a:prstGeom prst="rect">
            <a:avLst/>
          </a:prstGeom>
          <a:noFill/>
        </p:spPr>
        <p:txBody>
          <a:bodyPr wrap="square" lIns="18288" rIns="18288" tIns="9144" bIns="0">
            <a:spAutoFit/>
          </a:bodyPr>
          <a:lstStyle/>
          <a:p>
            <a:pPr>
              <a:defRPr sz="1210" b="1">
                <a:solidFill>
                  <a:srgbClr val="17221F"/>
                </a:solidFill>
                <a:latin typeface="Inter"/>
              </a:defRPr>
            </a:pPr>
            <a:r>
              <a:t>CATÉGORIES / CA / RÉFÉRENCES</a:t>
            </a:r>
          </a:p>
        </p:txBody>
      </p:sp>
      <p:sp>
        <p:nvSpPr>
          <p:cNvPr id="11" name="TextBox 10"/>
          <p:cNvSpPr txBox="1"/>
          <p:nvPr/>
        </p:nvSpPr>
        <p:spPr>
          <a:xfrm>
            <a:off x="886968" y="2377440"/>
            <a:ext cx="3310128" cy="265176"/>
          </a:xfrm>
          <a:prstGeom prst="rect">
            <a:avLst/>
          </a:prstGeom>
          <a:noFill/>
        </p:spPr>
        <p:txBody>
          <a:bodyPr wrap="square" lIns="18288" rIns="18288" tIns="9144" bIns="0">
            <a:spAutoFit/>
          </a:bodyPr>
          <a:lstStyle/>
          <a:p>
            <a:pPr>
              <a:defRPr sz="1170" b="1">
                <a:solidFill>
                  <a:srgbClr val="17221F"/>
                </a:solidFill>
                <a:latin typeface="Inter"/>
              </a:defRPr>
            </a:pPr>
            <a:r>
              <a:t>Pantalons &amp; jeans</a:t>
            </a:r>
          </a:p>
        </p:txBody>
      </p:sp>
      <p:sp>
        <p:nvSpPr>
          <p:cNvPr id="12" name="TextBox 11"/>
          <p:cNvSpPr txBox="1"/>
          <p:nvPr/>
        </p:nvSpPr>
        <p:spPr>
          <a:xfrm>
            <a:off x="4315968" y="2377440"/>
            <a:ext cx="1124712" cy="265176"/>
          </a:xfrm>
          <a:prstGeom prst="rect">
            <a:avLst/>
          </a:prstGeom>
          <a:noFill/>
        </p:spPr>
        <p:txBody>
          <a:bodyPr wrap="square" lIns="18288" rIns="18288" tIns="9144" bIns="0">
            <a:spAutoFit/>
          </a:bodyPr>
          <a:lstStyle/>
          <a:p>
            <a:pPr algn="r">
              <a:defRPr sz="1170" b="1">
                <a:solidFill>
                  <a:srgbClr val="17221F"/>
                </a:solidFill>
                <a:latin typeface="Inter"/>
              </a:defRPr>
            </a:pPr>
            <a:r>
              <a:t>2,8 M€</a:t>
            </a:r>
          </a:p>
        </p:txBody>
      </p:sp>
      <p:sp>
        <p:nvSpPr>
          <p:cNvPr id="13" name="TextBox 12"/>
          <p:cNvSpPr txBox="1"/>
          <p:nvPr/>
        </p:nvSpPr>
        <p:spPr>
          <a:xfrm>
            <a:off x="5614416" y="2377440"/>
            <a:ext cx="832104" cy="265176"/>
          </a:xfrm>
          <a:prstGeom prst="rect">
            <a:avLst/>
          </a:prstGeom>
          <a:noFill/>
        </p:spPr>
        <p:txBody>
          <a:bodyPr wrap="square" lIns="18288" rIns="18288" tIns="9144" bIns="0">
            <a:spAutoFit/>
          </a:bodyPr>
          <a:lstStyle/>
          <a:p>
            <a:pPr algn="r">
              <a:defRPr sz="1170" b="1">
                <a:solidFill>
                  <a:srgbClr val="17221F"/>
                </a:solidFill>
                <a:latin typeface="Inter"/>
              </a:defRPr>
            </a:pPr>
            <a:r>
              <a:t>120</a:t>
            </a:r>
          </a:p>
        </p:txBody>
      </p:sp>
      <p:sp>
        <p:nvSpPr>
          <p:cNvPr id="14" name="Rectangle 13"/>
          <p:cNvSpPr/>
          <p:nvPr/>
        </p:nvSpPr>
        <p:spPr>
          <a:xfrm>
            <a:off x="896112" y="2679192"/>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724912"/>
            <a:ext cx="3310128" cy="265176"/>
          </a:xfrm>
          <a:prstGeom prst="rect">
            <a:avLst/>
          </a:prstGeom>
          <a:noFill/>
        </p:spPr>
        <p:txBody>
          <a:bodyPr wrap="square" lIns="18288" rIns="18288" tIns="9144" bIns="0">
            <a:spAutoFit/>
          </a:bodyPr>
          <a:lstStyle/>
          <a:p>
            <a:pPr>
              <a:defRPr sz="1170" b="0">
                <a:solidFill>
                  <a:srgbClr val="17221F"/>
                </a:solidFill>
                <a:latin typeface="Inter"/>
              </a:defRPr>
            </a:pPr>
            <a:r>
              <a:t>Chemises &amp; blouses</a:t>
            </a:r>
          </a:p>
        </p:txBody>
      </p:sp>
      <p:sp>
        <p:nvSpPr>
          <p:cNvPr id="16" name="TextBox 15"/>
          <p:cNvSpPr txBox="1"/>
          <p:nvPr/>
        </p:nvSpPr>
        <p:spPr>
          <a:xfrm>
            <a:off x="4315968" y="2724912"/>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2,0 M€</a:t>
            </a:r>
          </a:p>
        </p:txBody>
      </p:sp>
      <p:sp>
        <p:nvSpPr>
          <p:cNvPr id="17" name="TextBox 16"/>
          <p:cNvSpPr txBox="1"/>
          <p:nvPr/>
        </p:nvSpPr>
        <p:spPr>
          <a:xfrm>
            <a:off x="5614416" y="2724912"/>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65</a:t>
            </a:r>
          </a:p>
        </p:txBody>
      </p:sp>
      <p:sp>
        <p:nvSpPr>
          <p:cNvPr id="18" name="Rectangle 17"/>
          <p:cNvSpPr/>
          <p:nvPr/>
        </p:nvSpPr>
        <p:spPr>
          <a:xfrm>
            <a:off x="896112" y="3026664"/>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072384"/>
            <a:ext cx="3310128" cy="265176"/>
          </a:xfrm>
          <a:prstGeom prst="rect">
            <a:avLst/>
          </a:prstGeom>
          <a:noFill/>
        </p:spPr>
        <p:txBody>
          <a:bodyPr wrap="square" lIns="18288" rIns="18288" tIns="9144" bIns="0">
            <a:spAutoFit/>
          </a:bodyPr>
          <a:lstStyle/>
          <a:p>
            <a:pPr>
              <a:defRPr sz="1170" b="0">
                <a:solidFill>
                  <a:srgbClr val="17221F"/>
                </a:solidFill>
                <a:latin typeface="Inter"/>
              </a:defRPr>
            </a:pPr>
            <a:r>
              <a:t>Vestes &amp; manteaux</a:t>
            </a:r>
          </a:p>
        </p:txBody>
      </p:sp>
      <p:sp>
        <p:nvSpPr>
          <p:cNvPr id="20" name="TextBox 19"/>
          <p:cNvSpPr txBox="1"/>
          <p:nvPr/>
        </p:nvSpPr>
        <p:spPr>
          <a:xfrm>
            <a:off x="4315968" y="3072384"/>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1,6 M€</a:t>
            </a:r>
          </a:p>
        </p:txBody>
      </p:sp>
      <p:sp>
        <p:nvSpPr>
          <p:cNvPr id="21" name="TextBox 20"/>
          <p:cNvSpPr txBox="1"/>
          <p:nvPr/>
        </p:nvSpPr>
        <p:spPr>
          <a:xfrm>
            <a:off x="5614416" y="3072384"/>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90</a:t>
            </a:r>
          </a:p>
        </p:txBody>
      </p:sp>
      <p:sp>
        <p:nvSpPr>
          <p:cNvPr id="22" name="Rectangle 21"/>
          <p:cNvSpPr/>
          <p:nvPr/>
        </p:nvSpPr>
        <p:spPr>
          <a:xfrm>
            <a:off x="896112" y="3374136"/>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3419856"/>
            <a:ext cx="3310128" cy="265176"/>
          </a:xfrm>
          <a:prstGeom prst="rect">
            <a:avLst/>
          </a:prstGeom>
          <a:noFill/>
        </p:spPr>
        <p:txBody>
          <a:bodyPr wrap="square" lIns="18288" rIns="18288" tIns="9144" bIns="0">
            <a:spAutoFit/>
          </a:bodyPr>
          <a:lstStyle/>
          <a:p>
            <a:pPr>
              <a:defRPr sz="1170" b="0">
                <a:solidFill>
                  <a:srgbClr val="17221F"/>
                </a:solidFill>
                <a:latin typeface="Inter"/>
              </a:defRPr>
            </a:pPr>
            <a:r>
              <a:t>T-shirts &amp; tops</a:t>
            </a:r>
          </a:p>
        </p:txBody>
      </p:sp>
      <p:sp>
        <p:nvSpPr>
          <p:cNvPr id="24" name="TextBox 23"/>
          <p:cNvSpPr txBox="1"/>
          <p:nvPr/>
        </p:nvSpPr>
        <p:spPr>
          <a:xfrm>
            <a:off x="4315968" y="3419856"/>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1,1 M€</a:t>
            </a:r>
          </a:p>
        </p:txBody>
      </p:sp>
      <p:sp>
        <p:nvSpPr>
          <p:cNvPr id="25" name="TextBox 24"/>
          <p:cNvSpPr txBox="1"/>
          <p:nvPr/>
        </p:nvSpPr>
        <p:spPr>
          <a:xfrm>
            <a:off x="5614416" y="3419856"/>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200</a:t>
            </a:r>
          </a:p>
        </p:txBody>
      </p:sp>
      <p:sp>
        <p:nvSpPr>
          <p:cNvPr id="26" name="Rectangle 25"/>
          <p:cNvSpPr/>
          <p:nvPr/>
        </p:nvSpPr>
        <p:spPr>
          <a:xfrm>
            <a:off x="896112" y="3721608"/>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3767328"/>
            <a:ext cx="3310128" cy="265176"/>
          </a:xfrm>
          <a:prstGeom prst="rect">
            <a:avLst/>
          </a:prstGeom>
          <a:noFill/>
        </p:spPr>
        <p:txBody>
          <a:bodyPr wrap="square" lIns="18288" rIns="18288" tIns="9144" bIns="0">
            <a:spAutoFit/>
          </a:bodyPr>
          <a:lstStyle/>
          <a:p>
            <a:pPr>
              <a:defRPr sz="1170" b="0">
                <a:solidFill>
                  <a:srgbClr val="17221F"/>
                </a:solidFill>
                <a:latin typeface="Inter"/>
              </a:defRPr>
            </a:pPr>
            <a:r>
              <a:t>Robes &amp; jupes</a:t>
            </a:r>
          </a:p>
        </p:txBody>
      </p:sp>
      <p:sp>
        <p:nvSpPr>
          <p:cNvPr id="28" name="TextBox 27"/>
          <p:cNvSpPr txBox="1"/>
          <p:nvPr/>
        </p:nvSpPr>
        <p:spPr>
          <a:xfrm>
            <a:off x="4315968" y="3767328"/>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0,9 M€</a:t>
            </a:r>
          </a:p>
        </p:txBody>
      </p:sp>
      <p:sp>
        <p:nvSpPr>
          <p:cNvPr id="29" name="TextBox 28"/>
          <p:cNvSpPr txBox="1"/>
          <p:nvPr/>
        </p:nvSpPr>
        <p:spPr>
          <a:xfrm>
            <a:off x="5614416" y="3767328"/>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75</a:t>
            </a:r>
          </a:p>
        </p:txBody>
      </p:sp>
      <p:sp>
        <p:nvSpPr>
          <p:cNvPr id="30" name="Rectangle 29"/>
          <p:cNvSpPr/>
          <p:nvPr/>
        </p:nvSpPr>
        <p:spPr>
          <a:xfrm>
            <a:off x="896112" y="4069080"/>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 y="4114800"/>
            <a:ext cx="3310128" cy="265176"/>
          </a:xfrm>
          <a:prstGeom prst="rect">
            <a:avLst/>
          </a:prstGeom>
          <a:noFill/>
        </p:spPr>
        <p:txBody>
          <a:bodyPr wrap="square" lIns="18288" rIns="18288" tIns="9144" bIns="0">
            <a:spAutoFit/>
          </a:bodyPr>
          <a:lstStyle/>
          <a:p>
            <a:pPr>
              <a:defRPr sz="1170" b="0">
                <a:solidFill>
                  <a:srgbClr val="17221F"/>
                </a:solidFill>
                <a:latin typeface="Inter"/>
              </a:defRPr>
            </a:pPr>
            <a:r>
              <a:t>Costumes &amp; tailleurs</a:t>
            </a:r>
          </a:p>
        </p:txBody>
      </p:sp>
      <p:sp>
        <p:nvSpPr>
          <p:cNvPr id="32" name="TextBox 31"/>
          <p:cNvSpPr txBox="1"/>
          <p:nvPr/>
        </p:nvSpPr>
        <p:spPr>
          <a:xfrm>
            <a:off x="4315968" y="4114800"/>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0,7 M€</a:t>
            </a:r>
          </a:p>
        </p:txBody>
      </p:sp>
      <p:sp>
        <p:nvSpPr>
          <p:cNvPr id="33" name="TextBox 32"/>
          <p:cNvSpPr txBox="1"/>
          <p:nvPr/>
        </p:nvSpPr>
        <p:spPr>
          <a:xfrm>
            <a:off x="5614416" y="4114800"/>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40</a:t>
            </a:r>
          </a:p>
        </p:txBody>
      </p:sp>
      <p:sp>
        <p:nvSpPr>
          <p:cNvPr id="34" name="Rectangle 33"/>
          <p:cNvSpPr/>
          <p:nvPr/>
        </p:nvSpPr>
        <p:spPr>
          <a:xfrm>
            <a:off x="896112" y="4416552"/>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462272"/>
            <a:ext cx="3310128" cy="265176"/>
          </a:xfrm>
          <a:prstGeom prst="rect">
            <a:avLst/>
          </a:prstGeom>
          <a:noFill/>
        </p:spPr>
        <p:txBody>
          <a:bodyPr wrap="square" lIns="18288" rIns="18288" tIns="9144" bIns="0">
            <a:spAutoFit/>
          </a:bodyPr>
          <a:lstStyle/>
          <a:p>
            <a:pPr>
              <a:defRPr sz="1170" b="0">
                <a:solidFill>
                  <a:srgbClr val="17221F"/>
                </a:solidFill>
                <a:latin typeface="Inter"/>
              </a:defRPr>
            </a:pPr>
            <a:r>
              <a:t>Accessoires</a:t>
            </a:r>
          </a:p>
        </p:txBody>
      </p:sp>
      <p:sp>
        <p:nvSpPr>
          <p:cNvPr id="36" name="TextBox 35"/>
          <p:cNvSpPr txBox="1"/>
          <p:nvPr/>
        </p:nvSpPr>
        <p:spPr>
          <a:xfrm>
            <a:off x="4315968" y="4462272"/>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0,6 M€</a:t>
            </a:r>
          </a:p>
        </p:txBody>
      </p:sp>
      <p:sp>
        <p:nvSpPr>
          <p:cNvPr id="37" name="TextBox 36"/>
          <p:cNvSpPr txBox="1"/>
          <p:nvPr/>
        </p:nvSpPr>
        <p:spPr>
          <a:xfrm>
            <a:off x="5614416" y="4462272"/>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150</a:t>
            </a:r>
          </a:p>
        </p:txBody>
      </p:sp>
      <p:sp>
        <p:nvSpPr>
          <p:cNvPr id="38" name="Rectangle 37"/>
          <p:cNvSpPr/>
          <p:nvPr/>
        </p:nvSpPr>
        <p:spPr>
          <a:xfrm>
            <a:off x="896112" y="4764024"/>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6968" y="4809744"/>
            <a:ext cx="3310128" cy="265176"/>
          </a:xfrm>
          <a:prstGeom prst="rect">
            <a:avLst/>
          </a:prstGeom>
          <a:noFill/>
        </p:spPr>
        <p:txBody>
          <a:bodyPr wrap="square" lIns="18288" rIns="18288" tIns="9144" bIns="0">
            <a:spAutoFit/>
          </a:bodyPr>
          <a:lstStyle/>
          <a:p>
            <a:pPr>
              <a:defRPr sz="1170" b="0">
                <a:solidFill>
                  <a:srgbClr val="17221F"/>
                </a:solidFill>
                <a:latin typeface="Inter"/>
              </a:defRPr>
            </a:pPr>
            <a:r>
              <a:t>Chaussures</a:t>
            </a:r>
          </a:p>
        </p:txBody>
      </p:sp>
      <p:sp>
        <p:nvSpPr>
          <p:cNvPr id="40" name="TextBox 39"/>
          <p:cNvSpPr txBox="1"/>
          <p:nvPr/>
        </p:nvSpPr>
        <p:spPr>
          <a:xfrm>
            <a:off x="4315968" y="4809744"/>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0,4 M€</a:t>
            </a:r>
          </a:p>
        </p:txBody>
      </p:sp>
      <p:sp>
        <p:nvSpPr>
          <p:cNvPr id="41" name="TextBox 40"/>
          <p:cNvSpPr txBox="1"/>
          <p:nvPr/>
        </p:nvSpPr>
        <p:spPr>
          <a:xfrm>
            <a:off x="5614416" y="4809744"/>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100</a:t>
            </a:r>
          </a:p>
        </p:txBody>
      </p:sp>
      <p:sp>
        <p:nvSpPr>
          <p:cNvPr id="42" name="Rectangle 41"/>
          <p:cNvSpPr/>
          <p:nvPr/>
        </p:nvSpPr>
        <p:spPr>
          <a:xfrm>
            <a:off x="896112" y="5111496"/>
            <a:ext cx="6172200" cy="7315"/>
          </a:xfrm>
          <a:prstGeom prst="rect">
            <a:avLst/>
          </a:prstGeom>
          <a:solidFill>
            <a:srgbClr val="DAE5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157216"/>
            <a:ext cx="3310128" cy="265176"/>
          </a:xfrm>
          <a:prstGeom prst="rect">
            <a:avLst/>
          </a:prstGeom>
          <a:noFill/>
        </p:spPr>
        <p:txBody>
          <a:bodyPr wrap="square" lIns="18288" rIns="18288" tIns="9144" bIns="0">
            <a:spAutoFit/>
          </a:bodyPr>
          <a:lstStyle/>
          <a:p>
            <a:pPr>
              <a:defRPr sz="1170" b="0">
                <a:solidFill>
                  <a:srgbClr val="17221F"/>
                </a:solidFill>
                <a:latin typeface="Inter"/>
              </a:defRPr>
            </a:pPr>
            <a:r>
              <a:t>Lingerie</a:t>
            </a:r>
          </a:p>
        </p:txBody>
      </p:sp>
      <p:sp>
        <p:nvSpPr>
          <p:cNvPr id="44" name="TextBox 43"/>
          <p:cNvSpPr txBox="1"/>
          <p:nvPr/>
        </p:nvSpPr>
        <p:spPr>
          <a:xfrm>
            <a:off x="4315968" y="5157216"/>
            <a:ext cx="1124712" cy="265176"/>
          </a:xfrm>
          <a:prstGeom prst="rect">
            <a:avLst/>
          </a:prstGeom>
          <a:noFill/>
        </p:spPr>
        <p:txBody>
          <a:bodyPr wrap="square" lIns="18288" rIns="18288" tIns="9144" bIns="0">
            <a:spAutoFit/>
          </a:bodyPr>
          <a:lstStyle/>
          <a:p>
            <a:pPr algn="r">
              <a:defRPr sz="1170" b="0">
                <a:solidFill>
                  <a:srgbClr val="17221F"/>
                </a:solidFill>
                <a:latin typeface="Inter"/>
              </a:defRPr>
            </a:pPr>
            <a:r>
              <a:t>0,3 M€</a:t>
            </a:r>
          </a:p>
        </p:txBody>
      </p:sp>
      <p:sp>
        <p:nvSpPr>
          <p:cNvPr id="45" name="TextBox 44"/>
          <p:cNvSpPr txBox="1"/>
          <p:nvPr/>
        </p:nvSpPr>
        <p:spPr>
          <a:xfrm>
            <a:off x="5614416" y="5157216"/>
            <a:ext cx="832104" cy="265176"/>
          </a:xfrm>
          <a:prstGeom prst="rect">
            <a:avLst/>
          </a:prstGeom>
          <a:noFill/>
        </p:spPr>
        <p:txBody>
          <a:bodyPr wrap="square" lIns="18288" rIns="18288" tIns="9144" bIns="0">
            <a:spAutoFit/>
          </a:bodyPr>
          <a:lstStyle/>
          <a:p>
            <a:pPr algn="r">
              <a:defRPr sz="1170" b="0">
                <a:solidFill>
                  <a:srgbClr val="17221F"/>
                </a:solidFill>
                <a:latin typeface="Inter"/>
              </a:defRPr>
            </a:pPr>
            <a:r>
              <a:t>35</a:t>
            </a:r>
          </a:p>
        </p:txBody>
      </p:sp>
      <p:sp>
        <p:nvSpPr>
          <p:cNvPr id="46" name="TextBox 45"/>
          <p:cNvSpPr txBox="1"/>
          <p:nvPr/>
        </p:nvSpPr>
        <p:spPr>
          <a:xfrm>
            <a:off x="886968" y="5623560"/>
            <a:ext cx="6080760" cy="237744"/>
          </a:xfrm>
          <a:prstGeom prst="rect">
            <a:avLst/>
          </a:prstGeom>
          <a:noFill/>
        </p:spPr>
        <p:txBody>
          <a:bodyPr wrap="square" lIns="18288" rIns="18288" tIns="9144" bIns="0">
            <a:spAutoFit/>
          </a:bodyPr>
          <a:lstStyle/>
          <a:p>
            <a:pPr>
              <a:defRPr sz="1140" b="1">
                <a:solidFill>
                  <a:srgbClr val="17221F"/>
                </a:solidFill>
                <a:latin typeface="Inter"/>
              </a:defRPr>
            </a:pPr>
            <a:r>
              <a:t>TOTAL  ·  10,4 M€  ·  875 produits</a:t>
            </a:r>
          </a:p>
        </p:txBody>
      </p:sp>
      <p:sp>
        <p:nvSpPr>
          <p:cNvPr id="47" name="Rounded Rectangle 46"/>
          <p:cNvSpPr/>
          <p:nvPr/>
        </p:nvSpPr>
        <p:spPr>
          <a:xfrm>
            <a:off x="7434072" y="1874519"/>
            <a:ext cx="4096512" cy="4261104"/>
          </a:xfrm>
          <a:prstGeom prst="roundRect">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62672" y="2048256"/>
            <a:ext cx="3520440" cy="274320"/>
          </a:xfrm>
          <a:prstGeom prst="rect">
            <a:avLst/>
          </a:prstGeom>
          <a:noFill/>
        </p:spPr>
        <p:txBody>
          <a:bodyPr wrap="square" lIns="18288" rIns="18288" tIns="9144" bIns="0">
            <a:spAutoFit/>
          </a:bodyPr>
          <a:lstStyle/>
          <a:p>
            <a:pPr>
              <a:defRPr sz="1210" b="1">
                <a:solidFill>
                  <a:srgbClr val="D4F086"/>
                </a:solidFill>
                <a:latin typeface="Inter"/>
              </a:defRPr>
            </a:pPr>
            <a:r>
              <a:t>5 STYLES FASHION-INSTA</a:t>
            </a:r>
          </a:p>
        </p:txBody>
      </p:sp>
      <p:sp>
        <p:nvSpPr>
          <p:cNvPr id="49" name="TextBox 48"/>
          <p:cNvSpPr txBox="1"/>
          <p:nvPr/>
        </p:nvSpPr>
        <p:spPr>
          <a:xfrm>
            <a:off x="7680960" y="2496312"/>
            <a:ext cx="3566160" cy="228600"/>
          </a:xfrm>
          <a:prstGeom prst="rect">
            <a:avLst/>
          </a:prstGeom>
          <a:noFill/>
        </p:spPr>
        <p:txBody>
          <a:bodyPr wrap="square" lIns="18288" rIns="18288" tIns="9144" bIns="0">
            <a:spAutoFit/>
          </a:bodyPr>
          <a:lstStyle/>
          <a:p>
            <a:pPr>
              <a:defRPr sz="1300" b="1">
                <a:solidFill>
                  <a:srgbClr val="FFFFFF"/>
                </a:solidFill>
                <a:latin typeface="Inter"/>
              </a:defRPr>
            </a:pPr>
            <a:r>
              <a:t>Essentiel urbain</a:t>
            </a:r>
          </a:p>
        </p:txBody>
      </p:sp>
      <p:sp>
        <p:nvSpPr>
          <p:cNvPr id="50" name="TextBox 49"/>
          <p:cNvSpPr txBox="1"/>
          <p:nvPr/>
        </p:nvSpPr>
        <p:spPr>
          <a:xfrm>
            <a:off x="7680960" y="2724912"/>
            <a:ext cx="3566160" cy="219456"/>
          </a:xfrm>
          <a:prstGeom prst="rect">
            <a:avLst/>
          </a:prstGeom>
          <a:noFill/>
        </p:spPr>
        <p:txBody>
          <a:bodyPr wrap="square" lIns="18288" rIns="18288" tIns="9144" bIns="0">
            <a:spAutoFit/>
          </a:bodyPr>
          <a:lstStyle/>
          <a:p>
            <a:pPr>
              <a:defRPr sz="1080" b="0">
                <a:solidFill>
                  <a:srgbClr val="C8DDCD"/>
                </a:solidFill>
                <a:latin typeface="Inter"/>
              </a:defRPr>
            </a:pPr>
            <a:r>
              <a:t>Ville et bureau</a:t>
            </a:r>
          </a:p>
        </p:txBody>
      </p:sp>
      <p:sp>
        <p:nvSpPr>
          <p:cNvPr id="51" name="TextBox 50"/>
          <p:cNvSpPr txBox="1"/>
          <p:nvPr/>
        </p:nvSpPr>
        <p:spPr>
          <a:xfrm>
            <a:off x="7680960" y="3035808"/>
            <a:ext cx="3566160" cy="228600"/>
          </a:xfrm>
          <a:prstGeom prst="rect">
            <a:avLst/>
          </a:prstGeom>
          <a:noFill/>
        </p:spPr>
        <p:txBody>
          <a:bodyPr wrap="square" lIns="18288" rIns="18288" tIns="9144" bIns="0">
            <a:spAutoFit/>
          </a:bodyPr>
          <a:lstStyle/>
          <a:p>
            <a:pPr>
              <a:defRPr sz="1300" b="1">
                <a:solidFill>
                  <a:srgbClr val="FFFFFF"/>
                </a:solidFill>
                <a:latin typeface="Inter"/>
              </a:defRPr>
            </a:pPr>
            <a:r>
              <a:t>Casual chic</a:t>
            </a:r>
          </a:p>
        </p:txBody>
      </p:sp>
      <p:sp>
        <p:nvSpPr>
          <p:cNvPr id="52" name="TextBox 51"/>
          <p:cNvSpPr txBox="1"/>
          <p:nvPr/>
        </p:nvSpPr>
        <p:spPr>
          <a:xfrm>
            <a:off x="7680960" y="3264408"/>
            <a:ext cx="3566160" cy="219456"/>
          </a:xfrm>
          <a:prstGeom prst="rect">
            <a:avLst/>
          </a:prstGeom>
          <a:noFill/>
        </p:spPr>
        <p:txBody>
          <a:bodyPr wrap="square" lIns="18288" rIns="18288" tIns="9144" bIns="0">
            <a:spAutoFit/>
          </a:bodyPr>
          <a:lstStyle/>
          <a:p>
            <a:pPr>
              <a:defRPr sz="1080" b="0">
                <a:solidFill>
                  <a:srgbClr val="C8DDCD"/>
                </a:solidFill>
                <a:latin typeface="Inter"/>
              </a:defRPr>
            </a:pPr>
            <a:r>
              <a:t>Confort élégant</a:t>
            </a:r>
          </a:p>
        </p:txBody>
      </p:sp>
      <p:sp>
        <p:nvSpPr>
          <p:cNvPr id="53" name="TextBox 52"/>
          <p:cNvSpPr txBox="1"/>
          <p:nvPr/>
        </p:nvSpPr>
        <p:spPr>
          <a:xfrm>
            <a:off x="7680960" y="3575304"/>
            <a:ext cx="3566160" cy="228600"/>
          </a:xfrm>
          <a:prstGeom prst="rect">
            <a:avLst/>
          </a:prstGeom>
          <a:noFill/>
        </p:spPr>
        <p:txBody>
          <a:bodyPr wrap="square" lIns="18288" rIns="18288" tIns="9144" bIns="0">
            <a:spAutoFit/>
          </a:bodyPr>
          <a:lstStyle/>
          <a:p>
            <a:pPr>
              <a:defRPr sz="1300" b="1">
                <a:solidFill>
                  <a:srgbClr val="FFFFFF"/>
                </a:solidFill>
                <a:latin typeface="Inter"/>
              </a:defRPr>
            </a:pPr>
            <a:r>
              <a:t>Professionnel moderne</a:t>
            </a:r>
          </a:p>
        </p:txBody>
      </p:sp>
      <p:sp>
        <p:nvSpPr>
          <p:cNvPr id="54" name="TextBox 53"/>
          <p:cNvSpPr txBox="1"/>
          <p:nvPr/>
        </p:nvSpPr>
        <p:spPr>
          <a:xfrm>
            <a:off x="7680960" y="3803904"/>
            <a:ext cx="3566160" cy="219456"/>
          </a:xfrm>
          <a:prstGeom prst="rect">
            <a:avLst/>
          </a:prstGeom>
          <a:noFill/>
        </p:spPr>
        <p:txBody>
          <a:bodyPr wrap="square" lIns="18288" rIns="18288" tIns="9144" bIns="0">
            <a:spAutoFit/>
          </a:bodyPr>
          <a:lstStyle/>
          <a:p>
            <a:pPr>
              <a:defRPr sz="1080" b="0">
                <a:solidFill>
                  <a:srgbClr val="C8DDCD"/>
                </a:solidFill>
                <a:latin typeface="Inter"/>
              </a:defRPr>
            </a:pPr>
            <a:r>
              <a:t>Tailleur / chemises</a:t>
            </a:r>
          </a:p>
        </p:txBody>
      </p:sp>
      <p:sp>
        <p:nvSpPr>
          <p:cNvPr id="55" name="TextBox 54"/>
          <p:cNvSpPr txBox="1"/>
          <p:nvPr/>
        </p:nvSpPr>
        <p:spPr>
          <a:xfrm>
            <a:off x="7680960" y="4114800"/>
            <a:ext cx="3566160" cy="228600"/>
          </a:xfrm>
          <a:prstGeom prst="rect">
            <a:avLst/>
          </a:prstGeom>
          <a:noFill/>
        </p:spPr>
        <p:txBody>
          <a:bodyPr wrap="square" lIns="18288" rIns="18288" tIns="9144" bIns="0">
            <a:spAutoFit/>
          </a:bodyPr>
          <a:lstStyle/>
          <a:p>
            <a:pPr>
              <a:defRPr sz="1300" b="1">
                <a:solidFill>
                  <a:srgbClr val="FFFFFF"/>
                </a:solidFill>
                <a:latin typeface="Inter"/>
              </a:defRPr>
            </a:pPr>
            <a:r>
              <a:t>Streetwear</a:t>
            </a:r>
          </a:p>
        </p:txBody>
      </p:sp>
      <p:sp>
        <p:nvSpPr>
          <p:cNvPr id="56" name="TextBox 55"/>
          <p:cNvSpPr txBox="1"/>
          <p:nvPr/>
        </p:nvSpPr>
        <p:spPr>
          <a:xfrm>
            <a:off x="7680960" y="4343400"/>
            <a:ext cx="3566160" cy="219456"/>
          </a:xfrm>
          <a:prstGeom prst="rect">
            <a:avLst/>
          </a:prstGeom>
          <a:noFill/>
        </p:spPr>
        <p:txBody>
          <a:bodyPr wrap="square" lIns="18288" rIns="18288" tIns="9144" bIns="0">
            <a:spAutoFit/>
          </a:bodyPr>
          <a:lstStyle/>
          <a:p>
            <a:pPr>
              <a:defRPr sz="1080" b="0">
                <a:solidFill>
                  <a:srgbClr val="C8DDCD"/>
                </a:solidFill>
                <a:latin typeface="Inter"/>
              </a:defRPr>
            </a:pPr>
            <a:r>
              <a:t>Graphismes / oversize</a:t>
            </a:r>
          </a:p>
        </p:txBody>
      </p:sp>
      <p:sp>
        <p:nvSpPr>
          <p:cNvPr id="57" name="TextBox 56"/>
          <p:cNvSpPr txBox="1"/>
          <p:nvPr/>
        </p:nvSpPr>
        <p:spPr>
          <a:xfrm>
            <a:off x="7680960" y="4654296"/>
            <a:ext cx="3566160" cy="228600"/>
          </a:xfrm>
          <a:prstGeom prst="rect">
            <a:avLst/>
          </a:prstGeom>
          <a:noFill/>
        </p:spPr>
        <p:txBody>
          <a:bodyPr wrap="square" lIns="18288" rIns="18288" tIns="9144" bIns="0">
            <a:spAutoFit/>
          </a:bodyPr>
          <a:lstStyle/>
          <a:p>
            <a:pPr>
              <a:defRPr sz="1300" b="1">
                <a:solidFill>
                  <a:srgbClr val="FFFFFF"/>
                </a:solidFill>
                <a:latin typeface="Inter"/>
              </a:defRPr>
            </a:pPr>
            <a:r>
              <a:t>Bohème féminin</a:t>
            </a:r>
          </a:p>
        </p:txBody>
      </p:sp>
      <p:sp>
        <p:nvSpPr>
          <p:cNvPr id="58" name="TextBox 57"/>
          <p:cNvSpPr txBox="1"/>
          <p:nvPr/>
        </p:nvSpPr>
        <p:spPr>
          <a:xfrm>
            <a:off x="7680960" y="4882896"/>
            <a:ext cx="3566160" cy="219456"/>
          </a:xfrm>
          <a:prstGeom prst="rect">
            <a:avLst/>
          </a:prstGeom>
          <a:noFill/>
        </p:spPr>
        <p:txBody>
          <a:bodyPr wrap="square" lIns="18288" rIns="18288" tIns="9144" bIns="0">
            <a:spAutoFit/>
          </a:bodyPr>
          <a:lstStyle/>
          <a:p>
            <a:pPr>
              <a:defRPr sz="1080" b="0">
                <a:solidFill>
                  <a:srgbClr val="C8DDCD"/>
                </a:solidFill>
                <a:latin typeface="Inter"/>
              </a:defRPr>
            </a:pPr>
            <a:r>
              <a:t>Fluidité / imprimés discrets</a:t>
            </a:r>
          </a:p>
        </p:txBody>
      </p:sp>
      <p:sp>
        <p:nvSpPr>
          <p:cNvPr id="59" name="TextBox 58"/>
          <p:cNvSpPr txBox="1"/>
          <p:nvPr/>
        </p:nvSpPr>
        <p:spPr>
          <a:xfrm>
            <a:off x="795528" y="6217920"/>
            <a:ext cx="10607040" cy="173736"/>
          </a:xfrm>
          <a:prstGeom prst="rect">
            <a:avLst/>
          </a:prstGeom>
          <a:noFill/>
        </p:spPr>
        <p:txBody>
          <a:bodyPr wrap="square" lIns="18288" rIns="18288" tIns="9144" bIns="0">
            <a:spAutoFit/>
          </a:bodyPr>
          <a:lstStyle/>
          <a:p>
            <a:pPr>
              <a:defRPr sz="940" b="0">
                <a:solidFill>
                  <a:srgbClr val="607069"/>
                </a:solidFill>
                <a:latin typeface="Inter"/>
              </a:defRPr>
            </a:pPr>
            <a:r>
              <a:t>Source : expression des besoins métier. Lingerie : 300 k€ = 2,88 % calculés, contre 3,9 % annoncé → clarification requise.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18288" rIns="18288" tIns="9144" bIns="0">
            <a:spAutoFit/>
          </a:bodyPr>
          <a:lstStyle/>
          <a:p>
            <a:pPr>
              <a:defRPr sz="1010" b="1">
                <a:solidFill>
                  <a:srgbClr val="607069"/>
                </a:solidFill>
                <a:latin typeface="Inter"/>
              </a:defRPr>
            </a:pPr>
            <a:r>
              <a:t>21  /  TRAÇABILITÉ DES BESOINS</a:t>
            </a:r>
          </a:p>
        </p:txBody>
      </p:sp>
      <p:sp>
        <p:nvSpPr>
          <p:cNvPr id="4" name="TextBox 3"/>
          <p:cNvSpPr txBox="1"/>
          <p:nvPr/>
        </p:nvSpPr>
        <p:spPr>
          <a:xfrm>
            <a:off x="603504" y="658368"/>
            <a:ext cx="10972800" cy="548640"/>
          </a:xfrm>
          <a:prstGeom prst="rect">
            <a:avLst/>
          </a:prstGeom>
          <a:noFill/>
        </p:spPr>
        <p:txBody>
          <a:bodyPr wrap="square" lIns="18288" rIns="18288" tIns="9144" bIns="0">
            <a:spAutoFit/>
          </a:bodyPr>
          <a:lstStyle/>
          <a:p>
            <a:pPr>
              <a:defRPr sz="2900" b="1">
                <a:solidFill>
                  <a:srgbClr val="17221F"/>
                </a:solidFill>
                <a:latin typeface="Inter Display"/>
              </a:defRPr>
            </a:pPr>
            <a:r>
              <a:t>Une vision produit complète, un PoC volontairement ciblé</a:t>
            </a:r>
          </a:p>
        </p:txBody>
      </p:sp>
      <p:sp>
        <p:nvSpPr>
          <p:cNvPr id="5" name="TextBox 4"/>
          <p:cNvSpPr txBox="1"/>
          <p:nvPr/>
        </p:nvSpPr>
        <p:spPr>
          <a:xfrm>
            <a:off x="630936" y="1307592"/>
            <a:ext cx="10972800" cy="384048"/>
          </a:xfrm>
          <a:prstGeom prst="rect">
            <a:avLst/>
          </a:prstGeom>
          <a:noFill/>
        </p:spPr>
        <p:txBody>
          <a:bodyPr wrap="square" lIns="18288" rIns="18288" tIns="9144" bIns="0">
            <a:spAutoFit/>
          </a:bodyPr>
          <a:lstStyle/>
          <a:p>
            <a:pPr>
              <a:defRPr sz="1300" b="0">
                <a:solidFill>
                  <a:srgbClr val="607069"/>
                </a:solidFill>
                <a:latin typeface="Inter"/>
              </a:defRPr>
            </a:pPr>
            <a:r>
              <a:t>Chaque fonctionnalité d’Alicia est rattachée à une brique et à un horizon de réalisation.</a:t>
            </a:r>
          </a:p>
        </p:txBody>
      </p:sp>
      <p:sp>
        <p:nvSpPr>
          <p:cNvPr id="6" name="Rectangle 5"/>
          <p:cNvSpPr/>
          <p:nvPr/>
        </p:nvSpPr>
        <p:spPr>
          <a:xfrm>
            <a:off x="594360" y="6437376"/>
            <a:ext cx="11018520" cy="13716"/>
          </a:xfrm>
          <a:prstGeom prst="rect">
            <a:avLst/>
          </a:prstGeom>
          <a:solidFill>
            <a:srgbClr val="E1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492240"/>
            <a:ext cx="10058400" cy="155448"/>
          </a:xfrm>
          <a:prstGeom prst="rect">
            <a:avLst/>
          </a:prstGeom>
          <a:noFill/>
        </p:spPr>
        <p:txBody>
          <a:bodyPr wrap="square" lIns="18288" rIns="18288" tIns="9144" bIns="0">
            <a:spAutoFit/>
          </a:bodyPr>
          <a:lstStyle/>
          <a:p>
            <a:pPr>
              <a:defRPr sz="819" b="0">
                <a:solidFill>
                  <a:srgbClr val="607069"/>
                </a:solidFill>
                <a:latin typeface="Inter"/>
              </a:defRPr>
            </a:pPr>
            <a:r>
              <a:t>FASHION–INSTA  ·  BESOINS MÉTIER  /  TRAÇABILITÉ</a:t>
            </a:r>
          </a:p>
        </p:txBody>
      </p:sp>
      <p:sp>
        <p:nvSpPr>
          <p:cNvPr id="8" name="TextBox 7"/>
          <p:cNvSpPr txBox="1"/>
          <p:nvPr/>
        </p:nvSpPr>
        <p:spPr>
          <a:xfrm>
            <a:off x="11091672" y="6464808"/>
            <a:ext cx="457200" cy="182880"/>
          </a:xfrm>
          <a:prstGeom prst="rect">
            <a:avLst/>
          </a:prstGeom>
          <a:noFill/>
        </p:spPr>
        <p:txBody>
          <a:bodyPr wrap="square" lIns="18288" rIns="18288" tIns="9144" bIns="0">
            <a:spAutoFit/>
          </a:bodyPr>
          <a:lstStyle/>
          <a:p>
            <a:pPr>
              <a:defRPr sz="900" b="0">
                <a:solidFill>
                  <a:srgbClr val="607069"/>
                </a:solidFill>
                <a:latin typeface="Inter"/>
              </a:defRPr>
            </a:pPr>
            <a:r>
              <a:t>23</a:t>
            </a:r>
          </a:p>
        </p:txBody>
      </p:sp>
      <p:sp>
        <p:nvSpPr>
          <p:cNvPr id="9" name="Rounded Rectangle 8"/>
          <p:cNvSpPr/>
          <p:nvPr/>
        </p:nvSpPr>
        <p:spPr>
          <a:xfrm>
            <a:off x="649224" y="1929384"/>
            <a:ext cx="3621024" cy="3429000"/>
          </a:xfrm>
          <a:prstGeom prst="roundRect">
            <a:avLst/>
          </a:prstGeom>
          <a:solidFill>
            <a:srgbClr val="EFF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 y="1929384"/>
            <a:ext cx="3621024" cy="484632"/>
          </a:xfrm>
          <a:prstGeom prst="roundRect">
            <a:avLst/>
          </a:prstGeom>
          <a:solidFill>
            <a:srgbClr val="82A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48256"/>
            <a:ext cx="3355848" cy="265176"/>
          </a:xfrm>
          <a:prstGeom prst="rect">
            <a:avLst/>
          </a:prstGeom>
          <a:noFill/>
        </p:spPr>
        <p:txBody>
          <a:bodyPr wrap="square" lIns="18288" rIns="18288" tIns="9144" bIns="0">
            <a:spAutoFit/>
          </a:bodyPr>
          <a:lstStyle/>
          <a:p>
            <a:pPr>
              <a:defRPr sz="1200" b="1">
                <a:solidFill>
                  <a:srgbClr val="FFFFFF"/>
                </a:solidFill>
                <a:latin typeface="Inter"/>
              </a:defRPr>
            </a:pPr>
            <a:r>
              <a:t>POC · VALIDATION</a:t>
            </a:r>
          </a:p>
        </p:txBody>
      </p:sp>
      <p:sp>
        <p:nvSpPr>
          <p:cNvPr id="12" name="Rounded Rectangle 11"/>
          <p:cNvSpPr/>
          <p:nvPr/>
        </p:nvSpPr>
        <p:spPr>
          <a:xfrm>
            <a:off x="822959" y="2729484"/>
            <a:ext cx="100584" cy="100584"/>
          </a:xfrm>
          <a:prstGeom prst="roundRect">
            <a:avLst/>
          </a:prstGeom>
          <a:solidFill>
            <a:srgbClr val="82A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2688336"/>
            <a:ext cx="3081528" cy="457200"/>
          </a:xfrm>
          <a:prstGeom prst="rect">
            <a:avLst/>
          </a:prstGeom>
          <a:noFill/>
        </p:spPr>
        <p:txBody>
          <a:bodyPr wrap="square" lIns="18288" rIns="18288" tIns="9144" bIns="0">
            <a:spAutoFit/>
          </a:bodyPr>
          <a:lstStyle/>
          <a:p>
            <a:pPr>
              <a:defRPr sz="1230" b="0">
                <a:solidFill>
                  <a:srgbClr val="17221F"/>
                </a:solidFill>
                <a:latin typeface="Inter"/>
              </a:defRPr>
            </a:pPr>
            <a:r>
              <a:t>Photo vêtement → embedding</a:t>
            </a:r>
          </a:p>
        </p:txBody>
      </p:sp>
      <p:sp>
        <p:nvSpPr>
          <p:cNvPr id="14" name="Rounded Rectangle 13"/>
          <p:cNvSpPr/>
          <p:nvPr/>
        </p:nvSpPr>
        <p:spPr>
          <a:xfrm>
            <a:off x="822959" y="3259836"/>
            <a:ext cx="100584" cy="100584"/>
          </a:xfrm>
          <a:prstGeom prst="roundRect">
            <a:avLst/>
          </a:prstGeom>
          <a:solidFill>
            <a:srgbClr val="82A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3218688"/>
            <a:ext cx="3081528" cy="457200"/>
          </a:xfrm>
          <a:prstGeom prst="rect">
            <a:avLst/>
          </a:prstGeom>
          <a:noFill/>
        </p:spPr>
        <p:txBody>
          <a:bodyPr wrap="square" lIns="18288" rIns="18288" tIns="9144" bIns="0">
            <a:spAutoFit/>
          </a:bodyPr>
          <a:lstStyle/>
          <a:p>
            <a:pPr>
              <a:defRPr sz="1230" b="0">
                <a:solidFill>
                  <a:srgbClr val="17221F"/>
                </a:solidFill>
                <a:latin typeface="Inter"/>
              </a:defRPr>
            </a:pPr>
            <a:r>
              <a:t>Top 5 de références distinctes</a:t>
            </a:r>
          </a:p>
        </p:txBody>
      </p:sp>
      <p:sp>
        <p:nvSpPr>
          <p:cNvPr id="16" name="Rounded Rectangle 15"/>
          <p:cNvSpPr/>
          <p:nvPr/>
        </p:nvSpPr>
        <p:spPr>
          <a:xfrm>
            <a:off x="822959" y="3790187"/>
            <a:ext cx="100584" cy="100584"/>
          </a:xfrm>
          <a:prstGeom prst="roundRect">
            <a:avLst/>
          </a:prstGeom>
          <a:solidFill>
            <a:srgbClr val="82A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3749039"/>
            <a:ext cx="3081528" cy="457200"/>
          </a:xfrm>
          <a:prstGeom prst="rect">
            <a:avLst/>
          </a:prstGeom>
          <a:noFill/>
        </p:spPr>
        <p:txBody>
          <a:bodyPr wrap="square" lIns="18288" rIns="18288" tIns="9144" bIns="0">
            <a:spAutoFit/>
          </a:bodyPr>
          <a:lstStyle/>
          <a:p>
            <a:pPr>
              <a:defRPr sz="1230" b="0">
                <a:solidFill>
                  <a:srgbClr val="17221F"/>
                </a:solidFill>
                <a:latin typeface="Inter"/>
              </a:defRPr>
            </a:pPr>
            <a:r>
              <a:t>Baseline tags vs IA</a:t>
            </a:r>
          </a:p>
        </p:txBody>
      </p:sp>
      <p:sp>
        <p:nvSpPr>
          <p:cNvPr id="18" name="Rounded Rectangle 17"/>
          <p:cNvSpPr/>
          <p:nvPr/>
        </p:nvSpPr>
        <p:spPr>
          <a:xfrm>
            <a:off x="822959" y="4320540"/>
            <a:ext cx="100584" cy="100584"/>
          </a:xfrm>
          <a:prstGeom prst="roundRect">
            <a:avLst/>
          </a:prstGeom>
          <a:solidFill>
            <a:srgbClr val="82A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1" y="4279392"/>
            <a:ext cx="3081528" cy="457200"/>
          </a:xfrm>
          <a:prstGeom prst="rect">
            <a:avLst/>
          </a:prstGeom>
          <a:noFill/>
        </p:spPr>
        <p:txBody>
          <a:bodyPr wrap="square" lIns="18288" rIns="18288" tIns="9144" bIns="0">
            <a:spAutoFit/>
          </a:bodyPr>
          <a:lstStyle/>
          <a:p>
            <a:pPr>
              <a:defRPr sz="1230" b="0">
                <a:solidFill>
                  <a:srgbClr val="17221F"/>
                </a:solidFill>
                <a:latin typeface="Inter"/>
              </a:defRPr>
            </a:pPr>
            <a:r>
              <a:t>40 photos · jugement métier</a:t>
            </a:r>
          </a:p>
        </p:txBody>
      </p:sp>
      <p:sp>
        <p:nvSpPr>
          <p:cNvPr id="20" name="TextBox 19"/>
          <p:cNvSpPr txBox="1"/>
          <p:nvPr/>
        </p:nvSpPr>
        <p:spPr>
          <a:xfrm>
            <a:off x="832103" y="4910328"/>
            <a:ext cx="3246120" cy="320040"/>
          </a:xfrm>
          <a:prstGeom prst="rect">
            <a:avLst/>
          </a:prstGeom>
          <a:noFill/>
        </p:spPr>
        <p:txBody>
          <a:bodyPr wrap="square" lIns="18288" rIns="18288" tIns="9144" bIns="0">
            <a:spAutoFit/>
          </a:bodyPr>
          <a:lstStyle/>
          <a:p>
            <a:pPr>
              <a:defRPr sz="1000" b="1">
                <a:solidFill>
                  <a:srgbClr val="607069"/>
                </a:solidFill>
                <a:latin typeface="Inter"/>
              </a:defRPr>
            </a:pPr>
            <a:r>
              <a:t>120 pantalons / jeans</a:t>
            </a:r>
          </a:p>
        </p:txBody>
      </p:sp>
      <p:sp>
        <p:nvSpPr>
          <p:cNvPr id="21" name="Rounded Rectangle 20"/>
          <p:cNvSpPr/>
          <p:nvPr/>
        </p:nvSpPr>
        <p:spPr>
          <a:xfrm>
            <a:off x="4471416" y="1929384"/>
            <a:ext cx="3621024" cy="3429000"/>
          </a:xfrm>
          <a:prstGeom prst="roundRect">
            <a:avLst/>
          </a:prstGeom>
          <a:solidFill>
            <a:srgbClr val="EFF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71416" y="1929384"/>
            <a:ext cx="3621024" cy="484632"/>
          </a:xfrm>
          <a:prstGeom prst="roundRect">
            <a:avLst/>
          </a:prstGeom>
          <a:solidFill>
            <a:srgbClr val="5D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2048256"/>
            <a:ext cx="3355848" cy="265176"/>
          </a:xfrm>
          <a:prstGeom prst="rect">
            <a:avLst/>
          </a:prstGeom>
          <a:noFill/>
        </p:spPr>
        <p:txBody>
          <a:bodyPr wrap="square" lIns="18288" rIns="18288" tIns="9144" bIns="0">
            <a:spAutoFit/>
          </a:bodyPr>
          <a:lstStyle/>
          <a:p>
            <a:pPr>
              <a:defRPr sz="1200" b="1">
                <a:solidFill>
                  <a:srgbClr val="FFFFFF"/>
                </a:solidFill>
                <a:latin typeface="Inter"/>
              </a:defRPr>
            </a:pPr>
            <a:r>
              <a:t>MVP · INDUSTRIALISATION</a:t>
            </a:r>
          </a:p>
        </p:txBody>
      </p:sp>
      <p:sp>
        <p:nvSpPr>
          <p:cNvPr id="24" name="Rounded Rectangle 23"/>
          <p:cNvSpPr/>
          <p:nvPr/>
        </p:nvSpPr>
        <p:spPr>
          <a:xfrm>
            <a:off x="4645152" y="2729484"/>
            <a:ext cx="100584" cy="100584"/>
          </a:xfrm>
          <a:prstGeom prst="roundRect">
            <a:avLst/>
          </a:prstGeom>
          <a:solidFill>
            <a:srgbClr val="5D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55464" y="2688336"/>
            <a:ext cx="3081528" cy="457200"/>
          </a:xfrm>
          <a:prstGeom prst="rect">
            <a:avLst/>
          </a:prstGeom>
          <a:noFill/>
        </p:spPr>
        <p:txBody>
          <a:bodyPr wrap="square" lIns="18288" rIns="18288" tIns="9144" bIns="0">
            <a:spAutoFit/>
          </a:bodyPr>
          <a:lstStyle/>
          <a:p>
            <a:pPr>
              <a:defRPr sz="1230" b="0">
                <a:solidFill>
                  <a:srgbClr val="17221F"/>
                </a:solidFill>
                <a:latin typeface="Inter"/>
              </a:defRPr>
            </a:pPr>
            <a:r>
              <a:t>Catalogue multi-catégories + stocks</a:t>
            </a:r>
          </a:p>
        </p:txBody>
      </p:sp>
      <p:sp>
        <p:nvSpPr>
          <p:cNvPr id="26" name="Rounded Rectangle 25"/>
          <p:cNvSpPr/>
          <p:nvPr/>
        </p:nvSpPr>
        <p:spPr>
          <a:xfrm>
            <a:off x="4645152" y="3259836"/>
            <a:ext cx="100584" cy="100584"/>
          </a:xfrm>
          <a:prstGeom prst="roundRect">
            <a:avLst/>
          </a:prstGeom>
          <a:solidFill>
            <a:srgbClr val="5D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5464" y="3218688"/>
            <a:ext cx="3081528" cy="457200"/>
          </a:xfrm>
          <a:prstGeom prst="rect">
            <a:avLst/>
          </a:prstGeom>
          <a:noFill/>
        </p:spPr>
        <p:txBody>
          <a:bodyPr wrap="square" lIns="18288" rIns="18288" tIns="9144" bIns="0">
            <a:spAutoFit/>
          </a:bodyPr>
          <a:lstStyle/>
          <a:p>
            <a:pPr>
              <a:defRPr sz="1230" b="0">
                <a:solidFill>
                  <a:srgbClr val="17221F"/>
                </a:solidFill>
                <a:latin typeface="Inter"/>
              </a:defRPr>
            </a:pPr>
            <a:r>
              <a:t>Préférences styles / marques</a:t>
            </a:r>
          </a:p>
        </p:txBody>
      </p:sp>
      <p:sp>
        <p:nvSpPr>
          <p:cNvPr id="28" name="Rounded Rectangle 27"/>
          <p:cNvSpPr/>
          <p:nvPr/>
        </p:nvSpPr>
        <p:spPr>
          <a:xfrm>
            <a:off x="4645152" y="3790187"/>
            <a:ext cx="100584" cy="100584"/>
          </a:xfrm>
          <a:prstGeom prst="roundRect">
            <a:avLst/>
          </a:prstGeom>
          <a:solidFill>
            <a:srgbClr val="5D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5464" y="3749039"/>
            <a:ext cx="3081528" cy="457200"/>
          </a:xfrm>
          <a:prstGeom prst="rect">
            <a:avLst/>
          </a:prstGeom>
          <a:noFill/>
        </p:spPr>
        <p:txBody>
          <a:bodyPr wrap="square" lIns="18288" rIns="18288" tIns="9144" bIns="0">
            <a:spAutoFit/>
          </a:bodyPr>
          <a:lstStyle/>
          <a:p>
            <a:pPr>
              <a:defRPr sz="1230" b="0">
                <a:solidFill>
                  <a:srgbClr val="17221F"/>
                </a:solidFill>
                <a:latin typeface="Inter"/>
              </a:defRPr>
            </a:pPr>
            <a:r>
              <a:t>Feedback utilisateur</a:t>
            </a:r>
          </a:p>
        </p:txBody>
      </p:sp>
      <p:sp>
        <p:nvSpPr>
          <p:cNvPr id="30" name="Rounded Rectangle 29"/>
          <p:cNvSpPr/>
          <p:nvPr/>
        </p:nvSpPr>
        <p:spPr>
          <a:xfrm>
            <a:off x="4645152" y="4320540"/>
            <a:ext cx="100584" cy="100584"/>
          </a:xfrm>
          <a:prstGeom prst="roundRect">
            <a:avLst/>
          </a:prstGeom>
          <a:solidFill>
            <a:srgbClr val="5D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55464" y="4279392"/>
            <a:ext cx="3081528" cy="457200"/>
          </a:xfrm>
          <a:prstGeom prst="rect">
            <a:avLst/>
          </a:prstGeom>
          <a:noFill/>
        </p:spPr>
        <p:txBody>
          <a:bodyPr wrap="square" lIns="18288" rIns="18288" tIns="9144" bIns="0">
            <a:spAutoFit/>
          </a:bodyPr>
          <a:lstStyle/>
          <a:p>
            <a:pPr>
              <a:defRPr sz="1230" b="0">
                <a:solidFill>
                  <a:srgbClr val="17221F"/>
                </a:solidFill>
                <a:latin typeface="Inter"/>
              </a:defRPr>
            </a:pPr>
            <a:r>
              <a:t>API IA, monitoring, sécurité</a:t>
            </a:r>
          </a:p>
        </p:txBody>
      </p:sp>
      <p:sp>
        <p:nvSpPr>
          <p:cNvPr id="32" name="TextBox 31"/>
          <p:cNvSpPr txBox="1"/>
          <p:nvPr/>
        </p:nvSpPr>
        <p:spPr>
          <a:xfrm>
            <a:off x="4654296" y="4910328"/>
            <a:ext cx="3246120" cy="320040"/>
          </a:xfrm>
          <a:prstGeom prst="rect">
            <a:avLst/>
          </a:prstGeom>
          <a:noFill/>
        </p:spPr>
        <p:txBody>
          <a:bodyPr wrap="square" lIns="18288" rIns="18288" tIns="9144" bIns="0">
            <a:spAutoFit/>
          </a:bodyPr>
          <a:lstStyle/>
          <a:p>
            <a:pPr>
              <a:defRPr sz="1000" b="1">
                <a:solidFill>
                  <a:srgbClr val="607069"/>
                </a:solidFill>
                <a:latin typeface="Inter"/>
              </a:defRPr>
            </a:pPr>
            <a:r>
              <a:t>Fonctions Software supposées acquises</a:t>
            </a:r>
          </a:p>
        </p:txBody>
      </p:sp>
      <p:sp>
        <p:nvSpPr>
          <p:cNvPr id="33" name="Rounded Rectangle 32"/>
          <p:cNvSpPr/>
          <p:nvPr/>
        </p:nvSpPr>
        <p:spPr>
          <a:xfrm>
            <a:off x="8293608" y="1929384"/>
            <a:ext cx="3621024" cy="3429000"/>
          </a:xfrm>
          <a:prstGeom prst="roundRect">
            <a:avLst/>
          </a:prstGeom>
          <a:solidFill>
            <a:srgbClr val="EFF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93608" y="1929384"/>
            <a:ext cx="3621024" cy="484632"/>
          </a:xfrm>
          <a:prstGeom prst="roundRect">
            <a:avLst/>
          </a:prstGeom>
          <a:solidFill>
            <a:srgbClr val="41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9912" y="2048256"/>
            <a:ext cx="3355848" cy="265176"/>
          </a:xfrm>
          <a:prstGeom prst="rect">
            <a:avLst/>
          </a:prstGeom>
          <a:noFill/>
        </p:spPr>
        <p:txBody>
          <a:bodyPr wrap="square" lIns="18288" rIns="18288" tIns="9144" bIns="0">
            <a:spAutoFit/>
          </a:bodyPr>
          <a:lstStyle/>
          <a:p>
            <a:pPr>
              <a:defRPr sz="1200" b="1">
                <a:solidFill>
                  <a:srgbClr val="FFFFFF"/>
                </a:solidFill>
                <a:latin typeface="Inter"/>
              </a:defRPr>
            </a:pPr>
            <a:r>
              <a:t>ÉVOLUTIONS · À CHIFFRER</a:t>
            </a:r>
          </a:p>
        </p:txBody>
      </p:sp>
      <p:sp>
        <p:nvSpPr>
          <p:cNvPr id="36" name="Rounded Rectangle 35"/>
          <p:cNvSpPr/>
          <p:nvPr/>
        </p:nvSpPr>
        <p:spPr>
          <a:xfrm>
            <a:off x="8467344" y="2729484"/>
            <a:ext cx="100584" cy="100584"/>
          </a:xfrm>
          <a:prstGeom prst="roundRect">
            <a:avLst/>
          </a:prstGeom>
          <a:solidFill>
            <a:srgbClr val="41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77656" y="2688336"/>
            <a:ext cx="3081528" cy="457200"/>
          </a:xfrm>
          <a:prstGeom prst="rect">
            <a:avLst/>
          </a:prstGeom>
          <a:noFill/>
        </p:spPr>
        <p:txBody>
          <a:bodyPr wrap="square" lIns="18288" rIns="18288" tIns="9144" bIns="0">
            <a:spAutoFit/>
          </a:bodyPr>
          <a:lstStyle/>
          <a:p>
            <a:pPr>
              <a:defRPr sz="1230" b="0">
                <a:solidFill>
                  <a:srgbClr val="17221F"/>
                </a:solidFill>
                <a:latin typeface="Inter"/>
              </a:defRPr>
            </a:pPr>
            <a:r>
              <a:t>Garde-robe / photos conservées</a:t>
            </a:r>
          </a:p>
        </p:txBody>
      </p:sp>
      <p:sp>
        <p:nvSpPr>
          <p:cNvPr id="38" name="Rounded Rectangle 37"/>
          <p:cNvSpPr/>
          <p:nvPr/>
        </p:nvSpPr>
        <p:spPr>
          <a:xfrm>
            <a:off x="8467344" y="3259836"/>
            <a:ext cx="100584" cy="100584"/>
          </a:xfrm>
          <a:prstGeom prst="roundRect">
            <a:avLst/>
          </a:prstGeom>
          <a:solidFill>
            <a:srgbClr val="41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77656" y="3218688"/>
            <a:ext cx="3081528" cy="457200"/>
          </a:xfrm>
          <a:prstGeom prst="rect">
            <a:avLst/>
          </a:prstGeom>
          <a:noFill/>
        </p:spPr>
        <p:txBody>
          <a:bodyPr wrap="square" lIns="18288" rIns="18288" tIns="9144" bIns="0">
            <a:spAutoFit/>
          </a:bodyPr>
          <a:lstStyle/>
          <a:p>
            <a:pPr>
              <a:defRPr sz="1230" b="0">
                <a:solidFill>
                  <a:srgbClr val="17221F"/>
                </a:solidFill>
                <a:latin typeface="Inter"/>
              </a:defRPr>
            </a:pPr>
            <a:r>
              <a:t>Essayage virtuel génératif</a:t>
            </a:r>
          </a:p>
        </p:txBody>
      </p:sp>
      <p:sp>
        <p:nvSpPr>
          <p:cNvPr id="40" name="Rounded Rectangle 39"/>
          <p:cNvSpPr/>
          <p:nvPr/>
        </p:nvSpPr>
        <p:spPr>
          <a:xfrm>
            <a:off x="8467344" y="3790187"/>
            <a:ext cx="100584" cy="100584"/>
          </a:xfrm>
          <a:prstGeom prst="roundRect">
            <a:avLst/>
          </a:prstGeom>
          <a:solidFill>
            <a:srgbClr val="41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77656" y="3749039"/>
            <a:ext cx="3081528" cy="457200"/>
          </a:xfrm>
          <a:prstGeom prst="rect">
            <a:avLst/>
          </a:prstGeom>
          <a:noFill/>
        </p:spPr>
        <p:txBody>
          <a:bodyPr wrap="square" lIns="18288" rIns="18288" tIns="9144" bIns="0">
            <a:spAutoFit/>
          </a:bodyPr>
          <a:lstStyle/>
          <a:p>
            <a:pPr>
              <a:defRPr sz="1230" b="0">
                <a:solidFill>
                  <a:srgbClr val="17221F"/>
                </a:solidFill>
                <a:latin typeface="Inter"/>
              </a:defRPr>
            </a:pPr>
            <a:r>
              <a:t>Variantes couleur / style / coupe</a:t>
            </a:r>
          </a:p>
        </p:txBody>
      </p:sp>
      <p:sp>
        <p:nvSpPr>
          <p:cNvPr id="42" name="Rounded Rectangle 41"/>
          <p:cNvSpPr/>
          <p:nvPr/>
        </p:nvSpPr>
        <p:spPr>
          <a:xfrm>
            <a:off x="8467344" y="4320540"/>
            <a:ext cx="100584" cy="100584"/>
          </a:xfrm>
          <a:prstGeom prst="roundRect">
            <a:avLst/>
          </a:prstGeom>
          <a:solidFill>
            <a:srgbClr val="41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77656" y="4279392"/>
            <a:ext cx="3081528" cy="457200"/>
          </a:xfrm>
          <a:prstGeom prst="rect">
            <a:avLst/>
          </a:prstGeom>
          <a:noFill/>
        </p:spPr>
        <p:txBody>
          <a:bodyPr wrap="square" lIns="18288" rIns="18288" tIns="9144" bIns="0">
            <a:spAutoFit/>
          </a:bodyPr>
          <a:lstStyle/>
          <a:p>
            <a:pPr>
              <a:defRPr sz="1230" b="0">
                <a:solidFill>
                  <a:srgbClr val="17221F"/>
                </a:solidFill>
                <a:latin typeface="Inter"/>
              </a:defRPr>
            </a:pPr>
            <a:r>
              <a:t>Blogs, influenceurs, tendances</a:t>
            </a:r>
          </a:p>
        </p:txBody>
      </p:sp>
      <p:sp>
        <p:nvSpPr>
          <p:cNvPr id="44" name="TextBox 43"/>
          <p:cNvSpPr txBox="1"/>
          <p:nvPr/>
        </p:nvSpPr>
        <p:spPr>
          <a:xfrm>
            <a:off x="8476488" y="4910328"/>
            <a:ext cx="3246120" cy="320040"/>
          </a:xfrm>
          <a:prstGeom prst="rect">
            <a:avLst/>
          </a:prstGeom>
          <a:noFill/>
        </p:spPr>
        <p:txBody>
          <a:bodyPr wrap="square" lIns="18288" rIns="18288" tIns="9144" bIns="0">
            <a:spAutoFit/>
          </a:bodyPr>
          <a:lstStyle/>
          <a:p>
            <a:pPr>
              <a:defRPr sz="1000" b="1">
                <a:solidFill>
                  <a:srgbClr val="607069"/>
                </a:solidFill>
                <a:latin typeface="Inter"/>
              </a:defRPr>
            </a:pPr>
            <a:r>
              <a:t>Pas dans le coût central Data/IA</a:t>
            </a:r>
          </a:p>
        </p:txBody>
      </p:sp>
      <p:sp>
        <p:nvSpPr>
          <p:cNvPr id="45" name="Rounded Rectangle 44"/>
          <p:cNvSpPr/>
          <p:nvPr/>
        </p:nvSpPr>
        <p:spPr>
          <a:xfrm>
            <a:off x="667512" y="5596128"/>
            <a:ext cx="10863072" cy="539496"/>
          </a:xfrm>
          <a:prstGeom prst="roundRect">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9536" y="5733288"/>
            <a:ext cx="10479024" cy="292608"/>
          </a:xfrm>
          <a:prstGeom prst="rect">
            <a:avLst/>
          </a:prstGeom>
          <a:noFill/>
        </p:spPr>
        <p:txBody>
          <a:bodyPr wrap="square" lIns="18288" rIns="18288" tIns="9144" bIns="0">
            <a:spAutoFit/>
          </a:bodyPr>
          <a:lstStyle/>
          <a:p>
            <a:pPr>
              <a:defRPr sz="1130" b="0">
                <a:solidFill>
                  <a:srgbClr val="FFFFFF"/>
                </a:solidFill>
                <a:latin typeface="Inter"/>
              </a:defRPr>
            </a:pPr>
            <a:r>
              <a:t>TRANSVERSE · Consentement, accès et désinscription · rectification / suppression · conservation · purge automatique (RGPD / DPO).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sources et limites du chiffrage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r>
              <a:rPr sz="900">
                <a:solidFill>
                  <a:srgbClr val="607069"/>
                </a:solidFill>
                <a:latin typeface="Aptos"/>
              </a:rPr>
              <a:t>26</a:t>
            </a:r>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txBody>
          <a:bodyPr/>
          <a:p/>
        </p:txBody>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txBody>
          <a:bodyPr/>
          <a:p/>
        </p:txBody>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 + 02_perimetre_poc.md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txBody>
          <a:bodyPr/>
          <a:p/>
        </p:txBody>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txBody>
          <a:bodyPr/>
          <a:p/>
        </p:txBody>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docs/05_chiffrage_ressources_humaines_partie2.md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txBody>
          <a:bodyPr/>
          <a:p/>
        </p:txBody>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500" dirty="0">
                <a:solidFill>
                  <a:srgbClr val="17221F"/>
                </a:solidFill>
                <a:latin typeface="Inter" pitchFamily="34" charset="0"/>
                <a:ea typeface="Inter" pitchFamily="34" charset="-122"/>
                <a:cs typeface="Inter" pitchFamily="34" charset="-120"/>
              </a:rPr>
              <a:t>P11 / docs/06_dimensionnement_couts_azure_partie2.md + 07_analyse_roi_rentabilite_partie2.md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Microsoft / CNIL : voir docs/08_risques_rgpd_partie3.md</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37744"/>
            <a:ext cx="10972800" cy="274320"/>
          </a:xfrm>
          <a:prstGeom prst="rect">
            <a:avLst/>
          </a:prstGeom>
          <a:noFill/>
        </p:spPr>
        <p:txBody>
          <a:bodyPr wrap="square" lIns="18288" rIns="18288" tIns="9144" bIns="9144" anchor="ctr">
            <a:spAutoFit/>
          </a:bodyPr>
          <a:lstStyle/>
          <a:p>
            <a:pPr algn="l">
              <a:spcBef>
                <a:spcPts val="0"/>
              </a:spcBef>
              <a:spcAft>
                <a:spcPts val="0"/>
              </a:spcAft>
              <a:defRPr sz="930" b="1">
                <a:solidFill>
                  <a:srgbClr val="607069"/>
                </a:solidFill>
                <a:latin typeface="Aptos"/>
              </a:defRPr>
            </a:pPr>
            <a:r>
              <a:t>22  /  PARTIE 3 — PRINCIPES RGPD ET RISQUES</a:t>
            </a:r>
          </a:p>
        </p:txBody>
      </p:sp>
      <p:sp>
        <p:nvSpPr>
          <p:cNvPr id="4" name="TextBox 3"/>
          <p:cNvSpPr txBox="1"/>
          <p:nvPr/>
        </p:nvSpPr>
        <p:spPr>
          <a:xfrm>
            <a:off x="603504" y="612648"/>
            <a:ext cx="10972800" cy="685800"/>
          </a:xfrm>
          <a:prstGeom prst="rect">
            <a:avLst/>
          </a:prstGeom>
          <a:noFill/>
        </p:spPr>
        <p:txBody>
          <a:bodyPr wrap="square" lIns="18288" rIns="18288" tIns="9144" bIns="9144" anchor="ctr">
            <a:spAutoFit/>
          </a:bodyPr>
          <a:lstStyle/>
          <a:p>
            <a:pPr algn="l">
              <a:spcBef>
                <a:spcPts val="0"/>
              </a:spcBef>
              <a:spcAft>
                <a:spcPts val="0"/>
              </a:spcAft>
              <a:defRPr sz="2550" b="1">
                <a:solidFill>
                  <a:srgbClr val="17221F"/>
                </a:solidFill>
                <a:latin typeface="Aptos"/>
              </a:defRPr>
            </a:pPr>
            <a:r>
              <a:t>Les données personnelles dépassent la photographie</a:t>
            </a:r>
          </a:p>
        </p:txBody>
      </p:sp>
      <p:sp>
        <p:nvSpPr>
          <p:cNvPr id="5" name="Rectangle 4"/>
          <p:cNvSpPr/>
          <p:nvPr/>
        </p:nvSpPr>
        <p:spPr>
          <a:xfrm>
            <a:off x="594360" y="1517904"/>
            <a:ext cx="10991088" cy="50292"/>
          </a:xfrm>
          <a:prstGeom prst="rect">
            <a:avLst/>
          </a:prstGeom>
          <a:solidFill>
            <a:srgbClr val="D9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64208"/>
            <a:ext cx="10927080" cy="393192"/>
          </a:xfrm>
          <a:prstGeom prst="rect">
            <a:avLst/>
          </a:prstGeom>
          <a:noFill/>
        </p:spPr>
        <p:txBody>
          <a:bodyPr wrap="square" lIns="18288" rIns="18288" tIns="9144" bIns="9144" anchor="ctr">
            <a:spAutoFit/>
          </a:bodyPr>
          <a:lstStyle/>
          <a:p>
            <a:pPr algn="l">
              <a:spcBef>
                <a:spcPts val="0"/>
              </a:spcBef>
              <a:spcAft>
                <a:spcPts val="0"/>
              </a:spcAft>
              <a:defRPr sz="1120" b="0">
                <a:solidFill>
                  <a:srgbClr val="607069"/>
                </a:solidFill>
                <a:latin typeface="Aptos"/>
              </a:defRPr>
            </a:pPr>
            <a:r>
              <a:t>Photos / visages, garde-robe, compte, goûts, marques, avis, historiques, logs et embeddings associés au client.</a:t>
            </a:r>
          </a:p>
        </p:txBody>
      </p:sp>
      <p:sp>
        <p:nvSpPr>
          <p:cNvPr id="7" name="TextBox 6"/>
          <p:cNvSpPr txBox="1"/>
          <p:nvPr/>
        </p:nvSpPr>
        <p:spPr>
          <a:xfrm>
            <a:off x="594360" y="6464808"/>
            <a:ext cx="10607040" cy="192024"/>
          </a:xfrm>
          <a:prstGeom prst="rect">
            <a:avLst/>
          </a:prstGeom>
          <a:noFill/>
        </p:spPr>
        <p:txBody>
          <a:bodyPr wrap="square" lIns="18288" rIns="18288" tIns="9144" bIns="9144" anchor="ctr">
            <a:spAutoFit/>
          </a:bodyPr>
          <a:lstStyle/>
          <a:p>
            <a:pPr algn="l">
              <a:spcBef>
                <a:spcPts val="0"/>
              </a:spcBef>
              <a:spcAft>
                <a:spcPts val="0"/>
              </a:spcAft>
              <a:defRPr sz="800" b="0">
                <a:solidFill>
                  <a:srgbClr val="607069"/>
                </a:solidFill>
                <a:latin typeface="Aptos"/>
              </a:defRPr>
            </a:pPr>
            <a:r>
              <a:t>FASHION–INSTA  ·  RISQUES RGPD  /  REVUE DPO REQUISE</a:t>
            </a:r>
          </a:p>
        </p:txBody>
      </p:sp>
      <p:sp>
        <p:nvSpPr>
          <p:cNvPr id="8" name="TextBox 7"/>
          <p:cNvSpPr txBox="1"/>
          <p:nvPr/>
        </p:nvSpPr>
        <p:spPr>
          <a:xfrm>
            <a:off x="11100816" y="6455664"/>
            <a:ext cx="475488" cy="201168"/>
          </a:xfrm>
          <a:prstGeom prst="rect">
            <a:avLst/>
          </a:prstGeom>
          <a:noFill/>
        </p:spPr>
        <p:txBody>
          <a:bodyPr wrap="square" lIns="18288" rIns="18288" tIns="9144" bIns="9144" anchor="ctr">
            <a:spAutoFit/>
          </a:bodyPr>
          <a:lstStyle/>
          <a:p>
            <a:pPr algn="r">
              <a:spcBef>
                <a:spcPts val="0"/>
              </a:spcBef>
              <a:spcAft>
                <a:spcPts val="0"/>
              </a:spcAft>
              <a:defRPr sz="900" b="1">
                <a:solidFill>
                  <a:srgbClr val="607069"/>
                </a:solidFill>
                <a:latin typeface="Aptos"/>
              </a:defRPr>
            </a:pPr>
            <a:r>
              <a:t>24</a:t>
            </a:r>
          </a:p>
        </p:txBody>
      </p:sp>
      <p:sp>
        <p:nvSpPr>
          <p:cNvPr id="9" name="Rounded Rectangle 8"/>
          <p:cNvSpPr/>
          <p:nvPr/>
        </p:nvSpPr>
        <p:spPr>
          <a:xfrm>
            <a:off x="667512" y="2212848"/>
            <a:ext cx="5468112" cy="1060704"/>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 y="2368296"/>
            <a:ext cx="521207" cy="438912"/>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395728"/>
            <a:ext cx="457200" cy="374904"/>
          </a:xfrm>
          <a:prstGeom prst="rect">
            <a:avLst/>
          </a:prstGeom>
          <a:noFill/>
        </p:spPr>
        <p:txBody>
          <a:bodyPr wrap="square" lIns="18288" rIns="18288" tIns="9144" bIns="9144" anchor="ctr">
            <a:spAutoFit/>
          </a:bodyPr>
          <a:lstStyle/>
          <a:p>
            <a:pPr algn="ctr">
              <a:spcBef>
                <a:spcPts val="0"/>
              </a:spcBef>
              <a:spcAft>
                <a:spcPts val="0"/>
              </a:spcAft>
              <a:defRPr sz="1100" b="1">
                <a:solidFill>
                  <a:srgbClr val="FFFFFF"/>
                </a:solidFill>
                <a:latin typeface="Aptos"/>
              </a:defRPr>
            </a:pPr>
            <a:r>
              <a:t>01</a:t>
            </a:r>
          </a:p>
        </p:txBody>
      </p:sp>
      <p:sp>
        <p:nvSpPr>
          <p:cNvPr id="12" name="TextBox 11"/>
          <p:cNvSpPr txBox="1"/>
          <p:nvPr/>
        </p:nvSpPr>
        <p:spPr>
          <a:xfrm>
            <a:off x="1499616" y="2331720"/>
            <a:ext cx="4425696" cy="292608"/>
          </a:xfrm>
          <a:prstGeom prst="rect">
            <a:avLst/>
          </a:prstGeom>
          <a:noFill/>
        </p:spPr>
        <p:txBody>
          <a:bodyPr wrap="square" lIns="18288" rIns="18288" tIns="9144" bIns="9144" anchor="ctr">
            <a:spAutoFit/>
          </a:bodyPr>
          <a:lstStyle/>
          <a:p>
            <a:pPr algn="l">
              <a:spcBef>
                <a:spcPts val="0"/>
              </a:spcBef>
              <a:spcAft>
                <a:spcPts val="0"/>
              </a:spcAft>
              <a:defRPr sz="1130" b="1">
                <a:solidFill>
                  <a:srgbClr val="254B38"/>
                </a:solidFill>
                <a:latin typeface="Aptos"/>
              </a:defRPr>
            </a:pPr>
            <a:r>
              <a:t>LICÉITÉ &amp; TRANSPARENCE</a:t>
            </a:r>
          </a:p>
        </p:txBody>
      </p:sp>
      <p:sp>
        <p:nvSpPr>
          <p:cNvPr id="13" name="TextBox 12"/>
          <p:cNvSpPr txBox="1"/>
          <p:nvPr/>
        </p:nvSpPr>
        <p:spPr>
          <a:xfrm>
            <a:off x="1499616" y="2660904"/>
            <a:ext cx="4398264" cy="530352"/>
          </a:xfrm>
          <a:prstGeom prst="rect">
            <a:avLst/>
          </a:prstGeom>
          <a:noFill/>
        </p:spPr>
        <p:txBody>
          <a:bodyPr wrap="square" lIns="18288" rIns="18288" tIns="9144" bIns="9144" anchor="t">
            <a:spAutoFit/>
          </a:bodyPr>
          <a:lstStyle/>
          <a:p>
            <a:pPr algn="l">
              <a:spcBef>
                <a:spcPts val="0"/>
              </a:spcBef>
              <a:spcAft>
                <a:spcPts val="0"/>
              </a:spcAft>
              <a:defRPr sz="1025" b="0">
                <a:solidFill>
                  <a:srgbClr val="17221F"/>
                </a:solidFill>
                <a:latin typeface="Aptos"/>
              </a:defRPr>
            </a:pPr>
            <a:r>
              <a:t>Collecte de photos ou de préférences sans information claire ni base légale documentée.</a:t>
            </a:r>
          </a:p>
        </p:txBody>
      </p:sp>
      <p:sp>
        <p:nvSpPr>
          <p:cNvPr id="14" name="Rounded Rectangle 13"/>
          <p:cNvSpPr/>
          <p:nvPr/>
        </p:nvSpPr>
        <p:spPr>
          <a:xfrm>
            <a:off x="6483096" y="2212848"/>
            <a:ext cx="5468112" cy="1060704"/>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29400" y="2368296"/>
            <a:ext cx="521207" cy="438912"/>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2395728"/>
            <a:ext cx="457200" cy="374904"/>
          </a:xfrm>
          <a:prstGeom prst="rect">
            <a:avLst/>
          </a:prstGeom>
          <a:noFill/>
        </p:spPr>
        <p:txBody>
          <a:bodyPr wrap="square" lIns="18288" rIns="18288" tIns="9144" bIns="9144" anchor="ctr">
            <a:spAutoFit/>
          </a:bodyPr>
          <a:lstStyle/>
          <a:p>
            <a:pPr algn="ctr">
              <a:spcBef>
                <a:spcPts val="0"/>
              </a:spcBef>
              <a:spcAft>
                <a:spcPts val="0"/>
              </a:spcAft>
              <a:defRPr sz="1100" b="1">
                <a:solidFill>
                  <a:srgbClr val="FFFFFF"/>
                </a:solidFill>
                <a:latin typeface="Aptos"/>
              </a:defRPr>
            </a:pPr>
            <a:r>
              <a:t>02</a:t>
            </a:r>
          </a:p>
        </p:txBody>
      </p:sp>
      <p:sp>
        <p:nvSpPr>
          <p:cNvPr id="17" name="TextBox 16"/>
          <p:cNvSpPr txBox="1"/>
          <p:nvPr/>
        </p:nvSpPr>
        <p:spPr>
          <a:xfrm>
            <a:off x="7315200" y="2331720"/>
            <a:ext cx="4425696" cy="292608"/>
          </a:xfrm>
          <a:prstGeom prst="rect">
            <a:avLst/>
          </a:prstGeom>
          <a:noFill/>
        </p:spPr>
        <p:txBody>
          <a:bodyPr wrap="square" lIns="18288" rIns="18288" tIns="9144" bIns="9144" anchor="ctr">
            <a:spAutoFit/>
          </a:bodyPr>
          <a:lstStyle/>
          <a:p>
            <a:pPr algn="l">
              <a:spcBef>
                <a:spcPts val="0"/>
              </a:spcBef>
              <a:spcAft>
                <a:spcPts val="0"/>
              </a:spcAft>
              <a:defRPr sz="1130" b="1">
                <a:solidFill>
                  <a:srgbClr val="254B38"/>
                </a:solidFill>
                <a:latin typeface="Aptos"/>
              </a:defRPr>
            </a:pPr>
            <a:r>
              <a:t>FINALITÉS &amp; NON-RÉUTILISATION</a:t>
            </a:r>
          </a:p>
        </p:txBody>
      </p:sp>
      <p:sp>
        <p:nvSpPr>
          <p:cNvPr id="18" name="TextBox 17"/>
          <p:cNvSpPr txBox="1"/>
          <p:nvPr/>
        </p:nvSpPr>
        <p:spPr>
          <a:xfrm>
            <a:off x="7315200" y="2660904"/>
            <a:ext cx="4398264" cy="530352"/>
          </a:xfrm>
          <a:prstGeom prst="rect">
            <a:avLst/>
          </a:prstGeom>
          <a:noFill/>
        </p:spPr>
        <p:txBody>
          <a:bodyPr wrap="square" lIns="18288" rIns="18288" tIns="9144" bIns="9144" anchor="t">
            <a:spAutoFit/>
          </a:bodyPr>
          <a:lstStyle/>
          <a:p>
            <a:pPr algn="l">
              <a:spcBef>
                <a:spcPts val="0"/>
              </a:spcBef>
              <a:spcAft>
                <a:spcPts val="0"/>
              </a:spcAft>
              <a:defRPr sz="1025" b="0">
                <a:solidFill>
                  <a:srgbClr val="17221F"/>
                </a:solidFill>
                <a:latin typeface="Aptos"/>
              </a:defRPr>
            </a:pPr>
            <a:r>
              <a:t>Réemploi des photos et historiques pour l’entraînement d’un fournisseur IA, hors objectif initial.</a:t>
            </a:r>
          </a:p>
        </p:txBody>
      </p:sp>
      <p:sp>
        <p:nvSpPr>
          <p:cNvPr id="19" name="Rounded Rectangle 18"/>
          <p:cNvSpPr/>
          <p:nvPr/>
        </p:nvSpPr>
        <p:spPr>
          <a:xfrm>
            <a:off x="667512" y="3419856"/>
            <a:ext cx="5468112" cy="1060704"/>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816" y="3575304"/>
            <a:ext cx="521207" cy="438912"/>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602736"/>
            <a:ext cx="457200" cy="374904"/>
          </a:xfrm>
          <a:prstGeom prst="rect">
            <a:avLst/>
          </a:prstGeom>
          <a:noFill/>
        </p:spPr>
        <p:txBody>
          <a:bodyPr wrap="square" lIns="18288" rIns="18288" tIns="9144" bIns="9144" anchor="ctr">
            <a:spAutoFit/>
          </a:bodyPr>
          <a:lstStyle/>
          <a:p>
            <a:pPr algn="ctr">
              <a:spcBef>
                <a:spcPts val="0"/>
              </a:spcBef>
              <a:spcAft>
                <a:spcPts val="0"/>
              </a:spcAft>
              <a:defRPr sz="1100" b="1">
                <a:solidFill>
                  <a:srgbClr val="FFFFFF"/>
                </a:solidFill>
                <a:latin typeface="Aptos"/>
              </a:defRPr>
            </a:pPr>
            <a:r>
              <a:t>03</a:t>
            </a:r>
          </a:p>
        </p:txBody>
      </p:sp>
      <p:sp>
        <p:nvSpPr>
          <p:cNvPr id="22" name="TextBox 21"/>
          <p:cNvSpPr txBox="1"/>
          <p:nvPr/>
        </p:nvSpPr>
        <p:spPr>
          <a:xfrm>
            <a:off x="1499616" y="3538728"/>
            <a:ext cx="4425696" cy="292608"/>
          </a:xfrm>
          <a:prstGeom prst="rect">
            <a:avLst/>
          </a:prstGeom>
          <a:noFill/>
        </p:spPr>
        <p:txBody>
          <a:bodyPr wrap="square" lIns="18288" rIns="18288" tIns="9144" bIns="9144" anchor="ctr">
            <a:spAutoFit/>
          </a:bodyPr>
          <a:lstStyle/>
          <a:p>
            <a:pPr algn="l">
              <a:spcBef>
                <a:spcPts val="0"/>
              </a:spcBef>
              <a:spcAft>
                <a:spcPts val="0"/>
              </a:spcAft>
              <a:defRPr sz="1130" b="1">
                <a:solidFill>
                  <a:srgbClr val="254B38"/>
                </a:solidFill>
                <a:latin typeface="Aptos"/>
              </a:defRPr>
            </a:pPr>
            <a:r>
              <a:t>MINIMISATION &amp; EXACTITUDE</a:t>
            </a:r>
          </a:p>
        </p:txBody>
      </p:sp>
      <p:sp>
        <p:nvSpPr>
          <p:cNvPr id="23" name="TextBox 22"/>
          <p:cNvSpPr txBox="1"/>
          <p:nvPr/>
        </p:nvSpPr>
        <p:spPr>
          <a:xfrm>
            <a:off x="1499616" y="3867912"/>
            <a:ext cx="4398264" cy="530352"/>
          </a:xfrm>
          <a:prstGeom prst="rect">
            <a:avLst/>
          </a:prstGeom>
          <a:noFill/>
        </p:spPr>
        <p:txBody>
          <a:bodyPr wrap="square" lIns="18288" rIns="18288" tIns="9144" bIns="9144" anchor="t">
            <a:spAutoFit/>
          </a:bodyPr>
          <a:lstStyle/>
          <a:p>
            <a:pPr algn="l">
              <a:spcBef>
                <a:spcPts val="0"/>
              </a:spcBef>
              <a:spcAft>
                <a:spcPts val="0"/>
              </a:spcAft>
              <a:defRPr sz="1025" b="0">
                <a:solidFill>
                  <a:srgbClr val="17221F"/>
                </a:solidFill>
                <a:latin typeface="Aptos"/>
              </a:defRPr>
            </a:pPr>
            <a:r>
              <a:t>Visages, arrière-plan, EXIF ou localisation non nécessaires ; profil utilisateur inexact.</a:t>
            </a:r>
          </a:p>
        </p:txBody>
      </p:sp>
      <p:sp>
        <p:nvSpPr>
          <p:cNvPr id="24" name="Rounded Rectangle 23"/>
          <p:cNvSpPr/>
          <p:nvPr/>
        </p:nvSpPr>
        <p:spPr>
          <a:xfrm>
            <a:off x="6483096" y="3419856"/>
            <a:ext cx="5468112" cy="1060704"/>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29400" y="3575304"/>
            <a:ext cx="521207" cy="438912"/>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3602736"/>
            <a:ext cx="457200" cy="374904"/>
          </a:xfrm>
          <a:prstGeom prst="rect">
            <a:avLst/>
          </a:prstGeom>
          <a:noFill/>
        </p:spPr>
        <p:txBody>
          <a:bodyPr wrap="square" lIns="18288" rIns="18288" tIns="9144" bIns="9144" anchor="ctr">
            <a:spAutoFit/>
          </a:bodyPr>
          <a:lstStyle/>
          <a:p>
            <a:pPr algn="ctr">
              <a:spcBef>
                <a:spcPts val="0"/>
              </a:spcBef>
              <a:spcAft>
                <a:spcPts val="0"/>
              </a:spcAft>
              <a:defRPr sz="1100" b="1">
                <a:solidFill>
                  <a:srgbClr val="FFFFFF"/>
                </a:solidFill>
                <a:latin typeface="Aptos"/>
              </a:defRPr>
            </a:pPr>
            <a:r>
              <a:t>04</a:t>
            </a:r>
          </a:p>
        </p:txBody>
      </p:sp>
      <p:sp>
        <p:nvSpPr>
          <p:cNvPr id="27" name="TextBox 26"/>
          <p:cNvSpPr txBox="1"/>
          <p:nvPr/>
        </p:nvSpPr>
        <p:spPr>
          <a:xfrm>
            <a:off x="7315200" y="3538728"/>
            <a:ext cx="4425696" cy="292608"/>
          </a:xfrm>
          <a:prstGeom prst="rect">
            <a:avLst/>
          </a:prstGeom>
          <a:noFill/>
        </p:spPr>
        <p:txBody>
          <a:bodyPr wrap="square" lIns="18288" rIns="18288" tIns="9144" bIns="9144" anchor="ctr">
            <a:spAutoFit/>
          </a:bodyPr>
          <a:lstStyle/>
          <a:p>
            <a:pPr algn="l">
              <a:spcBef>
                <a:spcPts val="0"/>
              </a:spcBef>
              <a:spcAft>
                <a:spcPts val="0"/>
              </a:spcAft>
              <a:defRPr sz="1130" b="1">
                <a:solidFill>
                  <a:srgbClr val="254B38"/>
                </a:solidFill>
                <a:latin typeface="Aptos"/>
              </a:defRPr>
            </a:pPr>
            <a:r>
              <a:t>CONSERVATION LIMITÉE</a:t>
            </a:r>
          </a:p>
        </p:txBody>
      </p:sp>
      <p:sp>
        <p:nvSpPr>
          <p:cNvPr id="28" name="TextBox 27"/>
          <p:cNvSpPr txBox="1"/>
          <p:nvPr/>
        </p:nvSpPr>
        <p:spPr>
          <a:xfrm>
            <a:off x="7315200" y="3867912"/>
            <a:ext cx="4398264" cy="530352"/>
          </a:xfrm>
          <a:prstGeom prst="rect">
            <a:avLst/>
          </a:prstGeom>
          <a:noFill/>
        </p:spPr>
        <p:txBody>
          <a:bodyPr wrap="square" lIns="18288" rIns="18288" tIns="9144" bIns="9144" anchor="t">
            <a:spAutoFit/>
          </a:bodyPr>
          <a:lstStyle/>
          <a:p>
            <a:pPr algn="l">
              <a:spcBef>
                <a:spcPts val="0"/>
              </a:spcBef>
              <a:spcAft>
                <a:spcPts val="0"/>
              </a:spcAft>
              <a:defRPr sz="1025" b="0">
                <a:solidFill>
                  <a:srgbClr val="17221F"/>
                </a:solidFill>
                <a:latin typeface="Aptos"/>
              </a:defRPr>
            </a:pPr>
            <a:r>
              <a:t>Photos, requêtes, vecteurs, sauvegardes ou avis conservés après la durée autorisée.</a:t>
            </a:r>
          </a:p>
        </p:txBody>
      </p:sp>
      <p:sp>
        <p:nvSpPr>
          <p:cNvPr id="29" name="Rounded Rectangle 28"/>
          <p:cNvSpPr/>
          <p:nvPr/>
        </p:nvSpPr>
        <p:spPr>
          <a:xfrm>
            <a:off x="667512" y="4626864"/>
            <a:ext cx="5468112" cy="1060704"/>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3816" y="4782312"/>
            <a:ext cx="521207" cy="438912"/>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 y="4809744"/>
            <a:ext cx="457200" cy="374904"/>
          </a:xfrm>
          <a:prstGeom prst="rect">
            <a:avLst/>
          </a:prstGeom>
          <a:noFill/>
        </p:spPr>
        <p:txBody>
          <a:bodyPr wrap="square" lIns="18288" rIns="18288" tIns="9144" bIns="9144" anchor="ctr">
            <a:spAutoFit/>
          </a:bodyPr>
          <a:lstStyle/>
          <a:p>
            <a:pPr algn="ctr">
              <a:spcBef>
                <a:spcPts val="0"/>
              </a:spcBef>
              <a:spcAft>
                <a:spcPts val="0"/>
              </a:spcAft>
              <a:defRPr sz="1100" b="1">
                <a:solidFill>
                  <a:srgbClr val="FFFFFF"/>
                </a:solidFill>
                <a:latin typeface="Aptos"/>
              </a:defRPr>
            </a:pPr>
            <a:r>
              <a:t>05</a:t>
            </a:r>
          </a:p>
        </p:txBody>
      </p:sp>
      <p:sp>
        <p:nvSpPr>
          <p:cNvPr id="32" name="TextBox 31"/>
          <p:cNvSpPr txBox="1"/>
          <p:nvPr/>
        </p:nvSpPr>
        <p:spPr>
          <a:xfrm>
            <a:off x="1499616" y="4745736"/>
            <a:ext cx="4425696" cy="292608"/>
          </a:xfrm>
          <a:prstGeom prst="rect">
            <a:avLst/>
          </a:prstGeom>
          <a:noFill/>
        </p:spPr>
        <p:txBody>
          <a:bodyPr wrap="square" lIns="18288" rIns="18288" tIns="9144" bIns="9144" anchor="ctr">
            <a:spAutoFit/>
          </a:bodyPr>
          <a:lstStyle/>
          <a:p>
            <a:pPr algn="l">
              <a:spcBef>
                <a:spcPts val="0"/>
              </a:spcBef>
              <a:spcAft>
                <a:spcPts val="0"/>
              </a:spcAft>
              <a:defRPr sz="1130" b="1">
                <a:solidFill>
                  <a:srgbClr val="254B38"/>
                </a:solidFill>
                <a:latin typeface="Aptos"/>
              </a:defRPr>
            </a:pPr>
            <a:r>
              <a:t>SÉCURITÉ &amp; CONFIDENTIALITÉ</a:t>
            </a:r>
          </a:p>
        </p:txBody>
      </p:sp>
      <p:sp>
        <p:nvSpPr>
          <p:cNvPr id="33" name="TextBox 32"/>
          <p:cNvSpPr txBox="1"/>
          <p:nvPr/>
        </p:nvSpPr>
        <p:spPr>
          <a:xfrm>
            <a:off x="1499616" y="5074920"/>
            <a:ext cx="4398264" cy="530352"/>
          </a:xfrm>
          <a:prstGeom prst="rect">
            <a:avLst/>
          </a:prstGeom>
          <a:noFill/>
        </p:spPr>
        <p:txBody>
          <a:bodyPr wrap="square" lIns="18288" rIns="18288" tIns="9144" bIns="9144" anchor="t">
            <a:spAutoFit/>
          </a:bodyPr>
          <a:lstStyle/>
          <a:p>
            <a:pPr algn="l">
              <a:spcBef>
                <a:spcPts val="0"/>
              </a:spcBef>
              <a:spcAft>
                <a:spcPts val="0"/>
              </a:spcAft>
              <a:defRPr sz="1025" b="0">
                <a:solidFill>
                  <a:srgbClr val="17221F"/>
                </a:solidFill>
                <a:latin typeface="Aptos"/>
              </a:defRPr>
            </a:pPr>
            <a:r>
              <a:t>Fuite de garde-robe, préférences ou journaux ; accès excessifs aux fichiers privés.</a:t>
            </a:r>
          </a:p>
        </p:txBody>
      </p:sp>
      <p:sp>
        <p:nvSpPr>
          <p:cNvPr id="34" name="Rounded Rectangle 33"/>
          <p:cNvSpPr/>
          <p:nvPr/>
        </p:nvSpPr>
        <p:spPr>
          <a:xfrm>
            <a:off x="6483096" y="4626864"/>
            <a:ext cx="5468112" cy="1060704"/>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29400" y="4782312"/>
            <a:ext cx="521207" cy="438912"/>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4809744"/>
            <a:ext cx="457200" cy="374904"/>
          </a:xfrm>
          <a:prstGeom prst="rect">
            <a:avLst/>
          </a:prstGeom>
          <a:noFill/>
        </p:spPr>
        <p:txBody>
          <a:bodyPr wrap="square" lIns="18288" rIns="18288" tIns="9144" bIns="9144" anchor="ctr">
            <a:spAutoFit/>
          </a:bodyPr>
          <a:lstStyle/>
          <a:p>
            <a:pPr algn="ctr">
              <a:spcBef>
                <a:spcPts val="0"/>
              </a:spcBef>
              <a:spcAft>
                <a:spcPts val="0"/>
              </a:spcAft>
              <a:defRPr sz="1100" b="1">
                <a:solidFill>
                  <a:srgbClr val="FFFFFF"/>
                </a:solidFill>
                <a:latin typeface="Aptos"/>
              </a:defRPr>
            </a:pPr>
            <a:r>
              <a:t>06</a:t>
            </a:r>
          </a:p>
        </p:txBody>
      </p:sp>
      <p:sp>
        <p:nvSpPr>
          <p:cNvPr id="37" name="TextBox 36"/>
          <p:cNvSpPr txBox="1"/>
          <p:nvPr/>
        </p:nvSpPr>
        <p:spPr>
          <a:xfrm>
            <a:off x="7315200" y="4745736"/>
            <a:ext cx="4425696" cy="292608"/>
          </a:xfrm>
          <a:prstGeom prst="rect">
            <a:avLst/>
          </a:prstGeom>
          <a:noFill/>
        </p:spPr>
        <p:txBody>
          <a:bodyPr wrap="square" lIns="18288" rIns="18288" tIns="9144" bIns="9144" anchor="ctr">
            <a:spAutoFit/>
          </a:bodyPr>
          <a:lstStyle/>
          <a:p>
            <a:pPr algn="l">
              <a:spcBef>
                <a:spcPts val="0"/>
              </a:spcBef>
              <a:spcAft>
                <a:spcPts val="0"/>
              </a:spcAft>
              <a:defRPr sz="1130" b="1">
                <a:solidFill>
                  <a:srgbClr val="254B38"/>
                </a:solidFill>
                <a:latin typeface="Aptos"/>
              </a:defRPr>
            </a:pPr>
            <a:r>
              <a:t>DROITS &amp; RESPONSABILITÉ</a:t>
            </a:r>
          </a:p>
        </p:txBody>
      </p:sp>
      <p:sp>
        <p:nvSpPr>
          <p:cNvPr id="38" name="TextBox 37"/>
          <p:cNvSpPr txBox="1"/>
          <p:nvPr/>
        </p:nvSpPr>
        <p:spPr>
          <a:xfrm>
            <a:off x="7315200" y="5074920"/>
            <a:ext cx="4398264" cy="530352"/>
          </a:xfrm>
          <a:prstGeom prst="rect">
            <a:avLst/>
          </a:prstGeom>
          <a:noFill/>
        </p:spPr>
        <p:txBody>
          <a:bodyPr wrap="square" lIns="18288" rIns="18288" tIns="9144" bIns="9144" anchor="t">
            <a:spAutoFit/>
          </a:bodyPr>
          <a:lstStyle/>
          <a:p>
            <a:pPr algn="l">
              <a:spcBef>
                <a:spcPts val="0"/>
              </a:spcBef>
              <a:spcAft>
                <a:spcPts val="0"/>
              </a:spcAft>
              <a:defRPr sz="1025" b="0">
                <a:solidFill>
                  <a:srgbClr val="17221F"/>
                </a:solidFill>
                <a:latin typeface="Aptos"/>
              </a:defRPr>
            </a:pPr>
            <a:r>
              <a:t>Suppression/rectification incomplète entre Blob, index, base, caches et prestataires.</a:t>
            </a:r>
          </a:p>
        </p:txBody>
      </p:sp>
      <p:sp>
        <p:nvSpPr>
          <p:cNvPr id="39" name="Rounded Rectangle 38"/>
          <p:cNvSpPr/>
          <p:nvPr/>
        </p:nvSpPr>
        <p:spPr>
          <a:xfrm>
            <a:off x="694944" y="5925312"/>
            <a:ext cx="10789920" cy="301752"/>
          </a:xfrm>
          <a:prstGeom prst="roundRect">
            <a:avLst>
              <a:gd name="adj" fmla="val 12000"/>
            </a:avLst>
          </a:prstGeom>
          <a:solidFill>
            <a:srgbClr val="ED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934456"/>
            <a:ext cx="10515600" cy="265176"/>
          </a:xfrm>
          <a:prstGeom prst="rect">
            <a:avLst/>
          </a:prstGeom>
          <a:noFill/>
        </p:spPr>
        <p:txBody>
          <a:bodyPr wrap="square" lIns="18288" rIns="18288" tIns="9144" bIns="9144" anchor="ctr">
            <a:spAutoFit/>
          </a:bodyPr>
          <a:lstStyle/>
          <a:p>
            <a:pPr algn="l">
              <a:spcBef>
                <a:spcPts val="0"/>
              </a:spcBef>
              <a:spcAft>
                <a:spcPts val="0"/>
              </a:spcAft>
              <a:defRPr sz="890" b="0">
                <a:solidFill>
                  <a:srgbClr val="254B38"/>
                </a:solidFill>
                <a:latin typeface="Aptos"/>
              </a:defRPr>
            </a:pPr>
            <a:r>
              <a:t>DPO : registre des traitements, base légale par usage et évaluation du besoin d’AIPD avant production ; RGPD aussi pour les vecteurs liés à un compte.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37744"/>
            <a:ext cx="10972800" cy="274320"/>
          </a:xfrm>
          <a:prstGeom prst="rect">
            <a:avLst/>
          </a:prstGeom>
          <a:noFill/>
        </p:spPr>
        <p:txBody>
          <a:bodyPr wrap="square" lIns="18288" rIns="18288" tIns="9144" bIns="9144" anchor="ctr">
            <a:spAutoFit/>
          </a:bodyPr>
          <a:lstStyle/>
          <a:p>
            <a:pPr algn="l">
              <a:spcBef>
                <a:spcPts val="0"/>
              </a:spcBef>
              <a:spcAft>
                <a:spcPts val="0"/>
              </a:spcAft>
              <a:defRPr sz="930" b="1">
                <a:solidFill>
                  <a:srgbClr val="607069"/>
                </a:solidFill>
                <a:latin typeface="Aptos"/>
              </a:defRPr>
            </a:pPr>
            <a:r>
              <a:t>23  /  PARTIE 3 — SOLUTIONS ET DATA PRIVACY</a:t>
            </a:r>
          </a:p>
        </p:txBody>
      </p:sp>
      <p:sp>
        <p:nvSpPr>
          <p:cNvPr id="4" name="TextBox 3"/>
          <p:cNvSpPr txBox="1"/>
          <p:nvPr/>
        </p:nvSpPr>
        <p:spPr>
          <a:xfrm>
            <a:off x="603504" y="612648"/>
            <a:ext cx="10972800" cy="685800"/>
          </a:xfrm>
          <a:prstGeom prst="rect">
            <a:avLst/>
          </a:prstGeom>
          <a:noFill/>
        </p:spPr>
        <p:txBody>
          <a:bodyPr wrap="square" lIns="18288" rIns="18288" tIns="9144" bIns="9144" anchor="ctr">
            <a:spAutoFit/>
          </a:bodyPr>
          <a:lstStyle/>
          <a:p>
            <a:pPr algn="l">
              <a:spcBef>
                <a:spcPts val="0"/>
              </a:spcBef>
              <a:spcAft>
                <a:spcPts val="0"/>
              </a:spcAft>
              <a:defRPr sz="2550" b="1">
                <a:solidFill>
                  <a:srgbClr val="17221F"/>
                </a:solidFill>
                <a:latin typeface="Aptos"/>
              </a:defRPr>
            </a:pPr>
            <a:r>
              <a:t>Une protection intégrée au System Design Azure</a:t>
            </a:r>
          </a:p>
        </p:txBody>
      </p:sp>
      <p:sp>
        <p:nvSpPr>
          <p:cNvPr id="5" name="Rectangle 4"/>
          <p:cNvSpPr/>
          <p:nvPr/>
        </p:nvSpPr>
        <p:spPr>
          <a:xfrm>
            <a:off x="594360" y="1517904"/>
            <a:ext cx="10991088" cy="50292"/>
          </a:xfrm>
          <a:prstGeom prst="rect">
            <a:avLst/>
          </a:prstGeom>
          <a:solidFill>
            <a:srgbClr val="D9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664208"/>
            <a:ext cx="10927080" cy="393192"/>
          </a:xfrm>
          <a:prstGeom prst="rect">
            <a:avLst/>
          </a:prstGeom>
          <a:noFill/>
        </p:spPr>
        <p:txBody>
          <a:bodyPr wrap="square" lIns="18288" rIns="18288" tIns="9144" bIns="9144" anchor="ctr">
            <a:spAutoFit/>
          </a:bodyPr>
          <a:lstStyle/>
          <a:p>
            <a:pPr algn="l">
              <a:spcBef>
                <a:spcPts val="0"/>
              </a:spcBef>
              <a:spcAft>
                <a:spcPts val="0"/>
              </a:spcAft>
              <a:defRPr sz="1120" b="0">
                <a:solidFill>
                  <a:srgbClr val="607069"/>
                </a:solidFill>
                <a:latin typeface="Aptos"/>
              </a:defRPr>
            </a:pPr>
            <a:r>
              <a:t>Déployer les contrôles avant l’inférence, dans le stockage et à la suppression : ni entraînement tiers non autorisé, ni fuite de photos.</a:t>
            </a:r>
          </a:p>
        </p:txBody>
      </p:sp>
      <p:sp>
        <p:nvSpPr>
          <p:cNvPr id="7" name="TextBox 6"/>
          <p:cNvSpPr txBox="1"/>
          <p:nvPr/>
        </p:nvSpPr>
        <p:spPr>
          <a:xfrm>
            <a:off x="594360" y="6464808"/>
            <a:ext cx="10607040" cy="192024"/>
          </a:xfrm>
          <a:prstGeom prst="rect">
            <a:avLst/>
          </a:prstGeom>
          <a:noFill/>
        </p:spPr>
        <p:txBody>
          <a:bodyPr wrap="square" lIns="18288" rIns="18288" tIns="9144" bIns="9144" anchor="ctr">
            <a:spAutoFit/>
          </a:bodyPr>
          <a:lstStyle/>
          <a:p>
            <a:pPr algn="l">
              <a:spcBef>
                <a:spcPts val="0"/>
              </a:spcBef>
              <a:spcAft>
                <a:spcPts val="0"/>
              </a:spcAft>
              <a:defRPr sz="800" b="0">
                <a:solidFill>
                  <a:srgbClr val="607069"/>
                </a:solidFill>
                <a:latin typeface="Aptos"/>
              </a:defRPr>
            </a:pPr>
            <a:r>
              <a:t>FASHION–INSTA  ·  PRIVACY BY DESIGN  /  MESURES À VALIDER AVEC LE DPO</a:t>
            </a:r>
          </a:p>
        </p:txBody>
      </p:sp>
      <p:sp>
        <p:nvSpPr>
          <p:cNvPr id="8" name="TextBox 7"/>
          <p:cNvSpPr txBox="1"/>
          <p:nvPr/>
        </p:nvSpPr>
        <p:spPr>
          <a:xfrm>
            <a:off x="11100816" y="6455664"/>
            <a:ext cx="475488" cy="201168"/>
          </a:xfrm>
          <a:prstGeom prst="rect">
            <a:avLst/>
          </a:prstGeom>
          <a:noFill/>
        </p:spPr>
        <p:txBody>
          <a:bodyPr wrap="square" lIns="18288" rIns="18288" tIns="9144" bIns="9144" anchor="ctr">
            <a:spAutoFit/>
          </a:bodyPr>
          <a:lstStyle/>
          <a:p>
            <a:pPr algn="r">
              <a:spcBef>
                <a:spcPts val="0"/>
              </a:spcBef>
              <a:spcAft>
                <a:spcPts val="0"/>
              </a:spcAft>
              <a:defRPr sz="900" b="1">
                <a:solidFill>
                  <a:srgbClr val="607069"/>
                </a:solidFill>
                <a:latin typeface="Aptos"/>
              </a:defRPr>
            </a:pPr>
            <a:r>
              <a:t>25</a:t>
            </a:r>
          </a:p>
        </p:txBody>
      </p:sp>
      <p:sp>
        <p:nvSpPr>
          <p:cNvPr id="9" name="Rounded Rectangle 8"/>
          <p:cNvSpPr/>
          <p:nvPr/>
        </p:nvSpPr>
        <p:spPr>
          <a:xfrm>
            <a:off x="658368" y="2267712"/>
            <a:ext cx="2139696" cy="1463040"/>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377440"/>
            <a:ext cx="320040" cy="256032"/>
          </a:xfrm>
          <a:prstGeom prst="rect">
            <a:avLst/>
          </a:prstGeom>
          <a:noFill/>
        </p:spPr>
        <p:txBody>
          <a:bodyPr wrap="square" lIns="18288" rIns="18288" tIns="9144" bIns="9144" anchor="ctr">
            <a:spAutoFit/>
          </a:bodyPr>
          <a:lstStyle/>
          <a:p>
            <a:pPr algn="l">
              <a:spcBef>
                <a:spcPts val="0"/>
              </a:spcBef>
              <a:spcAft>
                <a:spcPts val="0"/>
              </a:spcAft>
              <a:defRPr sz="1000" b="1">
                <a:solidFill>
                  <a:srgbClr val="254B38"/>
                </a:solidFill>
                <a:latin typeface="Aptos"/>
              </a:defRPr>
            </a:pPr>
            <a:r>
              <a:t>01</a:t>
            </a:r>
          </a:p>
        </p:txBody>
      </p:sp>
      <p:sp>
        <p:nvSpPr>
          <p:cNvPr id="11" name="TextBox 10"/>
          <p:cNvSpPr txBox="1"/>
          <p:nvPr/>
        </p:nvSpPr>
        <p:spPr>
          <a:xfrm>
            <a:off x="795528" y="2651760"/>
            <a:ext cx="1874519" cy="320040"/>
          </a:xfrm>
          <a:prstGeom prst="rect">
            <a:avLst/>
          </a:prstGeom>
          <a:noFill/>
        </p:spPr>
        <p:txBody>
          <a:bodyPr wrap="square" lIns="18288" rIns="18288" tIns="9144" bIns="9144" anchor="ctr">
            <a:spAutoFit/>
          </a:bodyPr>
          <a:lstStyle/>
          <a:p>
            <a:pPr algn="l">
              <a:spcBef>
                <a:spcPts val="0"/>
              </a:spcBef>
              <a:spcAft>
                <a:spcPts val="0"/>
              </a:spcAft>
              <a:defRPr sz="1050" b="1">
                <a:solidFill>
                  <a:srgbClr val="17221F"/>
                </a:solidFill>
                <a:latin typeface="Aptos"/>
              </a:defRPr>
            </a:pPr>
            <a:r>
              <a:t>APP / ENTRÉE</a:t>
            </a:r>
          </a:p>
        </p:txBody>
      </p:sp>
      <p:sp>
        <p:nvSpPr>
          <p:cNvPr id="12" name="TextBox 11"/>
          <p:cNvSpPr txBox="1"/>
          <p:nvPr/>
        </p:nvSpPr>
        <p:spPr>
          <a:xfrm>
            <a:off x="795528" y="3044952"/>
            <a:ext cx="1874519" cy="548640"/>
          </a:xfrm>
          <a:prstGeom prst="rect">
            <a:avLst/>
          </a:prstGeom>
          <a:noFill/>
        </p:spPr>
        <p:txBody>
          <a:bodyPr wrap="square" lIns="18288" rIns="18288" tIns="9144" bIns="9144" anchor="t">
            <a:spAutoFit/>
          </a:bodyPr>
          <a:lstStyle/>
          <a:p>
            <a:pPr algn="l">
              <a:spcBef>
                <a:spcPts val="0"/>
              </a:spcBef>
              <a:spcAft>
                <a:spcPts val="0"/>
              </a:spcAft>
              <a:defRPr sz="950" b="0">
                <a:solidFill>
                  <a:srgbClr val="17221F"/>
                </a:solidFill>
                <a:latin typeface="Aptos"/>
              </a:defRPr>
            </a:pPr>
            <a:r>
              <a:t>Information, droits,</a:t>
            </a:r>
          </a:p>
          <a:p>
            <a:pPr algn="l">
              <a:spcBef>
                <a:spcPts val="0"/>
              </a:spcBef>
              <a:spcAft>
                <a:spcPts val="0"/>
              </a:spcAft>
              <a:defRPr sz="950" b="0">
                <a:solidFill>
                  <a:srgbClr val="17221F"/>
                </a:solidFill>
                <a:latin typeface="Aptos"/>
              </a:defRPr>
            </a:pPr>
            <a:r>
              <a:t>finalités documentées</a:t>
            </a:r>
          </a:p>
        </p:txBody>
      </p:sp>
      <p:sp>
        <p:nvSpPr>
          <p:cNvPr id="13" name="TextBox 12"/>
          <p:cNvSpPr txBox="1"/>
          <p:nvPr/>
        </p:nvSpPr>
        <p:spPr>
          <a:xfrm>
            <a:off x="2798063" y="2788920"/>
            <a:ext cx="210312" cy="320040"/>
          </a:xfrm>
          <a:prstGeom prst="rect">
            <a:avLst/>
          </a:prstGeom>
          <a:noFill/>
        </p:spPr>
        <p:txBody>
          <a:bodyPr wrap="square" lIns="18288" rIns="18288" tIns="9144" bIns="9144" anchor="ctr">
            <a:spAutoFit/>
          </a:bodyPr>
          <a:lstStyle/>
          <a:p>
            <a:pPr algn="ctr">
              <a:spcBef>
                <a:spcPts val="0"/>
              </a:spcBef>
              <a:spcAft>
                <a:spcPts val="0"/>
              </a:spcAft>
              <a:defRPr sz="1800" b="1">
                <a:solidFill>
                  <a:srgbClr val="8DB8A3"/>
                </a:solidFill>
                <a:latin typeface="Aptos"/>
              </a:defRPr>
            </a:pPr>
            <a:r>
              <a:t>→</a:t>
            </a:r>
          </a:p>
        </p:txBody>
      </p:sp>
      <p:sp>
        <p:nvSpPr>
          <p:cNvPr id="14" name="Rounded Rectangle 13"/>
          <p:cNvSpPr/>
          <p:nvPr/>
        </p:nvSpPr>
        <p:spPr>
          <a:xfrm>
            <a:off x="3008376" y="2267712"/>
            <a:ext cx="2139696" cy="1463040"/>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45536" y="2377440"/>
            <a:ext cx="320040" cy="256032"/>
          </a:xfrm>
          <a:prstGeom prst="rect">
            <a:avLst/>
          </a:prstGeom>
          <a:noFill/>
        </p:spPr>
        <p:txBody>
          <a:bodyPr wrap="square" lIns="18288" rIns="18288" tIns="9144" bIns="9144" anchor="ctr">
            <a:spAutoFit/>
          </a:bodyPr>
          <a:lstStyle/>
          <a:p>
            <a:pPr algn="l">
              <a:spcBef>
                <a:spcPts val="0"/>
              </a:spcBef>
              <a:spcAft>
                <a:spcPts val="0"/>
              </a:spcAft>
              <a:defRPr sz="1000" b="1">
                <a:solidFill>
                  <a:srgbClr val="254B38"/>
                </a:solidFill>
                <a:latin typeface="Aptos"/>
              </a:defRPr>
            </a:pPr>
            <a:r>
              <a:t>02</a:t>
            </a:r>
          </a:p>
        </p:txBody>
      </p:sp>
      <p:sp>
        <p:nvSpPr>
          <p:cNvPr id="16" name="TextBox 15"/>
          <p:cNvSpPr txBox="1"/>
          <p:nvPr/>
        </p:nvSpPr>
        <p:spPr>
          <a:xfrm>
            <a:off x="3145536" y="2651760"/>
            <a:ext cx="1874519" cy="320040"/>
          </a:xfrm>
          <a:prstGeom prst="rect">
            <a:avLst/>
          </a:prstGeom>
          <a:noFill/>
        </p:spPr>
        <p:txBody>
          <a:bodyPr wrap="square" lIns="18288" rIns="18288" tIns="9144" bIns="9144" anchor="ctr">
            <a:spAutoFit/>
          </a:bodyPr>
          <a:lstStyle/>
          <a:p>
            <a:pPr algn="l">
              <a:spcBef>
                <a:spcPts val="0"/>
              </a:spcBef>
              <a:spcAft>
                <a:spcPts val="0"/>
              </a:spcAft>
              <a:defRPr sz="1050" b="1">
                <a:solidFill>
                  <a:srgbClr val="17221F"/>
                </a:solidFill>
                <a:latin typeface="Aptos"/>
              </a:defRPr>
            </a:pPr>
            <a:r>
              <a:t>API PRIVACY GATE</a:t>
            </a:r>
          </a:p>
        </p:txBody>
      </p:sp>
      <p:sp>
        <p:nvSpPr>
          <p:cNvPr id="17" name="TextBox 16"/>
          <p:cNvSpPr txBox="1"/>
          <p:nvPr/>
        </p:nvSpPr>
        <p:spPr>
          <a:xfrm>
            <a:off x="3145536" y="3044952"/>
            <a:ext cx="1874519" cy="548640"/>
          </a:xfrm>
          <a:prstGeom prst="rect">
            <a:avLst/>
          </a:prstGeom>
          <a:noFill/>
        </p:spPr>
        <p:txBody>
          <a:bodyPr wrap="square" lIns="18288" rIns="18288" tIns="9144" bIns="9144" anchor="t">
            <a:spAutoFit/>
          </a:bodyPr>
          <a:lstStyle/>
          <a:p>
            <a:pPr algn="l">
              <a:spcBef>
                <a:spcPts val="0"/>
              </a:spcBef>
              <a:spcAft>
                <a:spcPts val="0"/>
              </a:spcAft>
              <a:defRPr sz="950" b="0">
                <a:solidFill>
                  <a:srgbClr val="17221F"/>
                </a:solidFill>
                <a:latin typeface="Aptos"/>
              </a:defRPr>
            </a:pPr>
            <a:r>
              <a:t>Retrait EXIF, recadrage</a:t>
            </a:r>
          </a:p>
          <a:p>
            <a:pPr algn="l">
              <a:spcBef>
                <a:spcPts val="0"/>
              </a:spcBef>
              <a:spcAft>
                <a:spcPts val="0"/>
              </a:spcAft>
              <a:defRPr sz="950" b="0">
                <a:solidFill>
                  <a:srgbClr val="17221F"/>
                </a:solidFill>
                <a:latin typeface="Aptos"/>
              </a:defRPr>
            </a:pPr>
            <a:r>
              <a:t>vêtement / masquage</a:t>
            </a:r>
          </a:p>
        </p:txBody>
      </p:sp>
      <p:sp>
        <p:nvSpPr>
          <p:cNvPr id="18" name="TextBox 17"/>
          <p:cNvSpPr txBox="1"/>
          <p:nvPr/>
        </p:nvSpPr>
        <p:spPr>
          <a:xfrm>
            <a:off x="5148072" y="2788920"/>
            <a:ext cx="210312" cy="320040"/>
          </a:xfrm>
          <a:prstGeom prst="rect">
            <a:avLst/>
          </a:prstGeom>
          <a:noFill/>
        </p:spPr>
        <p:txBody>
          <a:bodyPr wrap="square" lIns="18288" rIns="18288" tIns="9144" bIns="9144" anchor="ctr">
            <a:spAutoFit/>
          </a:bodyPr>
          <a:lstStyle/>
          <a:p>
            <a:pPr algn="ctr">
              <a:spcBef>
                <a:spcPts val="0"/>
              </a:spcBef>
              <a:spcAft>
                <a:spcPts val="0"/>
              </a:spcAft>
              <a:defRPr sz="1800" b="1">
                <a:solidFill>
                  <a:srgbClr val="8DB8A3"/>
                </a:solidFill>
                <a:latin typeface="Aptos"/>
              </a:defRPr>
            </a:pPr>
            <a:r>
              <a:t>→</a:t>
            </a:r>
          </a:p>
        </p:txBody>
      </p:sp>
      <p:sp>
        <p:nvSpPr>
          <p:cNvPr id="19" name="Rounded Rectangle 18"/>
          <p:cNvSpPr/>
          <p:nvPr/>
        </p:nvSpPr>
        <p:spPr>
          <a:xfrm>
            <a:off x="5358383" y="2267712"/>
            <a:ext cx="2139696" cy="1463040"/>
          </a:xfrm>
          <a:prstGeom prst="roundRect">
            <a:avLst>
              <a:gd name="adj" fmla="val 12000"/>
            </a:avLst>
          </a:prstGeom>
          <a:solidFill>
            <a:srgbClr val="21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95544" y="2377440"/>
            <a:ext cx="320040" cy="256032"/>
          </a:xfrm>
          <a:prstGeom prst="rect">
            <a:avLst/>
          </a:prstGeom>
          <a:noFill/>
        </p:spPr>
        <p:txBody>
          <a:bodyPr wrap="square" lIns="18288" rIns="18288" tIns="9144" bIns="9144" anchor="ctr">
            <a:spAutoFit/>
          </a:bodyPr>
          <a:lstStyle/>
          <a:p>
            <a:pPr algn="l">
              <a:spcBef>
                <a:spcPts val="0"/>
              </a:spcBef>
              <a:spcAft>
                <a:spcPts val="0"/>
              </a:spcAft>
              <a:defRPr sz="1000" b="1">
                <a:solidFill>
                  <a:srgbClr val="D0E98A"/>
                </a:solidFill>
                <a:latin typeface="Aptos"/>
              </a:defRPr>
            </a:pPr>
            <a:r>
              <a:t>03</a:t>
            </a:r>
          </a:p>
        </p:txBody>
      </p:sp>
      <p:sp>
        <p:nvSpPr>
          <p:cNvPr id="21" name="TextBox 20"/>
          <p:cNvSpPr txBox="1"/>
          <p:nvPr/>
        </p:nvSpPr>
        <p:spPr>
          <a:xfrm>
            <a:off x="5495544" y="2651760"/>
            <a:ext cx="1874519" cy="320040"/>
          </a:xfrm>
          <a:prstGeom prst="rect">
            <a:avLst/>
          </a:prstGeom>
          <a:noFill/>
        </p:spPr>
        <p:txBody>
          <a:bodyPr wrap="square" lIns="18288" rIns="18288" tIns="9144" bIns="9144" anchor="ctr">
            <a:spAutoFit/>
          </a:bodyPr>
          <a:lstStyle/>
          <a:p>
            <a:pPr algn="l">
              <a:spcBef>
                <a:spcPts val="0"/>
              </a:spcBef>
              <a:spcAft>
                <a:spcPts val="0"/>
              </a:spcAft>
              <a:defRPr sz="1050" b="1">
                <a:solidFill>
                  <a:srgbClr val="FFFFFF"/>
                </a:solidFill>
                <a:latin typeface="Aptos"/>
              </a:defRPr>
            </a:pPr>
            <a:r>
              <a:t>AZURE ML PRIVÉ</a:t>
            </a:r>
          </a:p>
        </p:txBody>
      </p:sp>
      <p:sp>
        <p:nvSpPr>
          <p:cNvPr id="22" name="TextBox 21"/>
          <p:cNvSpPr txBox="1"/>
          <p:nvPr/>
        </p:nvSpPr>
        <p:spPr>
          <a:xfrm>
            <a:off x="5495544" y="3044952"/>
            <a:ext cx="1874519" cy="548640"/>
          </a:xfrm>
          <a:prstGeom prst="rect">
            <a:avLst/>
          </a:prstGeom>
          <a:noFill/>
        </p:spPr>
        <p:txBody>
          <a:bodyPr wrap="square" lIns="18288" rIns="18288" tIns="9144" bIns="9144" anchor="t">
            <a:spAutoFit/>
          </a:bodyPr>
          <a:lstStyle/>
          <a:p>
            <a:pPr algn="l">
              <a:spcBef>
                <a:spcPts val="0"/>
              </a:spcBef>
              <a:spcAft>
                <a:spcPts val="0"/>
              </a:spcAft>
              <a:defRPr sz="950" b="0">
                <a:solidFill>
                  <a:srgbClr val="FFFFFF"/>
                </a:solidFill>
                <a:latin typeface="Aptos"/>
              </a:defRPr>
            </a:pPr>
            <a:r>
              <a:t>CLIP / inférence seule ;</a:t>
            </a:r>
          </a:p>
          <a:p>
            <a:pPr algn="l">
              <a:spcBef>
                <a:spcPts val="0"/>
              </a:spcBef>
              <a:spcAft>
                <a:spcPts val="0"/>
              </a:spcAft>
              <a:defRPr sz="950" b="0">
                <a:solidFill>
                  <a:srgbClr val="FFFFFF"/>
                </a:solidFill>
                <a:latin typeface="Aptos"/>
              </a:defRPr>
            </a:pPr>
            <a:r>
              <a:t>réseau isolé</a:t>
            </a:r>
          </a:p>
        </p:txBody>
      </p:sp>
      <p:sp>
        <p:nvSpPr>
          <p:cNvPr id="23" name="TextBox 22"/>
          <p:cNvSpPr txBox="1"/>
          <p:nvPr/>
        </p:nvSpPr>
        <p:spPr>
          <a:xfrm>
            <a:off x="7498079" y="2788920"/>
            <a:ext cx="210312" cy="320040"/>
          </a:xfrm>
          <a:prstGeom prst="rect">
            <a:avLst/>
          </a:prstGeom>
          <a:noFill/>
        </p:spPr>
        <p:txBody>
          <a:bodyPr wrap="square" lIns="18288" rIns="18288" tIns="9144" bIns="9144" anchor="ctr">
            <a:spAutoFit/>
          </a:bodyPr>
          <a:lstStyle/>
          <a:p>
            <a:pPr algn="ctr">
              <a:spcBef>
                <a:spcPts val="0"/>
              </a:spcBef>
              <a:spcAft>
                <a:spcPts val="0"/>
              </a:spcAft>
              <a:defRPr sz="1800" b="1">
                <a:solidFill>
                  <a:srgbClr val="8DB8A3"/>
                </a:solidFill>
                <a:latin typeface="Aptos"/>
              </a:defRPr>
            </a:pPr>
            <a:r>
              <a:t>→</a:t>
            </a:r>
          </a:p>
        </p:txBody>
      </p:sp>
      <p:sp>
        <p:nvSpPr>
          <p:cNvPr id="24" name="Rounded Rectangle 23"/>
          <p:cNvSpPr/>
          <p:nvPr/>
        </p:nvSpPr>
        <p:spPr>
          <a:xfrm>
            <a:off x="7708392" y="2267712"/>
            <a:ext cx="2139696" cy="1463040"/>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45552" y="2377440"/>
            <a:ext cx="320040" cy="256032"/>
          </a:xfrm>
          <a:prstGeom prst="rect">
            <a:avLst/>
          </a:prstGeom>
          <a:noFill/>
        </p:spPr>
        <p:txBody>
          <a:bodyPr wrap="square" lIns="18288" rIns="18288" tIns="9144" bIns="9144" anchor="ctr">
            <a:spAutoFit/>
          </a:bodyPr>
          <a:lstStyle/>
          <a:p>
            <a:pPr algn="l">
              <a:spcBef>
                <a:spcPts val="0"/>
              </a:spcBef>
              <a:spcAft>
                <a:spcPts val="0"/>
              </a:spcAft>
              <a:defRPr sz="1000" b="1">
                <a:solidFill>
                  <a:srgbClr val="254B38"/>
                </a:solidFill>
                <a:latin typeface="Aptos"/>
              </a:defRPr>
            </a:pPr>
            <a:r>
              <a:t>04</a:t>
            </a:r>
          </a:p>
        </p:txBody>
      </p:sp>
      <p:sp>
        <p:nvSpPr>
          <p:cNvPr id="26" name="TextBox 25"/>
          <p:cNvSpPr txBox="1"/>
          <p:nvPr/>
        </p:nvSpPr>
        <p:spPr>
          <a:xfrm>
            <a:off x="7845552" y="2651760"/>
            <a:ext cx="1874519" cy="320040"/>
          </a:xfrm>
          <a:prstGeom prst="rect">
            <a:avLst/>
          </a:prstGeom>
          <a:noFill/>
        </p:spPr>
        <p:txBody>
          <a:bodyPr wrap="square" lIns="18288" rIns="18288" tIns="9144" bIns="9144" anchor="ctr">
            <a:spAutoFit/>
          </a:bodyPr>
          <a:lstStyle/>
          <a:p>
            <a:pPr algn="l">
              <a:spcBef>
                <a:spcPts val="0"/>
              </a:spcBef>
              <a:spcAft>
                <a:spcPts val="0"/>
              </a:spcAft>
              <a:defRPr sz="1050" b="1">
                <a:solidFill>
                  <a:srgbClr val="17221F"/>
                </a:solidFill>
                <a:latin typeface="Aptos"/>
              </a:defRPr>
            </a:pPr>
            <a:r>
              <a:t>INDEX / TOP 5</a:t>
            </a:r>
          </a:p>
        </p:txBody>
      </p:sp>
      <p:sp>
        <p:nvSpPr>
          <p:cNvPr id="27" name="TextBox 26"/>
          <p:cNvSpPr txBox="1"/>
          <p:nvPr/>
        </p:nvSpPr>
        <p:spPr>
          <a:xfrm>
            <a:off x="7845552" y="3044952"/>
            <a:ext cx="1874519" cy="548640"/>
          </a:xfrm>
          <a:prstGeom prst="rect">
            <a:avLst/>
          </a:prstGeom>
          <a:noFill/>
        </p:spPr>
        <p:txBody>
          <a:bodyPr wrap="square" lIns="18288" rIns="18288" tIns="9144" bIns="9144" anchor="t">
            <a:spAutoFit/>
          </a:bodyPr>
          <a:lstStyle/>
          <a:p>
            <a:pPr algn="l">
              <a:spcBef>
                <a:spcPts val="0"/>
              </a:spcBef>
              <a:spcAft>
                <a:spcPts val="0"/>
              </a:spcAft>
              <a:defRPr sz="950" b="0">
                <a:solidFill>
                  <a:srgbClr val="17221F"/>
                </a:solidFill>
                <a:latin typeface="Aptos"/>
              </a:defRPr>
            </a:pPr>
            <a:r>
              <a:t>Vecteurs catalogue ;</a:t>
            </a:r>
          </a:p>
          <a:p>
            <a:pPr algn="l">
              <a:spcBef>
                <a:spcPts val="0"/>
              </a:spcBef>
              <a:spcAft>
                <a:spcPts val="0"/>
              </a:spcAft>
              <a:defRPr sz="950" b="0">
                <a:solidFill>
                  <a:srgbClr val="17221F"/>
                </a:solidFill>
                <a:latin typeface="Aptos"/>
              </a:defRPr>
            </a:pPr>
            <a:r>
              <a:t>requête transitoire</a:t>
            </a:r>
          </a:p>
        </p:txBody>
      </p:sp>
      <p:sp>
        <p:nvSpPr>
          <p:cNvPr id="28" name="TextBox 27"/>
          <p:cNvSpPr txBox="1"/>
          <p:nvPr/>
        </p:nvSpPr>
        <p:spPr>
          <a:xfrm>
            <a:off x="9848088" y="2788920"/>
            <a:ext cx="210312" cy="320040"/>
          </a:xfrm>
          <a:prstGeom prst="rect">
            <a:avLst/>
          </a:prstGeom>
          <a:noFill/>
        </p:spPr>
        <p:txBody>
          <a:bodyPr wrap="square" lIns="18288" rIns="18288" tIns="9144" bIns="9144" anchor="ctr">
            <a:spAutoFit/>
          </a:bodyPr>
          <a:lstStyle/>
          <a:p>
            <a:pPr algn="ctr">
              <a:spcBef>
                <a:spcPts val="0"/>
              </a:spcBef>
              <a:spcAft>
                <a:spcPts val="0"/>
              </a:spcAft>
              <a:defRPr sz="1800" b="1">
                <a:solidFill>
                  <a:srgbClr val="8DB8A3"/>
                </a:solidFill>
                <a:latin typeface="Aptos"/>
              </a:defRPr>
            </a:pPr>
            <a:r>
              <a:t>→</a:t>
            </a:r>
          </a:p>
        </p:txBody>
      </p:sp>
      <p:sp>
        <p:nvSpPr>
          <p:cNvPr id="29" name="Rounded Rectangle 28"/>
          <p:cNvSpPr/>
          <p:nvPr/>
        </p:nvSpPr>
        <p:spPr>
          <a:xfrm>
            <a:off x="10058400" y="2267712"/>
            <a:ext cx="2139696" cy="1463040"/>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95560" y="2377440"/>
            <a:ext cx="320040" cy="256032"/>
          </a:xfrm>
          <a:prstGeom prst="rect">
            <a:avLst/>
          </a:prstGeom>
          <a:noFill/>
        </p:spPr>
        <p:txBody>
          <a:bodyPr wrap="square" lIns="18288" rIns="18288" tIns="9144" bIns="9144" anchor="ctr">
            <a:spAutoFit/>
          </a:bodyPr>
          <a:lstStyle/>
          <a:p>
            <a:pPr algn="l">
              <a:spcBef>
                <a:spcPts val="0"/>
              </a:spcBef>
              <a:spcAft>
                <a:spcPts val="0"/>
              </a:spcAft>
              <a:defRPr sz="1000" b="1">
                <a:solidFill>
                  <a:srgbClr val="254B38"/>
                </a:solidFill>
                <a:latin typeface="Aptos"/>
              </a:defRPr>
            </a:pPr>
            <a:r>
              <a:t>05</a:t>
            </a:r>
          </a:p>
        </p:txBody>
      </p:sp>
      <p:sp>
        <p:nvSpPr>
          <p:cNvPr id="31" name="TextBox 30"/>
          <p:cNvSpPr txBox="1"/>
          <p:nvPr/>
        </p:nvSpPr>
        <p:spPr>
          <a:xfrm>
            <a:off x="10195560" y="2651760"/>
            <a:ext cx="1874519" cy="320040"/>
          </a:xfrm>
          <a:prstGeom prst="rect">
            <a:avLst/>
          </a:prstGeom>
          <a:noFill/>
        </p:spPr>
        <p:txBody>
          <a:bodyPr wrap="square" lIns="18288" rIns="18288" tIns="9144" bIns="9144" anchor="ctr">
            <a:spAutoFit/>
          </a:bodyPr>
          <a:lstStyle/>
          <a:p>
            <a:pPr algn="l">
              <a:spcBef>
                <a:spcPts val="0"/>
              </a:spcBef>
              <a:spcAft>
                <a:spcPts val="0"/>
              </a:spcAft>
              <a:defRPr sz="1050" b="1">
                <a:solidFill>
                  <a:srgbClr val="17221F"/>
                </a:solidFill>
                <a:latin typeface="Aptos"/>
              </a:defRPr>
            </a:pPr>
            <a:r>
              <a:t>STOCKAGE &amp; PURGE</a:t>
            </a:r>
          </a:p>
        </p:txBody>
      </p:sp>
      <p:sp>
        <p:nvSpPr>
          <p:cNvPr id="32" name="TextBox 31"/>
          <p:cNvSpPr txBox="1"/>
          <p:nvPr/>
        </p:nvSpPr>
        <p:spPr>
          <a:xfrm>
            <a:off x="10195560" y="3044952"/>
            <a:ext cx="1874519" cy="548640"/>
          </a:xfrm>
          <a:prstGeom prst="rect">
            <a:avLst/>
          </a:prstGeom>
          <a:noFill/>
        </p:spPr>
        <p:txBody>
          <a:bodyPr wrap="square" lIns="18288" rIns="18288" tIns="9144" bIns="9144" anchor="t">
            <a:spAutoFit/>
          </a:bodyPr>
          <a:lstStyle/>
          <a:p>
            <a:pPr algn="l">
              <a:spcBef>
                <a:spcPts val="0"/>
              </a:spcBef>
              <a:spcAft>
                <a:spcPts val="0"/>
              </a:spcAft>
              <a:defRPr sz="950" b="0">
                <a:solidFill>
                  <a:srgbClr val="17221F"/>
                </a:solidFill>
                <a:latin typeface="Aptos"/>
              </a:defRPr>
            </a:pPr>
            <a:r>
              <a:t>Garde-robe si prévue ;</a:t>
            </a:r>
          </a:p>
          <a:p>
            <a:pPr algn="l">
              <a:spcBef>
                <a:spcPts val="0"/>
              </a:spcBef>
              <a:spcAft>
                <a:spcPts val="0"/>
              </a:spcAft>
              <a:defRPr sz="950" b="0">
                <a:solidFill>
                  <a:srgbClr val="17221F"/>
                </a:solidFill>
                <a:latin typeface="Aptos"/>
              </a:defRPr>
            </a:pPr>
            <a:r>
              <a:t>TTL, effacement lié</a:t>
            </a:r>
          </a:p>
        </p:txBody>
      </p:sp>
      <p:sp>
        <p:nvSpPr>
          <p:cNvPr id="33" name="Rounded Rectangle 32"/>
          <p:cNvSpPr/>
          <p:nvPr/>
        </p:nvSpPr>
        <p:spPr>
          <a:xfrm>
            <a:off x="694944" y="3995928"/>
            <a:ext cx="5312664" cy="1545336"/>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 y="4151376"/>
            <a:ext cx="4956048" cy="292608"/>
          </a:xfrm>
          <a:prstGeom prst="rect">
            <a:avLst/>
          </a:prstGeom>
          <a:noFill/>
        </p:spPr>
        <p:txBody>
          <a:bodyPr wrap="square" lIns="18288" rIns="18288" tIns="9144" bIns="9144" anchor="ctr">
            <a:spAutoFit/>
          </a:bodyPr>
          <a:lstStyle/>
          <a:p>
            <a:pPr algn="l">
              <a:spcBef>
                <a:spcPts val="0"/>
              </a:spcBef>
              <a:spcAft>
                <a:spcPts val="0"/>
              </a:spcAft>
              <a:defRPr sz="1075" b="1">
                <a:solidFill>
                  <a:srgbClr val="254B38"/>
                </a:solidFill>
                <a:latin typeface="Aptos"/>
              </a:defRPr>
            </a:pPr>
            <a:r>
              <a:t>ENGAGEMENT « PAS D’ENTRAÎNEMENT SUR LES PHOTOS »</a:t>
            </a:r>
          </a:p>
        </p:txBody>
      </p:sp>
      <p:sp>
        <p:nvSpPr>
          <p:cNvPr id="35" name="TextBox 34"/>
          <p:cNvSpPr txBox="1"/>
          <p:nvPr/>
        </p:nvSpPr>
        <p:spPr>
          <a:xfrm>
            <a:off x="896112" y="4489704"/>
            <a:ext cx="4919472" cy="969264"/>
          </a:xfrm>
          <a:prstGeom prst="rect">
            <a:avLst/>
          </a:prstGeom>
          <a:noFill/>
        </p:spPr>
        <p:txBody>
          <a:bodyPr wrap="square" lIns="18288" rIns="18288" tIns="9144" bIns="9144" anchor="t">
            <a:spAutoFit/>
          </a:bodyPr>
          <a:lstStyle/>
          <a:p>
            <a:pPr algn="l">
              <a:spcBef>
                <a:spcPts val="0"/>
              </a:spcBef>
              <a:spcAft>
                <a:spcPts val="0"/>
              </a:spcAft>
              <a:defRPr sz="1015" b="0">
                <a:solidFill>
                  <a:srgbClr val="17221F"/>
                </a:solidFill>
                <a:latin typeface="Aptos"/>
              </a:defRPr>
            </a:pPr>
            <a:r>
              <a:t>Ne pas alimenter de jeu d’entraînement avec les photos clients. Privilégier un modèle préentraîné hébergé sur Azure ML isolé ; si modèle Azure Foundry, vérifier contrat, région, rétention et monitoring.</a:t>
            </a:r>
          </a:p>
        </p:txBody>
      </p:sp>
      <p:sp>
        <p:nvSpPr>
          <p:cNvPr id="36" name="Rounded Rectangle 35"/>
          <p:cNvSpPr/>
          <p:nvPr/>
        </p:nvSpPr>
        <p:spPr>
          <a:xfrm>
            <a:off x="6190488" y="3995928"/>
            <a:ext cx="5303520" cy="1545336"/>
          </a:xfrm>
          <a:prstGeom prst="roundRect">
            <a:avLst>
              <a:gd name="adj" fmla="val 12000"/>
            </a:avLst>
          </a:prstGeom>
          <a:solidFill>
            <a:srgbClr val="F5F8F5"/>
          </a:solidFill>
          <a:ln w="10160">
            <a:solidFill>
              <a:srgbClr val="D9E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91656" y="4151376"/>
            <a:ext cx="4882896" cy="292608"/>
          </a:xfrm>
          <a:prstGeom prst="rect">
            <a:avLst/>
          </a:prstGeom>
          <a:noFill/>
        </p:spPr>
        <p:txBody>
          <a:bodyPr wrap="square" lIns="18288" rIns="18288" tIns="9144" bIns="9144" anchor="ctr">
            <a:spAutoFit/>
          </a:bodyPr>
          <a:lstStyle/>
          <a:p>
            <a:pPr algn="l">
              <a:spcBef>
                <a:spcPts val="0"/>
              </a:spcBef>
              <a:spcAft>
                <a:spcPts val="0"/>
              </a:spcAft>
              <a:defRPr sz="1075" b="1">
                <a:solidFill>
                  <a:srgbClr val="254B38"/>
                </a:solidFill>
                <a:latin typeface="Aptos"/>
              </a:defRPr>
            </a:pPr>
            <a:r>
              <a:t>ACCÈS, DROITS &amp; PREUVES DE CONFORMITÉ</a:t>
            </a:r>
          </a:p>
        </p:txBody>
      </p:sp>
      <p:sp>
        <p:nvSpPr>
          <p:cNvPr id="38" name="TextBox 37"/>
          <p:cNvSpPr txBox="1"/>
          <p:nvPr/>
        </p:nvSpPr>
        <p:spPr>
          <a:xfrm>
            <a:off x="6400800" y="4489704"/>
            <a:ext cx="4873752" cy="969264"/>
          </a:xfrm>
          <a:prstGeom prst="rect">
            <a:avLst/>
          </a:prstGeom>
          <a:noFill/>
        </p:spPr>
        <p:txBody>
          <a:bodyPr wrap="square" lIns="18288" rIns="18288" tIns="9144" bIns="9144" anchor="t">
            <a:spAutoFit/>
          </a:bodyPr>
          <a:lstStyle/>
          <a:p>
            <a:pPr algn="l">
              <a:spcBef>
                <a:spcPts val="0"/>
              </a:spcBef>
              <a:spcAft>
                <a:spcPts val="0"/>
              </a:spcAft>
              <a:defRPr sz="1015" b="0">
                <a:solidFill>
                  <a:srgbClr val="17221F"/>
                </a:solidFill>
                <a:latin typeface="Aptos"/>
              </a:defRPr>
            </a:pPr>
            <a:r>
              <a:t>Entra ID/RBAC, chiffrement, Key Vault, Private Link, logs sans photos ; registre RGPD, purge Blob/SQL/index/cache, conservation des sauvegardes cadrée et évaluation AIPD avec DPO.</a:t>
            </a:r>
          </a:p>
        </p:txBody>
      </p:sp>
      <p:sp>
        <p:nvSpPr>
          <p:cNvPr id="39" name="Rounded Rectangle 38"/>
          <p:cNvSpPr/>
          <p:nvPr/>
        </p:nvSpPr>
        <p:spPr>
          <a:xfrm>
            <a:off x="704088" y="5751576"/>
            <a:ext cx="10771632" cy="411480"/>
          </a:xfrm>
          <a:prstGeom prst="roundRect">
            <a:avLst>
              <a:gd name="adj" fmla="val 12000"/>
            </a:avLst>
          </a:prstGeom>
          <a:solidFill>
            <a:srgbClr val="ED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 y="5788152"/>
            <a:ext cx="10533888" cy="320040"/>
          </a:xfrm>
          <a:prstGeom prst="rect">
            <a:avLst/>
          </a:prstGeom>
          <a:noFill/>
        </p:spPr>
        <p:txBody>
          <a:bodyPr wrap="square" lIns="18288" rIns="18288" tIns="9144" bIns="9144" anchor="ctr">
            <a:spAutoFit/>
          </a:bodyPr>
          <a:lstStyle/>
          <a:p>
            <a:pPr algn="l">
              <a:spcBef>
                <a:spcPts val="0"/>
              </a:spcBef>
              <a:spcAft>
                <a:spcPts val="0"/>
              </a:spcAft>
              <a:defRPr sz="910" b="0">
                <a:solidFill>
                  <a:srgbClr val="254B38"/>
                </a:solidFill>
                <a:latin typeface="Aptos"/>
              </a:defRPr>
            </a:pPr>
            <a:r>
              <a:t>Alternative à une API publique : modèle OpenCLIP auto-hébergé sur Azure ML. Masquage et pseudonymisation ne garantissent pas l’anonymat.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